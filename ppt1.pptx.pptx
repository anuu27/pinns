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26"/>
    </p:embeddedFont>
    <p:embeddedFont>
      <p:font typeface="Canva Sans Bold" charset="1" panose="020B0803030501040103"/>
      <p:regular r:id="rId35"/>
    </p:embeddedFont>
    <p:embeddedFont>
      <p:font typeface="Canva Sans" charset="1" panose="020B05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486400"/>
            <a:ext cx="8229600" cy="73152"/>
            <a:chOff x="0" y="0"/>
            <a:chExt cx="10972800" cy="975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97536"/>
            </a:xfrm>
            <a:custGeom>
              <a:avLst/>
              <a:gdLst/>
              <a:ahLst/>
              <a:cxnLst/>
              <a:rect r="r" b="b" t="t" l="l"/>
              <a:pathLst>
                <a:path h="9753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5840" y="971550"/>
            <a:ext cx="11704320" cy="373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8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Physics-Informed</a:t>
            </a:r>
          </a:p>
          <a:p>
            <a:pPr algn="l">
              <a:lnSpc>
                <a:spcPts val="10560"/>
              </a:lnSpc>
            </a:pPr>
            <a:r>
              <a:rPr lang="en-US" sz="8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Neural Networks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77824" y="4648200"/>
            <a:ext cx="11887200" cy="914400"/>
            <a:chOff x="0" y="0"/>
            <a:chExt cx="158496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49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58496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Business Applications &amp; Industry Value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8961120"/>
            <a:ext cx="12801600" cy="731520"/>
            <a:chOff x="0" y="0"/>
            <a:chExt cx="1706880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0688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i="true">
                  <a:solidFill>
                    <a:srgbClr val="8899B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Where AI meets the laws of physics to deliver measurable ROI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0400" y="1463040"/>
            <a:ext cx="219456" cy="219456"/>
            <a:chOff x="0" y="0"/>
            <a:chExt cx="292608" cy="2926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093440" y="2560320"/>
            <a:ext cx="219456" cy="219456"/>
            <a:chOff x="0" y="0"/>
            <a:chExt cx="292608" cy="2926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007840" y="914400"/>
            <a:ext cx="219456" cy="219456"/>
            <a:chOff x="0" y="0"/>
            <a:chExt cx="292608" cy="2926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7739360" y="3291840"/>
            <a:ext cx="219456" cy="219456"/>
            <a:chOff x="0" y="0"/>
            <a:chExt cx="292608" cy="2926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5179040" y="4206240"/>
            <a:ext cx="219456" cy="219456"/>
            <a:chOff x="0" y="0"/>
            <a:chExt cx="292608" cy="2926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6459200" y="5120640"/>
            <a:ext cx="219456" cy="219456"/>
            <a:chOff x="0" y="0"/>
            <a:chExt cx="292608" cy="2926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910560" y="6400800"/>
            <a:ext cx="219456" cy="219456"/>
            <a:chOff x="0" y="0"/>
            <a:chExt cx="292608" cy="2926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7190720" y="5486400"/>
            <a:ext cx="219456" cy="219456"/>
            <a:chOff x="0" y="0"/>
            <a:chExt cx="292608" cy="292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813280" y="7498080"/>
            <a:ext cx="219456" cy="219456"/>
            <a:chOff x="0" y="0"/>
            <a:chExt cx="292608" cy="2926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642080" y="8412480"/>
            <a:ext cx="219456" cy="219456"/>
            <a:chOff x="0" y="0"/>
            <a:chExt cx="292608" cy="292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7556480" y="7315200"/>
            <a:ext cx="219456" cy="219456"/>
            <a:chOff x="0" y="0"/>
            <a:chExt cx="292608" cy="29260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2608" cy="292608"/>
            </a:xfrm>
            <a:custGeom>
              <a:avLst/>
              <a:gdLst/>
              <a:ahLst/>
              <a:cxnLst/>
              <a:rect r="r" b="b" t="t" l="l"/>
              <a:pathLst>
                <a:path h="292608" w="29260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cubicBezTo>
                    <a:pt x="227076" y="0"/>
                    <a:pt x="292608" y="65532"/>
                    <a:pt x="292608" y="146304"/>
                  </a:cubicBezTo>
                  <a:cubicBezTo>
                    <a:pt x="292608" y="227076"/>
                    <a:pt x="227076" y="292608"/>
                    <a:pt x="146304" y="292608"/>
                  </a:cubicBezTo>
                  <a:cubicBezTo>
                    <a:pt x="65532" y="292608"/>
                    <a:pt x="0" y="227076"/>
                    <a:pt x="0" y="146304"/>
                  </a:cubicBezTo>
                  <a:close/>
                </a:path>
              </a:pathLst>
            </a:custGeom>
            <a:solidFill>
              <a:srgbClr val="028090">
                <a:alpha val="35686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733775" y="1566415"/>
            <a:ext cx="1475737" cy="1109977"/>
            <a:chOff x="0" y="0"/>
            <a:chExt cx="1967649" cy="14799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3429" y="1651"/>
              <a:ext cx="1960880" cy="1476629"/>
            </a:xfrm>
            <a:custGeom>
              <a:avLst/>
              <a:gdLst/>
              <a:ahLst/>
              <a:cxnLst/>
              <a:rect r="r" b="b" t="t" l="l"/>
              <a:pathLst>
                <a:path h="1476629" w="1960880">
                  <a:moveTo>
                    <a:pt x="10160" y="0"/>
                  </a:moveTo>
                  <a:lnTo>
                    <a:pt x="1960880" y="1463040"/>
                  </a:lnTo>
                  <a:lnTo>
                    <a:pt x="1950720" y="1476629"/>
                  </a:lnTo>
                  <a:lnTo>
                    <a:pt x="0" y="13589"/>
                  </a:lnTo>
                  <a:close/>
                </a:path>
              </a:pathLst>
            </a:custGeom>
            <a:solidFill>
              <a:srgbClr val="00A896">
                <a:alpha val="24706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196815" y="2663695"/>
            <a:ext cx="927097" cy="12697"/>
            <a:chOff x="0" y="0"/>
            <a:chExt cx="1236129" cy="169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8509" y="0"/>
              <a:ext cx="1219200" cy="16891"/>
            </a:xfrm>
            <a:custGeom>
              <a:avLst/>
              <a:gdLst/>
              <a:ahLst/>
              <a:cxnLst/>
              <a:rect r="r" b="b" t="t" l="l"/>
              <a:pathLst>
                <a:path h="16891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6891"/>
                  </a:lnTo>
                  <a:lnTo>
                    <a:pt x="0" y="16891"/>
                  </a:lnTo>
                  <a:close/>
                </a:path>
              </a:pathLst>
            </a:custGeom>
            <a:solidFill>
              <a:srgbClr val="00A896">
                <a:alpha val="24706"/>
              </a:srgbClr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282415" y="4309615"/>
            <a:ext cx="1292857" cy="927097"/>
            <a:chOff x="0" y="0"/>
            <a:chExt cx="1723809" cy="12361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3556" y="1524"/>
              <a:ext cx="1716659" cy="1232916"/>
            </a:xfrm>
            <a:custGeom>
              <a:avLst/>
              <a:gdLst/>
              <a:ahLst/>
              <a:cxnLst/>
              <a:rect r="r" b="b" t="t" l="l"/>
              <a:pathLst>
                <a:path h="1232916" w="1716659">
                  <a:moveTo>
                    <a:pt x="9779" y="0"/>
                  </a:moveTo>
                  <a:lnTo>
                    <a:pt x="1716659" y="1219200"/>
                  </a:lnTo>
                  <a:lnTo>
                    <a:pt x="1706880" y="1232916"/>
                  </a:lnTo>
                  <a:lnTo>
                    <a:pt x="0" y="13843"/>
                  </a:lnTo>
                  <a:close/>
                </a:path>
              </a:pathLst>
            </a:custGeom>
            <a:solidFill>
              <a:srgbClr val="00A896">
                <a:alpha val="24706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6562575" y="5224015"/>
            <a:ext cx="12697" cy="1292857"/>
            <a:chOff x="0" y="0"/>
            <a:chExt cx="16929" cy="17238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8509"/>
              <a:ext cx="16891" cy="1706880"/>
            </a:xfrm>
            <a:custGeom>
              <a:avLst/>
              <a:gdLst/>
              <a:ahLst/>
              <a:cxnLst/>
              <a:rect r="r" b="b" t="t" l="l"/>
              <a:pathLst>
                <a:path h="1706880" w="16891">
                  <a:moveTo>
                    <a:pt x="16891" y="0"/>
                  </a:moveTo>
                  <a:lnTo>
                    <a:pt x="16891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896">
                <a:alpha val="24706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916655" y="7601455"/>
            <a:ext cx="1841497" cy="927097"/>
            <a:chOff x="0" y="0"/>
            <a:chExt cx="2455329" cy="123612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4572" y="889"/>
              <a:ext cx="2446020" cy="1234313"/>
            </a:xfrm>
            <a:custGeom>
              <a:avLst/>
              <a:gdLst/>
              <a:ahLst/>
              <a:cxnLst/>
              <a:rect r="r" b="b" t="t" l="l"/>
              <a:pathLst>
                <a:path h="1234313" w="2446020">
                  <a:moveTo>
                    <a:pt x="7620" y="0"/>
                  </a:moveTo>
                  <a:lnTo>
                    <a:pt x="2446020" y="1219200"/>
                  </a:lnTo>
                  <a:lnTo>
                    <a:pt x="2438400" y="1234313"/>
                  </a:lnTo>
                  <a:lnTo>
                    <a:pt x="0" y="15113"/>
                  </a:lnTo>
                  <a:close/>
                </a:path>
              </a:pathLst>
            </a:custGeom>
            <a:solidFill>
              <a:srgbClr val="00A896">
                <a:alpha val="24706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31520" y="0"/>
            <a:ext cx="16459200" cy="1645920"/>
            <a:chOff x="0" y="0"/>
            <a:chExt cx="219456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194560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a PINN?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31520" y="1920240"/>
            <a:ext cx="16824960" cy="731520"/>
            <a:chOff x="0" y="0"/>
            <a:chExt cx="22433280" cy="975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3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4332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Traditional simulation: accurate but slow &amp; expensive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2651760"/>
            <a:ext cx="16824960" cy="731520"/>
            <a:chOff x="0" y="0"/>
            <a:chExt cx="2243328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243328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Pure AI/ML: fast but physically wrong — unreliable for engineering decisions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18597" y="3485893"/>
            <a:ext cx="50797" cy="599437"/>
            <a:chOff x="0" y="0"/>
            <a:chExt cx="67729" cy="7992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33909"/>
              <a:ext cx="67691" cy="731520"/>
            </a:xfrm>
            <a:custGeom>
              <a:avLst/>
              <a:gdLst/>
              <a:ahLst/>
              <a:cxnLst/>
              <a:rect r="r" b="b" t="t" l="l"/>
              <a:pathLst>
                <a:path h="731520" w="67691">
                  <a:moveTo>
                    <a:pt x="67691" y="0"/>
                  </a:moveTo>
                  <a:lnTo>
                    <a:pt x="67691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4114800"/>
            <a:ext cx="5486400" cy="2560320"/>
            <a:chOff x="0" y="0"/>
            <a:chExt cx="7315200" cy="3413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4206240"/>
            <a:ext cx="4937760" cy="822960"/>
            <a:chOff x="0" y="0"/>
            <a:chExt cx="65836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5836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Observed Data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5027295"/>
            <a:ext cx="475488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Sensor readings, simulations, historical records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492240" y="4114800"/>
            <a:ext cx="5486400" cy="2560320"/>
            <a:chOff x="0" y="0"/>
            <a:chExt cx="7315200" cy="3413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66560" y="4206240"/>
            <a:ext cx="4937760" cy="822960"/>
            <a:chOff x="0" y="0"/>
            <a:chExt cx="65836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5836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Physics Laws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858000" y="5027295"/>
            <a:ext cx="475488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PDEs, conservation equations, boundary conditions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435840" y="4114800"/>
            <a:ext cx="5486400" cy="2560320"/>
            <a:chOff x="0" y="0"/>
            <a:chExt cx="7315200" cy="3413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solidFill>
              <a:srgbClr val="131A4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710160" y="4206240"/>
            <a:ext cx="4937760" cy="822960"/>
            <a:chOff x="0" y="0"/>
            <a:chExt cx="65836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5836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Neural Network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801600" y="5027295"/>
            <a:ext cx="475488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patterns, approximates solutions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806440" y="5013960"/>
            <a:ext cx="914400" cy="914400"/>
            <a:chOff x="0" y="0"/>
            <a:chExt cx="121920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14300"/>
              <a:ext cx="12192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750040" y="5029200"/>
            <a:ext cx="914400" cy="914400"/>
            <a:chOff x="0" y="0"/>
            <a:chExt cx="1219200" cy="1219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14300"/>
              <a:ext cx="1219200" cy="1333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719"/>
                </a:lnSpc>
              </a:pPr>
              <a:r>
                <a:rPr lang="en-US" sz="5599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35943" y="7028183"/>
            <a:ext cx="17216123" cy="2402843"/>
            <a:chOff x="0" y="0"/>
            <a:chExt cx="22954831" cy="32037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6891" y="16891"/>
              <a:ext cx="22920960" cy="3169920"/>
            </a:xfrm>
            <a:custGeom>
              <a:avLst/>
              <a:gdLst/>
              <a:ahLst/>
              <a:cxnLst/>
              <a:rect r="r" b="b" t="t" l="l"/>
              <a:pathLst>
                <a:path h="316992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00A896">
                <a:alpha val="72157"/>
              </a:srgbClr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954743" cy="3203702"/>
            </a:xfrm>
            <a:custGeom>
              <a:avLst/>
              <a:gdLst/>
              <a:ahLst/>
              <a:cxnLst/>
              <a:rect r="r" b="b" t="t" l="l"/>
              <a:pathLst>
                <a:path h="3203702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3186811"/>
                  </a:lnTo>
                  <a:cubicBezTo>
                    <a:pt x="22954743" y="3196209"/>
                    <a:pt x="22947123" y="3203702"/>
                    <a:pt x="22937851" y="3203702"/>
                  </a:cubicBezTo>
                  <a:lnTo>
                    <a:pt x="16891" y="3203702"/>
                  </a:lnTo>
                  <a:cubicBezTo>
                    <a:pt x="7493" y="3203702"/>
                    <a:pt x="0" y="3196082"/>
                    <a:pt x="0" y="3186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186811"/>
                  </a:lnTo>
                  <a:lnTo>
                    <a:pt x="16891" y="3186811"/>
                  </a:lnTo>
                  <a:lnTo>
                    <a:pt x="16891" y="3169920"/>
                  </a:lnTo>
                  <a:lnTo>
                    <a:pt x="22937851" y="3169920"/>
                  </a:lnTo>
                  <a:lnTo>
                    <a:pt x="22937851" y="3186811"/>
                  </a:lnTo>
                  <a:lnTo>
                    <a:pt x="22920961" y="318681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7168896"/>
            <a:ext cx="16459200" cy="914400"/>
            <a:chOff x="0" y="0"/>
            <a:chExt cx="2194560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21945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= PINN: Simulation-speed predictions that obey the laws of physics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14400" y="8046720"/>
            <a:ext cx="16459200" cy="731520"/>
            <a:chOff x="0" y="0"/>
            <a:chExt cx="21945600" cy="975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9456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E276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Works with sparse data  ·  No mesh required  ·  Physically valid outputs  ·  100× faster than classical solvers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0"/>
            <a:chOff x="0" y="0"/>
            <a:chExt cx="243840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0"/>
            <a:ext cx="17007840" cy="1280160"/>
            <a:chOff x="0" y="0"/>
            <a:chExt cx="2267712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872" r="0" b="-2088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677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PINNs Work — Heat Equation Example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54430" y="5793577"/>
            <a:ext cx="3944038" cy="939057"/>
            <a:chOff x="0" y="0"/>
            <a:chExt cx="512064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4430" y="5793577"/>
            <a:ext cx="3944038" cy="939057"/>
            <a:chOff x="0" y="0"/>
            <a:chExt cx="512064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51206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1: Neural Net Prediction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54430" y="6732633"/>
            <a:ext cx="3944038" cy="2112877"/>
            <a:chOff x="0" y="0"/>
            <a:chExt cx="5120640" cy="274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36147" y="6910248"/>
            <a:ext cx="3380604" cy="42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59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NN takes (x, t) as input and outputs predicted temperature û(x,t).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36030" y="6732633"/>
            <a:ext cx="525872" cy="939057"/>
            <a:chOff x="0" y="0"/>
            <a:chExt cx="682752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7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68275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891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99464" y="5793577"/>
            <a:ext cx="3944038" cy="939057"/>
            <a:chOff x="0" y="0"/>
            <a:chExt cx="512064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899464" y="5793577"/>
            <a:ext cx="3944038" cy="939057"/>
            <a:chOff x="0" y="0"/>
            <a:chExt cx="512064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1206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2: Auto-Differentiation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899464" y="6732633"/>
            <a:ext cx="3944038" cy="2112877"/>
            <a:chOff x="0" y="0"/>
            <a:chExt cx="5120640" cy="2743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81181" y="6910248"/>
            <a:ext cx="3380604" cy="42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59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Derivatives ∂û/∂t and ∂²û/∂x² are computed automatically via backprop.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881064" y="6732633"/>
            <a:ext cx="525872" cy="939057"/>
            <a:chOff x="0" y="0"/>
            <a:chExt cx="682752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76200"/>
              <a:ext cx="68275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891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444498" y="5793577"/>
            <a:ext cx="3944038" cy="939057"/>
            <a:chOff x="0" y="0"/>
            <a:chExt cx="51206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444498" y="5793577"/>
            <a:ext cx="3944038" cy="939057"/>
            <a:chOff x="0" y="0"/>
            <a:chExt cx="5120640" cy="1219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1206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3: PDE Residual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44498" y="6732633"/>
            <a:ext cx="3944038" cy="2112877"/>
            <a:chOff x="0" y="0"/>
            <a:chExt cx="5120640" cy="2743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726215" y="6910248"/>
            <a:ext cx="3380604" cy="42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59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Residual f(x,t) = ∂û/∂t − α∂²û/∂x²  measures physics violation.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3426098" y="6732633"/>
            <a:ext cx="525872" cy="939057"/>
            <a:chOff x="0" y="0"/>
            <a:chExt cx="682752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82752" cy="1219200"/>
            </a:xfrm>
            <a:custGeom>
              <a:avLst/>
              <a:gdLst/>
              <a:ahLst/>
              <a:cxnLst/>
              <a:rect r="r" b="b" t="t" l="l"/>
              <a:pathLst>
                <a:path h="1219200" w="682752">
                  <a:moveTo>
                    <a:pt x="0" y="0"/>
                  </a:moveTo>
                  <a:lnTo>
                    <a:pt x="682752" y="0"/>
                  </a:lnTo>
                  <a:lnTo>
                    <a:pt x="68275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9113" t="0" r="-17911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76200"/>
              <a:ext cx="682752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891B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989532" y="5793577"/>
            <a:ext cx="3944038" cy="939057"/>
            <a:chOff x="0" y="0"/>
            <a:chExt cx="5120640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89532" y="5793577"/>
            <a:ext cx="3944038" cy="939057"/>
            <a:chOff x="0" y="0"/>
            <a:chExt cx="512064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20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512064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4: Loss Minimization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989532" y="6732633"/>
            <a:ext cx="3944038" cy="2112877"/>
            <a:chOff x="0" y="0"/>
            <a:chExt cx="5120640" cy="2743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064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4271249" y="6910248"/>
            <a:ext cx="3380604" cy="42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259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Optimizer minimizes combined loss until PDE residual → 0.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71300" y="1953844"/>
            <a:ext cx="8696344" cy="71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Consider the one-dimensional heat equation:</a:t>
            </a:r>
          </a:p>
        </p:txBody>
      </p:sp>
      <p:pic>
        <p:nvPicPr>
          <p:cNvPr name="Picture 49" id="4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391923" y="1479620"/>
            <a:ext cx="3169687" cy="1587443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48058" y="8176457"/>
            <a:ext cx="3457068" cy="957143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20787" y="7861449"/>
            <a:ext cx="4369430" cy="1587159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61227" y="3758405"/>
            <a:ext cx="8439538" cy="1883567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765436" y="3089926"/>
            <a:ext cx="5471356" cy="1397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280160"/>
            <a:chOff x="0" y="0"/>
            <a:chExt cx="243840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0080" y="0"/>
            <a:ext cx="17007840" cy="1280160"/>
            <a:chOff x="0" y="0"/>
            <a:chExt cx="22677120" cy="1706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77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872" r="0" b="-2088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22677120" cy="1783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PINN Loss Function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52777" y="4065315"/>
            <a:ext cx="5486400" cy="6766560"/>
            <a:chOff x="0" y="0"/>
            <a:chExt cx="7315200" cy="9022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1520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52777" y="4065315"/>
            <a:ext cx="5486400" cy="694944"/>
            <a:chOff x="0" y="0"/>
            <a:chExt cx="7315200" cy="9265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0080" y="4065315"/>
            <a:ext cx="5486400" cy="694944"/>
            <a:chOff x="0" y="0"/>
            <a:chExt cx="7315200" cy="92659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3152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Loss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5123615"/>
            <a:ext cx="4941189" cy="1282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293" indent="-325146" lvl="1">
              <a:lnSpc>
                <a:spcPts val="3233"/>
              </a:lnSpc>
              <a:buFont typeface="Arial"/>
              <a:buChar char="•"/>
            </a:pPr>
            <a:r>
              <a:rPr lang="en-US" sz="2694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Fits known observations</a:t>
            </a:r>
          </a:p>
          <a:p>
            <a:pPr algn="l" marL="650293" indent="-325146" lvl="1">
              <a:lnSpc>
                <a:spcPts val="3233"/>
              </a:lnSpc>
              <a:buFont typeface="Arial"/>
              <a:buChar char="•"/>
            </a:pPr>
            <a:r>
              <a:rPr lang="en-US" sz="2694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Minimizes prediction error</a:t>
            </a:r>
          </a:p>
          <a:p>
            <a:pPr algn="l" marL="650293" indent="-325146" lvl="1">
              <a:lnSpc>
                <a:spcPts val="3233"/>
              </a:lnSpc>
              <a:buFont typeface="Arial"/>
              <a:buChar char="•"/>
            </a:pPr>
            <a:r>
              <a:rPr lang="en-US" sz="2694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 MSE form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68361" y="4065315"/>
            <a:ext cx="5486400" cy="6766560"/>
            <a:chOff x="0" y="0"/>
            <a:chExt cx="7315200" cy="9022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1520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68361" y="4065315"/>
            <a:ext cx="5486400" cy="694944"/>
            <a:chOff x="0" y="0"/>
            <a:chExt cx="731520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6B8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68361" y="4065315"/>
            <a:ext cx="5486400" cy="694944"/>
            <a:chOff x="0" y="0"/>
            <a:chExt cx="731520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73152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Physics Loss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796986" y="5084109"/>
            <a:ext cx="4694027" cy="132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6318" indent="-338159" lvl="1">
              <a:lnSpc>
                <a:spcPts val="3363"/>
              </a:lnSpc>
              <a:buFont typeface="Arial"/>
              <a:buChar char="•"/>
            </a:pPr>
            <a:r>
              <a:rPr lang="en-US" sz="2802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Enforces PDE satisfaction</a:t>
            </a:r>
          </a:p>
          <a:p>
            <a:pPr algn="l" marL="676318" indent="-338159" lvl="1">
              <a:lnSpc>
                <a:spcPts val="3363"/>
              </a:lnSpc>
              <a:buFont typeface="Arial"/>
              <a:buChar char="•"/>
            </a:pPr>
            <a:r>
              <a:rPr lang="en-US" sz="2802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Sampled at collocation pts</a:t>
            </a:r>
          </a:p>
          <a:p>
            <a:pPr algn="l" marL="676318" indent="-338159" lvl="1">
              <a:lnSpc>
                <a:spcPts val="3363"/>
              </a:lnSpc>
              <a:buFont typeface="Arial"/>
              <a:buChar char="•"/>
            </a:pPr>
            <a:r>
              <a:rPr lang="en-US" sz="2802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Penalizes residual violation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83945" y="4065315"/>
            <a:ext cx="5486400" cy="6766560"/>
            <a:chOff x="0" y="0"/>
            <a:chExt cx="7315200" cy="9022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0" cy="9022080"/>
            </a:xfrm>
            <a:custGeom>
              <a:avLst/>
              <a:gdLst/>
              <a:ahLst/>
              <a:cxnLst/>
              <a:rect r="r" b="b" t="t" l="l"/>
              <a:pathLst>
                <a:path h="9022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022080"/>
                  </a:lnTo>
                  <a:lnTo>
                    <a:pt x="0" y="90220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283945" y="4065315"/>
            <a:ext cx="5486400" cy="694944"/>
            <a:chOff x="0" y="0"/>
            <a:chExt cx="731520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283945" y="4065315"/>
            <a:ext cx="5486400" cy="694944"/>
            <a:chOff x="0" y="0"/>
            <a:chExt cx="731520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926592"/>
            </a:xfrm>
            <a:custGeom>
              <a:avLst/>
              <a:gdLst/>
              <a:ahLst/>
              <a:cxnLst/>
              <a:rect r="r" b="b" t="t" l="l"/>
              <a:pathLst>
                <a:path h="92659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829" r="0" b="-1038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3152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Boundary Loss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558265" y="5123615"/>
            <a:ext cx="5224786" cy="125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142" indent="-317571" lvl="1">
              <a:lnSpc>
                <a:spcPts val="3158"/>
              </a:lnSpc>
              <a:buFont typeface="Arial"/>
              <a:buChar char="•"/>
            </a:pPr>
            <a:r>
              <a:rPr lang="en-US" sz="2632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Enforces boundary conditions</a:t>
            </a:r>
          </a:p>
          <a:p>
            <a:pPr algn="l" marL="635142" indent="-317571" lvl="1">
              <a:lnSpc>
                <a:spcPts val="3158"/>
              </a:lnSpc>
              <a:buFont typeface="Arial"/>
              <a:buChar char="•"/>
            </a:pPr>
            <a:r>
              <a:rPr lang="en-US" sz="2632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Ensures valid solutions</a:t>
            </a:r>
          </a:p>
          <a:p>
            <a:pPr algn="l" marL="635142" indent="-317571" lvl="1">
              <a:lnSpc>
                <a:spcPts val="3158"/>
              </a:lnSpc>
              <a:buFont typeface="Arial"/>
              <a:buChar char="•"/>
            </a:pPr>
            <a:r>
              <a:rPr lang="en-US" sz="2632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E.g., u(0,t) = 0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060375" y="988047"/>
            <a:ext cx="12972839" cy="2972244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6449" y="6833328"/>
            <a:ext cx="4357738" cy="1741306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674107" y="6758572"/>
            <a:ext cx="5254806" cy="2034418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452095" y="6834282"/>
            <a:ext cx="5150100" cy="1882999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83518" y="8344513"/>
            <a:ext cx="3432911" cy="81295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2540" y="8773928"/>
            <a:ext cx="4044653" cy="958254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653328" y="8185732"/>
            <a:ext cx="5504160" cy="1223552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345084" y="8743000"/>
            <a:ext cx="6120648" cy="1298564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82261" y="8231580"/>
            <a:ext cx="4788107" cy="1102558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635527" y="8744028"/>
            <a:ext cx="4481574" cy="102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" cy="1645920"/>
            <a:chOff x="0" y="0"/>
            <a:chExt cx="12192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0"/>
            <a:ext cx="16459200" cy="1645920"/>
            <a:chOff x="0" y="0"/>
            <a:chExt cx="219456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194560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Advantages of PINNs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1856" y="2580981"/>
            <a:ext cx="10041200" cy="592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2215" indent="-446107" lvl="1">
              <a:lnSpc>
                <a:spcPts val="5785"/>
              </a:lnSpc>
              <a:buFont typeface="Arial"/>
              <a:buChar char="•"/>
            </a:pPr>
            <a:r>
              <a:rPr lang="en-US" sz="4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Incorporates physics directly into learning</a:t>
            </a:r>
          </a:p>
          <a:p>
            <a:pPr algn="l" marL="892215" indent="-446107" lvl="1">
              <a:lnSpc>
                <a:spcPts val="5785"/>
              </a:lnSpc>
              <a:buFont typeface="Arial"/>
              <a:buChar char="•"/>
            </a:pPr>
            <a:r>
              <a:rPr lang="en-US" sz="4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Requires less labeled data</a:t>
            </a:r>
          </a:p>
          <a:p>
            <a:pPr algn="l" marL="892215" indent="-446107" lvl="1">
              <a:lnSpc>
                <a:spcPts val="5785"/>
              </a:lnSpc>
              <a:buFont typeface="Arial"/>
              <a:buChar char="•"/>
            </a:pPr>
            <a:r>
              <a:rPr lang="en-US" sz="4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Mesh-free approach</a:t>
            </a:r>
          </a:p>
          <a:p>
            <a:pPr algn="l" marL="892215" indent="-446107" lvl="1">
              <a:lnSpc>
                <a:spcPts val="5785"/>
              </a:lnSpc>
              <a:buFont typeface="Arial"/>
              <a:buChar char="•"/>
            </a:pPr>
            <a:r>
              <a:rPr lang="en-US" sz="4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Continuous solution representation</a:t>
            </a:r>
          </a:p>
          <a:p>
            <a:pPr algn="l" marL="892215" indent="-446107" lvl="1">
              <a:lnSpc>
                <a:spcPts val="5785"/>
              </a:lnSpc>
              <a:buFont typeface="Arial"/>
              <a:buChar char="•"/>
            </a:pPr>
            <a:r>
              <a:rPr lang="en-US" sz="4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Useful for inverse problems</a:t>
            </a:r>
          </a:p>
          <a:p>
            <a:pPr algn="l" marL="892215" indent="-446107" lvl="1">
              <a:lnSpc>
                <a:spcPts val="5785"/>
              </a:lnSpc>
              <a:buFont typeface="Arial"/>
              <a:buChar char="•"/>
            </a:pPr>
            <a:r>
              <a:rPr lang="en-US" sz="4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Faster inference after training</a:t>
            </a:r>
          </a:p>
          <a:p>
            <a:pPr algn="l" marL="892215" indent="-446107" lvl="1">
              <a:lnSpc>
                <a:spcPts val="5785"/>
              </a:lnSpc>
              <a:buFont typeface="Arial"/>
              <a:buChar char="•"/>
            </a:pPr>
            <a:r>
              <a:rPr lang="en-US" sz="4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computational and prototype cost</a:t>
            </a:r>
          </a:p>
          <a:p>
            <a:pPr algn="l" marL="892215" indent="-446107" lvl="1">
              <a:lnSpc>
                <a:spcPts val="5785"/>
              </a:lnSpc>
              <a:buFont typeface="Arial"/>
              <a:buChar char="•"/>
            </a:pPr>
            <a:r>
              <a:rPr lang="en-US" sz="413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Enables real-time predictions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" cy="1645920"/>
            <a:chOff x="0" y="0"/>
            <a:chExt cx="12192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0"/>
            <a:ext cx="16459200" cy="1645920"/>
            <a:chOff x="0" y="0"/>
            <a:chExt cx="219456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194560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Oil &amp; Gas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093440" y="91440"/>
            <a:ext cx="1463040" cy="1463040"/>
            <a:chOff x="0" y="0"/>
            <a:chExt cx="1950720" cy="195072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1828800"/>
            <a:ext cx="5669280" cy="7863840"/>
            <a:chOff x="0" y="0"/>
            <a:chExt cx="7559040" cy="10485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5904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65760" y="1828800"/>
            <a:ext cx="5669280" cy="146304"/>
            <a:chOff x="0" y="0"/>
            <a:chExt cx="7559040" cy="195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2048256"/>
            <a:ext cx="5303520" cy="1645920"/>
            <a:chOff x="0" y="0"/>
            <a:chExt cx="707136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48640" y="2048256"/>
            <a:ext cx="5303520" cy="1097280"/>
            <a:chOff x="0" y="0"/>
            <a:chExt cx="707136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23825"/>
              <a:ext cx="7071360" cy="15868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8×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8640" y="3017520"/>
            <a:ext cx="5303520" cy="548640"/>
            <a:chOff x="0" y="0"/>
            <a:chExt cx="707136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faster planning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0080" y="3840480"/>
            <a:ext cx="5120640" cy="822960"/>
            <a:chOff x="0" y="0"/>
            <a:chExt cx="682752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8275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Reservoir Simulation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" y="4754880"/>
            <a:ext cx="5120640" cy="512064"/>
            <a:chOff x="0" y="0"/>
            <a:chExt cx="682752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40080" y="5266944"/>
            <a:ext cx="5120640" cy="1097280"/>
            <a:chOff x="0" y="0"/>
            <a:chExt cx="682752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68275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Classical simulation: weeks of compute per run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6400800"/>
            <a:ext cx="5120640" cy="512064"/>
            <a:chOff x="0" y="0"/>
            <a:chExt cx="682752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PINN Solution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40080" y="6912864"/>
            <a:ext cx="5120640" cy="1280160"/>
            <a:chOff x="0" y="0"/>
            <a:chExt cx="6827520" cy="17068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827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PINNs replicate Darcy flow physics, deliver results in minutes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40080" y="8229600"/>
            <a:ext cx="5120640" cy="512064"/>
            <a:chOff x="0" y="0"/>
            <a:chExt cx="682752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Benefit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40080" y="8741664"/>
            <a:ext cx="5120640" cy="822960"/>
            <a:chOff x="0" y="0"/>
            <a:chExt cx="682752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8× faster field development planning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345936" y="1828800"/>
            <a:ext cx="5669280" cy="7863840"/>
            <a:chOff x="0" y="0"/>
            <a:chExt cx="7559040" cy="10485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5904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345936" y="1828800"/>
            <a:ext cx="5669280" cy="146304"/>
            <a:chOff x="0" y="0"/>
            <a:chExt cx="7559040" cy="195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528816" y="2048256"/>
            <a:ext cx="5303520" cy="1645920"/>
            <a:chOff x="0" y="0"/>
            <a:chExt cx="7071360" cy="21945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528816" y="2048256"/>
            <a:ext cx="5303520" cy="1097280"/>
            <a:chOff x="0" y="0"/>
            <a:chExt cx="707136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71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23825"/>
              <a:ext cx="7071360" cy="15868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&lt;1%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28816" y="3017520"/>
            <a:ext cx="5303520" cy="548640"/>
            <a:chOff x="0" y="0"/>
            <a:chExt cx="707136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 error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20256" y="3840480"/>
            <a:ext cx="5120640" cy="822960"/>
            <a:chOff x="0" y="0"/>
            <a:chExt cx="682752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68275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Production Forecasting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620256" y="4754880"/>
            <a:ext cx="5120640" cy="512064"/>
            <a:chOff x="0" y="0"/>
            <a:chExt cx="682752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620256" y="5266944"/>
            <a:ext cx="5120640" cy="1097280"/>
            <a:chOff x="0" y="0"/>
            <a:chExt cx="6827520" cy="14630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8275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Sparse well data makes pure ML unreliable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620256" y="6400800"/>
            <a:ext cx="5120640" cy="512064"/>
            <a:chOff x="0" y="0"/>
            <a:chExt cx="682752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PINN Solution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620256" y="6912864"/>
            <a:ext cx="5120640" cy="1280160"/>
            <a:chOff x="0" y="0"/>
            <a:chExt cx="6827520" cy="1706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6827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 constraints fill data gaps, prevent impossible predictions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620256" y="8229600"/>
            <a:ext cx="5120640" cy="512064"/>
            <a:chOff x="0" y="0"/>
            <a:chExt cx="682752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Benefit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620256" y="8741664"/>
            <a:ext cx="5120640" cy="822960"/>
            <a:chOff x="0" y="0"/>
            <a:chExt cx="6827520" cy="10972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History matching without full simulation re-runs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26112" y="1828800"/>
            <a:ext cx="5669280" cy="7863840"/>
            <a:chOff x="0" y="0"/>
            <a:chExt cx="7559040" cy="104851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55904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2326112" y="1828800"/>
            <a:ext cx="5669280" cy="146304"/>
            <a:chOff x="0" y="0"/>
            <a:chExt cx="7559040" cy="19507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559040" cy="195072"/>
            </a:xfrm>
            <a:custGeom>
              <a:avLst/>
              <a:gdLst/>
              <a:ahLst/>
              <a:cxnLst/>
              <a:rect r="r" b="b" t="t" l="l"/>
              <a:pathLst>
                <a:path h="19507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2508992" y="2048256"/>
            <a:ext cx="5303520" cy="1645920"/>
            <a:chOff x="0" y="0"/>
            <a:chExt cx="7071360" cy="21945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071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2508992" y="2048256"/>
            <a:ext cx="5303520" cy="1097280"/>
            <a:chOff x="0" y="0"/>
            <a:chExt cx="7071360" cy="14630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071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177" r="0" b="-4417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23825"/>
              <a:ext cx="7071360" cy="158686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50%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508992" y="3017520"/>
            <a:ext cx="5303520" cy="548640"/>
            <a:chOff x="0" y="0"/>
            <a:chExt cx="707136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fewer test runs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600432" y="3840480"/>
            <a:ext cx="5120640" cy="822960"/>
            <a:chOff x="0" y="0"/>
            <a:chExt cx="6827520" cy="10972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682752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Enhanced Oil Recovery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600432" y="4754880"/>
            <a:ext cx="5120640" cy="512064"/>
            <a:chOff x="0" y="0"/>
            <a:chExt cx="682752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600432" y="5266944"/>
            <a:ext cx="5120640" cy="1097280"/>
            <a:chOff x="0" y="0"/>
            <a:chExt cx="6827520" cy="14630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827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682752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Coupled thermal + chemical + flow equations too complex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2600432" y="6400800"/>
            <a:ext cx="5120640" cy="512064"/>
            <a:chOff x="0" y="0"/>
            <a:chExt cx="682752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PINN Solution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600432" y="6912864"/>
            <a:ext cx="5120640" cy="1280160"/>
            <a:chOff x="0" y="0"/>
            <a:chExt cx="6827520" cy="17068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8275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682752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PINNs embed multiphysics governing equations simultaneously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600432" y="8229600"/>
            <a:ext cx="5120640" cy="512064"/>
            <a:chOff x="0" y="0"/>
            <a:chExt cx="682752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827520" cy="682752"/>
            </a:xfrm>
            <a:custGeom>
              <a:avLst/>
              <a:gdLst/>
              <a:ahLst/>
              <a:cxnLst/>
              <a:rect r="r" b="b" t="t" l="l"/>
              <a:pathLst>
                <a:path h="68275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6827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Business Benefit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600432" y="8741664"/>
            <a:ext cx="5120640" cy="822960"/>
            <a:chOff x="0" y="0"/>
            <a:chExt cx="6827520" cy="109728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240" r="0" b="-7124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682752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Optimized injection strategies with less trial runs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" cy="1645920"/>
            <a:chOff x="0" y="0"/>
            <a:chExt cx="12192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0"/>
            <a:ext cx="16459200" cy="1645920"/>
            <a:chOff x="0" y="0"/>
            <a:chExt cx="219456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194560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Aerospace &amp; Manufacturing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760" y="1828800"/>
            <a:ext cx="8412480" cy="7863840"/>
            <a:chOff x="0" y="0"/>
            <a:chExt cx="11216640" cy="10485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1664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1828800"/>
            <a:ext cx="8412480" cy="914400"/>
            <a:chOff x="0" y="0"/>
            <a:chExt cx="1121664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1828800"/>
            <a:ext cx="7863840" cy="914400"/>
            <a:chOff x="0" y="0"/>
            <a:chExt cx="1048512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485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✈  Aerospace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48640" y="2926080"/>
            <a:ext cx="109728" cy="1280160"/>
            <a:chOff x="0" y="0"/>
            <a:chExt cx="146304" cy="1706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2926080"/>
            <a:ext cx="7498080" cy="640080"/>
            <a:chOff x="0" y="0"/>
            <a:chExt cx="999744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Aerodynamics (lift/drag)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3566160"/>
            <a:ext cx="7498080" cy="1371600"/>
            <a:chOff x="0" y="0"/>
            <a:chExt cx="999744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9974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CFD surrogate models replace mesh simulations. NVIDIA uses PINNs for DGX heat sink design. Automotive aerodynamic drag sensitivity now computed in seconds.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8640" y="5120640"/>
            <a:ext cx="109728" cy="1280160"/>
            <a:chOff x="0" y="0"/>
            <a:chExt cx="146304" cy="1706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5120640"/>
            <a:ext cx="7498080" cy="640080"/>
            <a:chOff x="0" y="0"/>
            <a:chExt cx="999744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Structural Health Monitoring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5760720"/>
            <a:ext cx="7498080" cy="1371600"/>
            <a:chOff x="0" y="0"/>
            <a:chExt cx="999744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9974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PINNs predict stress/strain at unmonitored points. Virtual sensors reduce hardware costs by 40%.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8640" y="7315200"/>
            <a:ext cx="109728" cy="1280160"/>
            <a:chOff x="0" y="0"/>
            <a:chExt cx="146304" cy="1706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" y="7315200"/>
            <a:ext cx="7498080" cy="640080"/>
            <a:chOff x="0" y="0"/>
            <a:chExt cx="9997440" cy="8534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Spacecraft Trajectory Optimization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7955280"/>
            <a:ext cx="7498080" cy="1371600"/>
            <a:chOff x="0" y="0"/>
            <a:chExt cx="999744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9974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Physics-constrained path planning achieves minimal-thrust trajectories that RL methods miss.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09760" y="1828800"/>
            <a:ext cx="8412480" cy="7863840"/>
            <a:chOff x="0" y="0"/>
            <a:chExt cx="11216640" cy="10485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16640" cy="10485120"/>
            </a:xfrm>
            <a:custGeom>
              <a:avLst/>
              <a:gdLst/>
              <a:ahLst/>
              <a:cxnLst/>
              <a:rect r="r" b="b" t="t" l="l"/>
              <a:pathLst>
                <a:path h="104851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0485120"/>
                  </a:lnTo>
                  <a:lnTo>
                    <a:pt x="0" y="10485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509760" y="1828800"/>
            <a:ext cx="8412480" cy="914400"/>
            <a:chOff x="0" y="0"/>
            <a:chExt cx="1121664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784080" y="1828800"/>
            <a:ext cx="7863840" cy="914400"/>
            <a:chOff x="0" y="0"/>
            <a:chExt cx="1048512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85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048512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⚙  Manufacturing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92640" y="2926080"/>
            <a:ext cx="109728" cy="1280160"/>
            <a:chOff x="0" y="0"/>
            <a:chExt cx="146304" cy="17068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058400" y="2926080"/>
            <a:ext cx="7498080" cy="640080"/>
            <a:chOff x="0" y="0"/>
            <a:chExt cx="999744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Air Knife Optimization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058400" y="3566160"/>
            <a:ext cx="7498080" cy="1371600"/>
            <a:chOff x="0" y="0"/>
            <a:chExt cx="9997440" cy="1828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9974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Kinetic Vision (Cincinnati) used NVIDIA PhysicsNeMo to optimize air knife designs — reducing physical prototype iterations.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692640" y="5120640"/>
            <a:ext cx="109728" cy="1280160"/>
            <a:chOff x="0" y="0"/>
            <a:chExt cx="146304" cy="1706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058400" y="5120640"/>
            <a:ext cx="7498080" cy="640080"/>
            <a:chOff x="0" y="0"/>
            <a:chExt cx="9997440" cy="8534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Induction Hardening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058400" y="5760720"/>
            <a:ext cx="7498080" cy="1371600"/>
            <a:chOff x="0" y="0"/>
            <a:chExt cx="9997440" cy="182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9974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PINNs identify material properties from sensor data in real time. Replaces costly material testing cycles.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92640" y="7315200"/>
            <a:ext cx="109728" cy="1280160"/>
            <a:chOff x="0" y="0"/>
            <a:chExt cx="146304" cy="1706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6304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706880"/>
                  </a:lnTo>
                  <a:lnTo>
                    <a:pt x="0" y="1706880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58400" y="7315200"/>
            <a:ext cx="7498080" cy="640080"/>
            <a:chOff x="0" y="0"/>
            <a:chExt cx="9997440" cy="8534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997440" cy="853440"/>
            </a:xfrm>
            <a:custGeom>
              <a:avLst/>
              <a:gdLst/>
              <a:ahLst/>
              <a:cxnLst/>
              <a:rect r="r" b="b" t="t" l="l"/>
              <a:pathLst>
                <a:path h="8534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253" r="0" b="-17825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99744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 Twins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058400" y="7955280"/>
            <a:ext cx="7498080" cy="1371600"/>
            <a:chOff x="0" y="0"/>
            <a:chExt cx="9997440" cy="1828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7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18" r="0" b="-5651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99744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Physics-constrained neural networks enable real-time digital twins of equipment — powering predictive maintenance.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" cy="1645920"/>
            <a:chOff x="0" y="0"/>
            <a:chExt cx="12192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0"/>
            <a:ext cx="16459200" cy="1645920"/>
            <a:chOff x="0" y="0"/>
            <a:chExt cx="219456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194560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Healthcare &amp; Life Sciences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760" y="1920240"/>
            <a:ext cx="8412480" cy="3566160"/>
            <a:chOff x="0" y="0"/>
            <a:chExt cx="11216640" cy="4754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1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1920240"/>
            <a:ext cx="109728" cy="3566160"/>
            <a:chOff x="0" y="0"/>
            <a:chExt cx="146304" cy="475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40080" y="2103120"/>
            <a:ext cx="7863840" cy="694944"/>
            <a:chOff x="0" y="0"/>
            <a:chExt cx="1048512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❤️  Cardiac Biomechanics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0080" y="2798064"/>
            <a:ext cx="7863840" cy="1499616"/>
            <a:chOff x="0" y="0"/>
            <a:chExt cx="10485120" cy="19994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85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77" r="0" b="-5217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48512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Parametric PINNs simulate personalized left ventricular mechanics from patient cardiac images. Runs faster than finite element models while maintaining clinical accuracy.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3727" y="4327903"/>
            <a:ext cx="7785097" cy="963673"/>
            <a:chOff x="0" y="0"/>
            <a:chExt cx="10380129" cy="12848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8509" y="8509"/>
              <a:ext cx="10363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8021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380218">
                  <a:moveTo>
                    <a:pt x="8509" y="0"/>
                  </a:moveTo>
                  <a:lnTo>
                    <a:pt x="10371709" y="0"/>
                  </a:lnTo>
                  <a:cubicBezTo>
                    <a:pt x="10376408" y="0"/>
                    <a:pt x="10380218" y="3810"/>
                    <a:pt x="10380218" y="8509"/>
                  </a:cubicBezTo>
                  <a:lnTo>
                    <a:pt x="10380218" y="1276477"/>
                  </a:lnTo>
                  <a:cubicBezTo>
                    <a:pt x="10380218" y="1281176"/>
                    <a:pt x="10376408" y="1284986"/>
                    <a:pt x="1037170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371709" y="1267968"/>
                  </a:lnTo>
                  <a:lnTo>
                    <a:pt x="10371709" y="1276477"/>
                  </a:lnTo>
                  <a:lnTo>
                    <a:pt x="10363200" y="1276477"/>
                  </a:lnTo>
                  <a:lnTo>
                    <a:pt x="10363200" y="8509"/>
                  </a:lnTo>
                  <a:lnTo>
                    <a:pt x="10371709" y="8509"/>
                  </a:lnTo>
                  <a:lnTo>
                    <a:pt x="10371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520" y="4334256"/>
            <a:ext cx="7589520" cy="950976"/>
            <a:chOff x="0" y="0"/>
            <a:chExt cx="10119360" cy="12679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19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5" r="0" b="-1055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11936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91C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Personalized treatment planning without invasive procedures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26880" y="1920240"/>
            <a:ext cx="8412480" cy="3566160"/>
            <a:chOff x="0" y="0"/>
            <a:chExt cx="11216640" cy="4754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1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26880" y="1920240"/>
            <a:ext cx="109728" cy="3566160"/>
            <a:chOff x="0" y="0"/>
            <a:chExt cx="146304" cy="4754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01200" y="2103120"/>
            <a:ext cx="7863840" cy="694944"/>
            <a:chOff x="0" y="0"/>
            <a:chExt cx="10485120" cy="9265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🩸  Blood Flow Modeling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0" y="2798064"/>
            <a:ext cx="7863840" cy="1499616"/>
            <a:chOff x="0" y="0"/>
            <a:chExt cx="10485120" cy="19994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85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77" r="0" b="-5217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48512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Hidden Fluid Mechanics technique uses PINNs to recover velocity and pressure fields from imaging data alone — no direct measurement needed.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94847" y="4327903"/>
            <a:ext cx="7785097" cy="963673"/>
            <a:chOff x="0" y="0"/>
            <a:chExt cx="10380129" cy="12848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509" y="8509"/>
              <a:ext cx="10363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38021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380218">
                  <a:moveTo>
                    <a:pt x="8509" y="0"/>
                  </a:moveTo>
                  <a:lnTo>
                    <a:pt x="10371709" y="0"/>
                  </a:lnTo>
                  <a:cubicBezTo>
                    <a:pt x="10376408" y="0"/>
                    <a:pt x="10380218" y="3810"/>
                    <a:pt x="10380218" y="8509"/>
                  </a:cubicBezTo>
                  <a:lnTo>
                    <a:pt x="10380218" y="1276477"/>
                  </a:lnTo>
                  <a:cubicBezTo>
                    <a:pt x="10380218" y="1281176"/>
                    <a:pt x="10376408" y="1284986"/>
                    <a:pt x="1037170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371709" y="1267968"/>
                  </a:lnTo>
                  <a:lnTo>
                    <a:pt x="10371709" y="1276477"/>
                  </a:lnTo>
                  <a:lnTo>
                    <a:pt x="10363200" y="1276477"/>
                  </a:lnTo>
                  <a:lnTo>
                    <a:pt x="10363200" y="8509"/>
                  </a:lnTo>
                  <a:lnTo>
                    <a:pt x="10371709" y="8509"/>
                  </a:lnTo>
                  <a:lnTo>
                    <a:pt x="10371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92640" y="4334256"/>
            <a:ext cx="7589520" cy="950976"/>
            <a:chOff x="0" y="0"/>
            <a:chExt cx="10119360" cy="12679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19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5" r="0" b="-10550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11936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91C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Stroke risk assessment from standard MRI/CT scans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65760" y="5852160"/>
            <a:ext cx="8412480" cy="3566160"/>
            <a:chOff x="0" y="0"/>
            <a:chExt cx="11216640" cy="4754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21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365760" y="5852160"/>
            <a:ext cx="109728" cy="3566160"/>
            <a:chOff x="0" y="0"/>
            <a:chExt cx="146304" cy="4754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0080" y="6035040"/>
            <a:ext cx="7863840" cy="694944"/>
            <a:chOff x="0" y="0"/>
            <a:chExt cx="10485120" cy="9265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💊  Drug Delivery Optimization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40080" y="6729984"/>
            <a:ext cx="7863840" cy="1499616"/>
            <a:chOff x="0" y="0"/>
            <a:chExt cx="10485120" cy="19994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85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77" r="0" b="-5217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48512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PINNs model how drugs diffuse through tissue governed by transport PDEs, optimizing dosage schedules with minimal lab experiments.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33727" y="8259823"/>
            <a:ext cx="7785097" cy="963673"/>
            <a:chOff x="0" y="0"/>
            <a:chExt cx="10380129" cy="128489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8509" y="8509"/>
              <a:ext cx="10363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38021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380218">
                  <a:moveTo>
                    <a:pt x="8509" y="0"/>
                  </a:moveTo>
                  <a:lnTo>
                    <a:pt x="10371709" y="0"/>
                  </a:lnTo>
                  <a:cubicBezTo>
                    <a:pt x="10376408" y="0"/>
                    <a:pt x="10380218" y="3810"/>
                    <a:pt x="10380218" y="8509"/>
                  </a:cubicBezTo>
                  <a:lnTo>
                    <a:pt x="10380218" y="1276477"/>
                  </a:lnTo>
                  <a:cubicBezTo>
                    <a:pt x="10380218" y="1281176"/>
                    <a:pt x="10376408" y="1284986"/>
                    <a:pt x="1037170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371709" y="1267968"/>
                  </a:lnTo>
                  <a:lnTo>
                    <a:pt x="10371709" y="1276477"/>
                  </a:lnTo>
                  <a:lnTo>
                    <a:pt x="10363200" y="1276477"/>
                  </a:lnTo>
                  <a:lnTo>
                    <a:pt x="10363200" y="8509"/>
                  </a:lnTo>
                  <a:lnTo>
                    <a:pt x="10371709" y="8509"/>
                  </a:lnTo>
                  <a:lnTo>
                    <a:pt x="10371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31520" y="8266176"/>
            <a:ext cx="7589520" cy="950976"/>
            <a:chOff x="0" y="0"/>
            <a:chExt cx="10119360" cy="12679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119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5" r="0" b="-1055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11936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91C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Faster drug trials, reduced R&amp;D cost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26880" y="5852160"/>
            <a:ext cx="8412480" cy="3566160"/>
            <a:chOff x="0" y="0"/>
            <a:chExt cx="11216640" cy="4754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216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26880" y="5852160"/>
            <a:ext cx="109728" cy="3566160"/>
            <a:chOff x="0" y="0"/>
            <a:chExt cx="146304" cy="4754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6304" cy="4754880"/>
            </a:xfrm>
            <a:custGeom>
              <a:avLst/>
              <a:gdLst/>
              <a:ahLst/>
              <a:cxnLst/>
              <a:rect r="r" b="b" t="t" l="l"/>
              <a:pathLst>
                <a:path h="47548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01200" y="6035040"/>
            <a:ext cx="7863840" cy="694944"/>
            <a:chOff x="0" y="0"/>
            <a:chExt cx="1048512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85120" cy="926592"/>
            </a:xfrm>
            <a:custGeom>
              <a:avLst/>
              <a:gdLst/>
              <a:ahLst/>
              <a:cxnLst/>
              <a:rect r="r" b="b" t="t" l="l"/>
              <a:pathLst>
                <a:path h="926592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488" r="0" b="-17048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1048512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🧬  Medical Imaging Enhancement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601200" y="6729984"/>
            <a:ext cx="7863840" cy="1499616"/>
            <a:chOff x="0" y="0"/>
            <a:chExt cx="10485120" cy="19994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851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77" r="0" b="-5217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485120" cy="2037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 constraints improve reconstruction of MRI and CT images from sparse measurements, reducing scan time while maintaining diagnostic quality.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594847" y="8259823"/>
            <a:ext cx="7785097" cy="963673"/>
            <a:chOff x="0" y="0"/>
            <a:chExt cx="10380129" cy="128489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8509" y="8509"/>
              <a:ext cx="103632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380218" cy="1284986"/>
            </a:xfrm>
            <a:custGeom>
              <a:avLst/>
              <a:gdLst/>
              <a:ahLst/>
              <a:cxnLst/>
              <a:rect r="r" b="b" t="t" l="l"/>
              <a:pathLst>
                <a:path h="1284986" w="10380218">
                  <a:moveTo>
                    <a:pt x="8509" y="0"/>
                  </a:moveTo>
                  <a:lnTo>
                    <a:pt x="10371709" y="0"/>
                  </a:lnTo>
                  <a:cubicBezTo>
                    <a:pt x="10376408" y="0"/>
                    <a:pt x="10380218" y="3810"/>
                    <a:pt x="10380218" y="8509"/>
                  </a:cubicBezTo>
                  <a:lnTo>
                    <a:pt x="10380218" y="1276477"/>
                  </a:lnTo>
                  <a:cubicBezTo>
                    <a:pt x="10380218" y="1281176"/>
                    <a:pt x="10376408" y="1284986"/>
                    <a:pt x="10371709" y="1284986"/>
                  </a:cubicBezTo>
                  <a:lnTo>
                    <a:pt x="8509" y="1284986"/>
                  </a:lnTo>
                  <a:cubicBezTo>
                    <a:pt x="3810" y="1284986"/>
                    <a:pt x="0" y="1281176"/>
                    <a:pt x="0" y="12764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76477"/>
                  </a:lnTo>
                  <a:lnTo>
                    <a:pt x="8509" y="1276477"/>
                  </a:lnTo>
                  <a:lnTo>
                    <a:pt x="8509" y="1267968"/>
                  </a:lnTo>
                  <a:lnTo>
                    <a:pt x="10371709" y="1267968"/>
                  </a:lnTo>
                  <a:lnTo>
                    <a:pt x="10371709" y="1276477"/>
                  </a:lnTo>
                  <a:lnTo>
                    <a:pt x="10363200" y="1276477"/>
                  </a:lnTo>
                  <a:lnTo>
                    <a:pt x="10363200" y="8509"/>
                  </a:lnTo>
                  <a:lnTo>
                    <a:pt x="10371709" y="8509"/>
                  </a:lnTo>
                  <a:lnTo>
                    <a:pt x="10371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FECAC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692640" y="8266176"/>
            <a:ext cx="7589520" cy="950976"/>
            <a:chOff x="0" y="0"/>
            <a:chExt cx="10119360" cy="12679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11936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505" r="0" b="-10550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11936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B91C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💡 Lower patient radiation exposure, faster throughput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" cy="1645920"/>
            <a:chOff x="0" y="0"/>
            <a:chExt cx="12192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0"/>
            <a:ext cx="16459200" cy="1645920"/>
            <a:chOff x="0" y="0"/>
            <a:chExt cx="219456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194560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Energy, Climate &amp; Finance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" y="1920240"/>
            <a:ext cx="8229600" cy="731520"/>
            <a:chOff x="0" y="0"/>
            <a:chExt cx="109728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9728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🌱  Energy &amp; Climate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8640" y="2743200"/>
            <a:ext cx="8229600" cy="1645920"/>
            <a:chOff x="0" y="0"/>
            <a:chExt cx="10972800" cy="2194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8640" y="2743200"/>
            <a:ext cx="109728" cy="1645920"/>
            <a:chOff x="0" y="0"/>
            <a:chExt cx="146304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816352"/>
            <a:ext cx="7498080" cy="585216"/>
            <a:chOff x="0" y="0"/>
            <a:chExt cx="999744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Wind Power Forecasting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3401568"/>
            <a:ext cx="7498080" cy="914400"/>
            <a:chOff x="0" y="0"/>
            <a:chExt cx="999744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Hybrid PINN framework achieved R² = 0.998 for wind prediction in permanent magnet generators — outperforming pure ML.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48640" y="4663440"/>
            <a:ext cx="8229600" cy="1645920"/>
            <a:chOff x="0" y="0"/>
            <a:chExt cx="10972800" cy="2194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48640" y="4663440"/>
            <a:ext cx="109728" cy="1645920"/>
            <a:chOff x="0" y="0"/>
            <a:chExt cx="146304" cy="21945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4736592"/>
            <a:ext cx="7498080" cy="585216"/>
            <a:chOff x="0" y="0"/>
            <a:chExt cx="999744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Climate Modeling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5321808"/>
            <a:ext cx="7498080" cy="914400"/>
            <a:chOff x="0" y="0"/>
            <a:chExt cx="999744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MC-PINN reduces ocean temperature anomaly errors by 37% vs CMIP6 models, using 82% less compute.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8640" y="6583680"/>
            <a:ext cx="8229600" cy="1645920"/>
            <a:chOff x="0" y="0"/>
            <a:chExt cx="10972800" cy="21945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8640" y="6583680"/>
            <a:ext cx="109728" cy="1645920"/>
            <a:chOff x="0" y="0"/>
            <a:chExt cx="146304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4400" y="6656832"/>
            <a:ext cx="7498080" cy="585216"/>
            <a:chOff x="0" y="0"/>
            <a:chExt cx="9997440" cy="7802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Earthquake Early Warning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" y="7242048"/>
            <a:ext cx="7498080" cy="914400"/>
            <a:chOff x="0" y="0"/>
            <a:chExt cx="999744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SeisPINN localizes seismic events to 0.5 km accuracy within 5 seconds of P-wave arrival (vs 2.1 km traditional).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09760" y="1920240"/>
            <a:ext cx="8229600" cy="731520"/>
            <a:chOff x="0" y="0"/>
            <a:chExt cx="1097280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09728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📈  Finance &amp; Risk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509760" y="2743200"/>
            <a:ext cx="8229600" cy="1645920"/>
            <a:chOff x="0" y="0"/>
            <a:chExt cx="10972800" cy="2194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09760" y="2743200"/>
            <a:ext cx="109728" cy="1645920"/>
            <a:chOff x="0" y="0"/>
            <a:chExt cx="146304" cy="21945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875520" y="2816352"/>
            <a:ext cx="7498080" cy="585216"/>
            <a:chOff x="0" y="0"/>
            <a:chExt cx="9997440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Option Pricing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75520" y="3401568"/>
            <a:ext cx="7498080" cy="914400"/>
            <a:chOff x="0" y="0"/>
            <a:chExt cx="999744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PINNs solve Black-Scholes PDE directly — pricing options and Greeks under jump-diffusion models with sparse market data.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509760" y="4663440"/>
            <a:ext cx="8229600" cy="1645920"/>
            <a:chOff x="0" y="0"/>
            <a:chExt cx="10972800" cy="2194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09760" y="4663440"/>
            <a:ext cx="109728" cy="1645920"/>
            <a:chOff x="0" y="0"/>
            <a:chExt cx="146304" cy="21945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875520" y="4736592"/>
            <a:ext cx="7498080" cy="585216"/>
            <a:chOff x="0" y="0"/>
            <a:chExt cx="9997440" cy="78028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Volatility Modeling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875520" y="5321808"/>
            <a:ext cx="7498080" cy="914400"/>
            <a:chOff x="0" y="0"/>
            <a:chExt cx="999744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Physics-constrained networks model stochastic volatility with convergence guarantees unavailable to pure ML.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509760" y="6583680"/>
            <a:ext cx="8229600" cy="1645920"/>
            <a:chOff x="0" y="0"/>
            <a:chExt cx="10972800" cy="21945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509760" y="6583680"/>
            <a:ext cx="109728" cy="1645920"/>
            <a:chOff x="0" y="0"/>
            <a:chExt cx="146304" cy="21945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6304" cy="2194560"/>
            </a:xfrm>
            <a:custGeom>
              <a:avLst/>
              <a:gdLst/>
              <a:ahLst/>
              <a:cxnLst/>
              <a:rect r="r" b="b" t="t" l="l"/>
              <a:pathLst>
                <a:path h="21945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75520" y="6656832"/>
            <a:ext cx="7498080" cy="585216"/>
            <a:chOff x="0" y="0"/>
            <a:chExt cx="9997440" cy="7802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99744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Hedging Optimization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875520" y="7242048"/>
            <a:ext cx="7498080" cy="914400"/>
            <a:chOff x="0" y="0"/>
            <a:chExt cx="9997440" cy="1219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9974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777" r="0" b="-10977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9974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PINN framework on NIFTY50 options achieves significantly lower pricing error and hedging costs vs neural-SDE baseline.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131303" y="1907543"/>
            <a:ext cx="25403" cy="6426203"/>
            <a:chOff x="0" y="0"/>
            <a:chExt cx="33871" cy="856827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16891"/>
              <a:ext cx="33909" cy="8534400"/>
            </a:xfrm>
            <a:custGeom>
              <a:avLst/>
              <a:gdLst/>
              <a:ahLst/>
              <a:cxnLst/>
              <a:rect r="r" b="b" t="t" l="l"/>
              <a:pathLst>
                <a:path h="8534400" w="33909">
                  <a:moveTo>
                    <a:pt x="33909" y="0"/>
                  </a:moveTo>
                  <a:lnTo>
                    <a:pt x="33909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EF8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0" y="9089136"/>
            <a:ext cx="18288000" cy="1188720"/>
            <a:chOff x="0" y="0"/>
            <a:chExt cx="24384000" cy="15849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3840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48640" y="9089136"/>
            <a:ext cx="17190720" cy="1188720"/>
            <a:chOff x="0" y="0"/>
            <a:chExt cx="22920960" cy="15849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920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783" r="0" b="-23178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229209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82% less compute cost  ·  37% lower prediction error  ·  Real-time results where classical solvers take days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645920"/>
            <a:chOff x="0" y="0"/>
            <a:chExt cx="2438400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914400" cy="1645920"/>
            <a:chOff x="0" y="0"/>
            <a:chExt cx="1219200" cy="2194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0160" y="0"/>
            <a:ext cx="16459200" cy="1645920"/>
            <a:chOff x="0" y="0"/>
            <a:chExt cx="21945600" cy="2194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2194560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is Already Investing?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5760" y="1920240"/>
            <a:ext cx="5669280" cy="3566160"/>
            <a:chOff x="0" y="0"/>
            <a:chExt cx="7559040" cy="4754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65760" y="1920240"/>
            <a:ext cx="5669280" cy="822960"/>
            <a:chOff x="0" y="0"/>
            <a:chExt cx="75590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85216" y="1920240"/>
            <a:ext cx="4572000" cy="822960"/>
            <a:chOff x="0" y="0"/>
            <a:chExt cx="609600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096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NVIDIA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4754880" y="2103120"/>
            <a:ext cx="1097280" cy="457200"/>
            <a:chOff x="0" y="0"/>
            <a:chExt cx="146304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754880" y="2103120"/>
            <a:ext cx="1097280" cy="457200"/>
            <a:chOff x="0" y="0"/>
            <a:chExt cx="1463040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4630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Platform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85216" y="2834640"/>
            <a:ext cx="5303520" cy="548640"/>
            <a:chOff x="0" y="0"/>
            <a:chExt cx="70713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Platform provider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85216" y="3419856"/>
            <a:ext cx="5303520" cy="1828800"/>
            <a:chOff x="0" y="0"/>
            <a:chExt cx="7071360" cy="243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071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PhysicsNeMo (open-source). GPU-accelerated PINN training for CFD, weather, digital twins.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45936" y="1920240"/>
            <a:ext cx="5669280" cy="3566160"/>
            <a:chOff x="0" y="0"/>
            <a:chExt cx="7559040" cy="47548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45936" y="1920240"/>
            <a:ext cx="5669280" cy="822960"/>
            <a:chOff x="0" y="0"/>
            <a:chExt cx="75590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6565392" y="1920240"/>
            <a:ext cx="4572000" cy="822960"/>
            <a:chOff x="0" y="0"/>
            <a:chExt cx="609600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096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Ansys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35056" y="2103120"/>
            <a:ext cx="1097280" cy="457200"/>
            <a:chOff x="0" y="0"/>
            <a:chExt cx="1463040" cy="609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735056" y="2103120"/>
            <a:ext cx="1097280" cy="457200"/>
            <a:chOff x="0" y="0"/>
            <a:chExt cx="146304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4630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Tooling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65392" y="2834640"/>
            <a:ext cx="5303520" cy="548640"/>
            <a:chOff x="0" y="0"/>
            <a:chExt cx="707136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Engineering simulation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565392" y="3419856"/>
            <a:ext cx="5303520" cy="1828800"/>
            <a:chOff x="0" y="0"/>
            <a:chExt cx="7071360" cy="2438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7071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Integrating PINNs as surrogate models into FEA workflows. Structural and thermal analysis.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26112" y="1920240"/>
            <a:ext cx="5669280" cy="3566160"/>
            <a:chOff x="0" y="0"/>
            <a:chExt cx="7559040" cy="47548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326112" y="1920240"/>
            <a:ext cx="5669280" cy="822960"/>
            <a:chOff x="0" y="0"/>
            <a:chExt cx="755904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545568" y="1920240"/>
            <a:ext cx="4572000" cy="822960"/>
            <a:chOff x="0" y="0"/>
            <a:chExt cx="609600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6096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Siemens Digital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715232" y="2103120"/>
            <a:ext cx="1097280" cy="457200"/>
            <a:chOff x="0" y="0"/>
            <a:chExt cx="146304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715232" y="2103120"/>
            <a:ext cx="1097280" cy="457200"/>
            <a:chOff x="0" y="0"/>
            <a:chExt cx="146304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4630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Tooling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545568" y="2834640"/>
            <a:ext cx="5303520" cy="548640"/>
            <a:chOff x="0" y="0"/>
            <a:chExt cx="707136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Industrial digitalization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545568" y="3419856"/>
            <a:ext cx="5303520" cy="1828800"/>
            <a:chOff x="0" y="0"/>
            <a:chExt cx="7071360" cy="2438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071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Physics-ML for manufacturing digital twins and industrial automation systems.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65760" y="5852160"/>
            <a:ext cx="5669280" cy="3566160"/>
            <a:chOff x="0" y="0"/>
            <a:chExt cx="7559040" cy="4754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65760" y="5852160"/>
            <a:ext cx="5669280" cy="822960"/>
            <a:chOff x="0" y="0"/>
            <a:chExt cx="7559040" cy="1097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85216" y="5852160"/>
            <a:ext cx="4572000" cy="822960"/>
            <a:chOff x="0" y="0"/>
            <a:chExt cx="609600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096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Baker Hughes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754880" y="6035040"/>
            <a:ext cx="1097280" cy="457200"/>
            <a:chOff x="0" y="0"/>
            <a:chExt cx="146304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4754880" y="6035040"/>
            <a:ext cx="1097280" cy="457200"/>
            <a:chOff x="0" y="0"/>
            <a:chExt cx="1463040" cy="609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14630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85216" y="6766560"/>
            <a:ext cx="5303520" cy="548640"/>
            <a:chOff x="0" y="0"/>
            <a:chExt cx="707136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Oil &amp; gas technology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85216" y="7351776"/>
            <a:ext cx="5303520" cy="1828800"/>
            <a:chOff x="0" y="0"/>
            <a:chExt cx="7071360" cy="24384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7071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Reservoir simulation and production forecasting using physics-constrained ML.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345936" y="5852160"/>
            <a:ext cx="5669280" cy="3566160"/>
            <a:chOff x="0" y="0"/>
            <a:chExt cx="7559040" cy="47548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345936" y="5852160"/>
            <a:ext cx="5669280" cy="822960"/>
            <a:chOff x="0" y="0"/>
            <a:chExt cx="7559040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6565392" y="5852160"/>
            <a:ext cx="4572000" cy="822960"/>
            <a:chOff x="0" y="0"/>
            <a:chExt cx="6096000" cy="10972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6096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MathWorks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735056" y="6035040"/>
            <a:ext cx="1097280" cy="457200"/>
            <a:chOff x="0" y="0"/>
            <a:chExt cx="1463040" cy="6096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735056" y="6035040"/>
            <a:ext cx="1097280" cy="457200"/>
            <a:chOff x="0" y="0"/>
            <a:chExt cx="1463040" cy="6096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14630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Tooling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6565392" y="6766560"/>
            <a:ext cx="5303520" cy="548640"/>
            <a:chOff x="0" y="0"/>
            <a:chExt cx="7071360" cy="7315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Finance &amp; engineering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6565392" y="7351776"/>
            <a:ext cx="5303520" cy="1828800"/>
            <a:chOff x="0" y="0"/>
            <a:chExt cx="7071360" cy="2438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7071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PINN toolbox for option pricing and engineering simulations. Presented at 2024 Finance Conference.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326112" y="5852160"/>
            <a:ext cx="5669280" cy="3566160"/>
            <a:chOff x="0" y="0"/>
            <a:chExt cx="7559040" cy="47548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5590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326112" y="5852160"/>
            <a:ext cx="5669280" cy="822960"/>
            <a:chOff x="0" y="0"/>
            <a:chExt cx="7559040" cy="109728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545568" y="5852160"/>
            <a:ext cx="4572000" cy="822960"/>
            <a:chOff x="0" y="0"/>
            <a:chExt cx="6096000" cy="10972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096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50" r="0" b="-5825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6096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Kinetic Vision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6715232" y="6035040"/>
            <a:ext cx="1097280" cy="457200"/>
            <a:chOff x="0" y="0"/>
            <a:chExt cx="1463040" cy="6096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FFFF">
                <a:alpha val="48627"/>
              </a:srgbClr>
            </a:solid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6715232" y="6035040"/>
            <a:ext cx="1097280" cy="457200"/>
            <a:chOff x="0" y="0"/>
            <a:chExt cx="1463040" cy="6096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463040" cy="609600"/>
            </a:xfrm>
            <a:custGeom>
              <a:avLst/>
              <a:gdLst/>
              <a:ahLst/>
              <a:cxnLst/>
              <a:rect r="r" b="b" t="t" l="l"/>
              <a:pathLst>
                <a:path h="60960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146304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Domain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2545568" y="6766560"/>
            <a:ext cx="5303520" cy="548640"/>
            <a:chOff x="0" y="0"/>
            <a:chExt cx="7071360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071360" cy="731520"/>
            </a:xfrm>
            <a:custGeom>
              <a:avLst/>
              <a:gdLst/>
              <a:ahLst/>
              <a:cxnLst/>
              <a:rect r="r" b="b" t="t" l="l"/>
              <a:pathLst>
                <a:path h="73152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47625"/>
              <a:ext cx="70713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28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Manufacturing tech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2545568" y="7351776"/>
            <a:ext cx="5303520" cy="1828800"/>
            <a:chOff x="0" y="0"/>
            <a:chExt cx="7071360" cy="24384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707136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6" r="0" b="-650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707136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Air knife optimization using NVIDIA PhysicsNeMo — reducing physical prototype cycles.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408748" y="1673831"/>
          <a:ext cx="15470503" cy="8181109"/>
        </p:xfrm>
        <a:graphic>
          <a:graphicData uri="http://schemas.openxmlformats.org/drawingml/2006/table">
            <a:tbl>
              <a:tblPr/>
              <a:tblGrid>
                <a:gridCol w="1241719"/>
                <a:gridCol w="3616507"/>
                <a:gridCol w="4342537"/>
                <a:gridCol w="6269740"/>
              </a:tblGrid>
              <a:tr h="6299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Year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Paper / Work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Main Contribution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Key Innovation Introduced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1994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Dissanayake &amp; Phan-Thien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First major attempt to use neural networks for solving PDEs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Introduced neural networks as PDE approximators with physics-based loss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1998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Lagaris et 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Improved neural PDE solving with exact boundary handling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Introduced trial solution functions that automatically satisfy boundary conditions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Lagaris et 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Extended neural PDE methods to complex geometries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Enabled handling of irregular boundaries and more realistic domains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2017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Raissi et al. — Physics-Informed Neural Networks (PINNs)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Formal introduction of modern PINNs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Combined deep learning, automatic differentiation, PDE residual loss, and physics constraints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2019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DeepXDE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First major PINN framework/library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Simplified implementation of PINNs, PDEs, geometries, and boundary conditions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Fourier Neural Operators (FNO)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Introduced neural operator learning for PDEs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Learned entire PDE operators instead of single solutions, improving scalability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DeepONet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General operator learning framework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Learned mappings between function spaces for solving families of PDEs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NVIDIA Modulus / PhysicsNeMo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Industrial scientific AI framework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Large-scale GPU-accelerated PINNs and scientific ML for real-world engineering applications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2022+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Adaptive &amp; Multi-Scale PINNs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Improved training and scalability of PINNs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Adaptive sampling, better convergence, and handling of complex multi-scale physics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51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2024+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Scientific Foundation Models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Large pretrained AI models for scientific computing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Generalized physics learning for digital twins, climate modeling, and real-time simulation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0" y="0"/>
            <a:ext cx="18288000" cy="1338900"/>
            <a:chOff x="0" y="0"/>
            <a:chExt cx="24384000" cy="178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785200"/>
            </a:xfrm>
            <a:custGeom>
              <a:avLst/>
              <a:gdLst/>
              <a:ahLst/>
              <a:cxnLst/>
              <a:rect r="r" b="b" t="t" l="l"/>
              <a:pathLst>
                <a:path h="1785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785200"/>
                  </a:lnTo>
                  <a:lnTo>
                    <a:pt x="0" y="178520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80160" y="0"/>
            <a:ext cx="16459200" cy="1645920"/>
            <a:chOff x="0" y="0"/>
            <a:chExt cx="21945600" cy="21945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2194560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Evolution Table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33350"/>
              <a:ext cx="21945600" cy="1840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59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Business Case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73736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i="true">
                  <a:solidFill>
                    <a:srgbClr val="CADCF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Why PINNs deliver ROI that pure ML cannot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5943" y="2730503"/>
            <a:ext cx="4048763" cy="3134363"/>
            <a:chOff x="0" y="0"/>
            <a:chExt cx="5398351" cy="41791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28090">
                <a:alpha val="6392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826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162171"/>
                  </a:lnTo>
                  <a:cubicBezTo>
                    <a:pt x="5398262" y="4171569"/>
                    <a:pt x="5390642" y="4179062"/>
                    <a:pt x="538137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381371" y="4145280"/>
                  </a:lnTo>
                  <a:lnTo>
                    <a:pt x="5381371" y="4162171"/>
                  </a:lnTo>
                  <a:lnTo>
                    <a:pt x="5364480" y="41621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8640" y="2834640"/>
            <a:ext cx="4023360" cy="1371600"/>
            <a:chOff x="0" y="0"/>
            <a:chExt cx="536448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4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61925"/>
              <a:ext cx="5364480" cy="1990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100×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8640" y="4206240"/>
            <a:ext cx="4023360" cy="1005840"/>
            <a:chOff x="0" y="0"/>
            <a:chExt cx="536448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3644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Faster than classical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numerical solvers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5303520"/>
            <a:ext cx="4023360" cy="512064"/>
            <a:chOff x="0" y="0"/>
            <a:chExt cx="536448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Hours → seconds for simulation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88487" y="2730503"/>
            <a:ext cx="4048763" cy="3134363"/>
            <a:chOff x="0" y="0"/>
            <a:chExt cx="5398351" cy="41791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28090">
                <a:alpha val="63922"/>
              </a:srgbClr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9826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162171"/>
                  </a:lnTo>
                  <a:cubicBezTo>
                    <a:pt x="5398262" y="4171569"/>
                    <a:pt x="5390642" y="4179062"/>
                    <a:pt x="538137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381371" y="4145280"/>
                  </a:lnTo>
                  <a:lnTo>
                    <a:pt x="5381371" y="4162171"/>
                  </a:lnTo>
                  <a:lnTo>
                    <a:pt x="5364480" y="41621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01184" y="2834640"/>
            <a:ext cx="4023360" cy="1371600"/>
            <a:chOff x="0" y="0"/>
            <a:chExt cx="5364480" cy="182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61925"/>
              <a:ext cx="5364480" cy="1990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82%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01184" y="4206240"/>
            <a:ext cx="4023360" cy="1005840"/>
            <a:chOff x="0" y="0"/>
            <a:chExt cx="536448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3644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Less compute cost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 climate modeling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901184" y="5303520"/>
            <a:ext cx="4023360" cy="512064"/>
            <a:chOff x="0" y="0"/>
            <a:chExt cx="536448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vs. CMIP6 benchmark models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41031" y="2730503"/>
            <a:ext cx="4048763" cy="3134363"/>
            <a:chOff x="0" y="0"/>
            <a:chExt cx="5398351" cy="41791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28090">
                <a:alpha val="63922"/>
              </a:srgbClr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9826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162171"/>
                  </a:lnTo>
                  <a:cubicBezTo>
                    <a:pt x="5398262" y="4171569"/>
                    <a:pt x="5390642" y="4179062"/>
                    <a:pt x="538137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381371" y="4145280"/>
                  </a:lnTo>
                  <a:lnTo>
                    <a:pt x="5381371" y="4162171"/>
                  </a:lnTo>
                  <a:lnTo>
                    <a:pt x="5364480" y="41621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253728" y="2834640"/>
            <a:ext cx="4023360" cy="1371600"/>
            <a:chOff x="0" y="0"/>
            <a:chExt cx="536448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61925"/>
              <a:ext cx="5364480" cy="1990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37%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53728" y="4206240"/>
            <a:ext cx="4023360" cy="1005840"/>
            <a:chOff x="0" y="0"/>
            <a:chExt cx="5364480" cy="13411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3644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Lower prediction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 in key domains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53728" y="5303520"/>
            <a:ext cx="4023360" cy="512064"/>
            <a:chOff x="0" y="0"/>
            <a:chExt cx="536448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Ocean temperature anomalies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93575" y="2730503"/>
            <a:ext cx="4048763" cy="3134363"/>
            <a:chOff x="0" y="0"/>
            <a:chExt cx="5398351" cy="4179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0" cy="4145280"/>
            </a:xfrm>
            <a:custGeom>
              <a:avLst/>
              <a:gdLst/>
              <a:ahLst/>
              <a:cxnLst/>
              <a:rect r="r" b="b" t="t" l="l"/>
              <a:pathLst>
                <a:path h="4145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145280"/>
                  </a:lnTo>
                  <a:lnTo>
                    <a:pt x="0" y="4145280"/>
                  </a:lnTo>
                  <a:close/>
                </a:path>
              </a:pathLst>
            </a:custGeom>
            <a:solidFill>
              <a:srgbClr val="028090">
                <a:alpha val="63922"/>
              </a:srgbClr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98262" cy="4179062"/>
            </a:xfrm>
            <a:custGeom>
              <a:avLst/>
              <a:gdLst/>
              <a:ahLst/>
              <a:cxnLst/>
              <a:rect r="r" b="b" t="t" l="l"/>
              <a:pathLst>
                <a:path h="417906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162171"/>
                  </a:lnTo>
                  <a:cubicBezTo>
                    <a:pt x="5398262" y="4171569"/>
                    <a:pt x="5390642" y="4179062"/>
                    <a:pt x="5381371" y="4179062"/>
                  </a:cubicBezTo>
                  <a:lnTo>
                    <a:pt x="16891" y="4179062"/>
                  </a:lnTo>
                  <a:cubicBezTo>
                    <a:pt x="7493" y="4179062"/>
                    <a:pt x="0" y="4171442"/>
                    <a:pt x="0" y="4162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62171"/>
                  </a:lnTo>
                  <a:lnTo>
                    <a:pt x="16891" y="4162171"/>
                  </a:lnTo>
                  <a:lnTo>
                    <a:pt x="16891" y="4145280"/>
                  </a:lnTo>
                  <a:lnTo>
                    <a:pt x="5381371" y="4145280"/>
                  </a:lnTo>
                  <a:lnTo>
                    <a:pt x="5381371" y="4162171"/>
                  </a:lnTo>
                  <a:lnTo>
                    <a:pt x="5364480" y="416217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A89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606272" y="2834640"/>
            <a:ext cx="4023360" cy="1371600"/>
            <a:chOff x="0" y="0"/>
            <a:chExt cx="5364480" cy="1828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" r="0" b="-715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61925"/>
              <a:ext cx="5364480" cy="1990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&lt;1%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606272" y="4206240"/>
            <a:ext cx="4023360" cy="1005840"/>
            <a:chOff x="0" y="0"/>
            <a:chExt cx="5364480" cy="1341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644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36448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Reservoir prediction</a:t>
              </a:r>
            </a:p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 with sparse data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606272" y="5303520"/>
            <a:ext cx="4023360" cy="512064"/>
            <a:chOff x="0" y="0"/>
            <a:chExt cx="536448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64480" cy="682752"/>
            </a:xfrm>
            <a:custGeom>
              <a:avLst/>
              <a:gdLst/>
              <a:ahLst/>
              <a:cxnLst/>
              <a:rect r="r" b="b" t="t" l="l"/>
              <a:pathLst>
                <a:path h="682752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5364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vs. 3–5% for pure ML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400" y="6126480"/>
            <a:ext cx="16459200" cy="731520"/>
            <a:chOff x="0" y="0"/>
            <a:chExt cx="21945600" cy="975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0A89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 to choose PINNs over standard ML: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4400" y="6858000"/>
            <a:ext cx="16459200" cy="2743200"/>
            <a:chOff x="0" y="0"/>
            <a:chExt cx="21945600" cy="3657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45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21945600" cy="371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have limited labeled data but know the governing physics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Predictions MUST be physically valid — no impossible outputs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Classical simulation is too slow for real-time or design optimization</a:t>
              </a:r>
            </a:p>
            <a:p>
              <a:pPr algn="l" marL="627380" indent="-31369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need to solve inverse problems — infer hidden system parameters from measurements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0" y="9875520"/>
            <a:ext cx="18288000" cy="411480"/>
            <a:chOff x="0" y="0"/>
            <a:chExt cx="243840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8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028090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48640" y="9875520"/>
            <a:ext cx="17190720" cy="411480"/>
            <a:chOff x="0" y="0"/>
            <a:chExt cx="2292096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920961" cy="548640"/>
            </a:xfrm>
            <a:custGeom>
              <a:avLst/>
              <a:gdLst/>
              <a:ahLst/>
              <a:cxnLst/>
              <a:rect r="r" b="b" t="t" l="l"/>
              <a:pathLst>
                <a:path h="5486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4041" r="0" b="-76404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2920960" cy="5962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PINNs — where AI respects physics to deliver engineering-grade business outcomes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DAHKzdMQxIs</dc:identifier>
  <dcterms:modified xsi:type="dcterms:W3CDTF">2011-08-01T06:04:30Z</dcterms:modified>
  <cp:revision>1</cp:revision>
  <dc:title>ppt1.pptx</dc:title>
</cp:coreProperties>
</file>