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1"/>
  </p:sldMasterIdLst>
  <p:notesMasterIdLst>
    <p:notesMasterId r:id="rId25"/>
  </p:notesMasterIdLst>
  <p:sldIdLst>
    <p:sldId id="256" r:id="rId2"/>
    <p:sldId id="258" r:id="rId3"/>
    <p:sldId id="259" r:id="rId4"/>
    <p:sldId id="260" r:id="rId5"/>
    <p:sldId id="261" r:id="rId6"/>
    <p:sldId id="262" r:id="rId7"/>
    <p:sldId id="277" r:id="rId8"/>
    <p:sldId id="278" r:id="rId9"/>
    <p:sldId id="282" r:id="rId10"/>
    <p:sldId id="263" r:id="rId11"/>
    <p:sldId id="266" r:id="rId12"/>
    <p:sldId id="279" r:id="rId13"/>
    <p:sldId id="267" r:id="rId14"/>
    <p:sldId id="264" r:id="rId15"/>
    <p:sldId id="265" r:id="rId16"/>
    <p:sldId id="269" r:id="rId17"/>
    <p:sldId id="270" r:id="rId18"/>
    <p:sldId id="283" r:id="rId19"/>
    <p:sldId id="271" r:id="rId20"/>
    <p:sldId id="272" r:id="rId21"/>
    <p:sldId id="274" r:id="rId22"/>
    <p:sldId id="275" r:id="rId23"/>
    <p:sldId id="276" r:id="rId24"/>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76" d="100"/>
          <a:sy n="76" d="100"/>
        </p:scale>
        <p:origin x="94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F4E79"/>
                </a:solidFill>
                <a:latin typeface="Arial"/>
              </a:defRPr>
            </a:pPr>
            <a:r>
              <a:rPr lang="en-US" sz="1200" b="0" i="0" u="none" strike="noStrike">
                <a:solidFill>
                  <a:srgbClr val="1F4E79"/>
                </a:solidFill>
                <a:latin typeface="Arial"/>
              </a:rPr>
              <a:t>Reserve Trajectory</a:t>
            </a:r>
          </a:p>
        </c:rich>
      </c:tx>
      <c:overlay val="0"/>
    </c:title>
    <c:autoTitleDeleted val="0"/>
    <c:plotArea>
      <c:layout/>
      <c:lineChart>
        <c:grouping val="standard"/>
        <c:varyColors val="0"/>
        <c:ser>
          <c:idx val="0"/>
          <c:order val="0"/>
          <c:tx>
            <c:strRef>
              <c:f>Sheet1!$B$1</c:f>
              <c:strCache>
                <c:ptCount val="1"/>
                <c:pt idx="0">
                  <c:v>Reserve</c:v>
                </c:pt>
              </c:strCache>
            </c:strRef>
          </c:tx>
          <c:spPr>
            <a:ln w="31750" cap="flat">
              <a:solidFill>
                <a:srgbClr val="1F4E79"/>
              </a:solidFill>
              <a:prstDash val="solid"/>
              <a:round/>
            </a:ln>
            <a:effectLst/>
          </c:spPr>
          <c:marker>
            <c:symbol val="circle"/>
            <c:size val="6"/>
            <c:spPr>
              <a:solidFill>
                <a:srgbClr val="1F4E79"/>
              </a:solidFill>
              <a:ln w="9525" cap="flat">
                <a:solidFill>
                  <a:srgbClr val="1F4E79"/>
                </a:solidFill>
                <a:prstDash val="solid"/>
                <a:round/>
              </a:ln>
              <a:effectLst/>
            </c:spPr>
          </c:marker>
          <c:cat>
            <c:strRef>
              <c:f>Sheet1!$A$2:$A$8</c:f>
              <c:strCache>
                <c:ptCount val="7"/>
                <c:pt idx="0">
                  <c:v>0</c:v>
                </c:pt>
                <c:pt idx="1">
                  <c:v>5</c:v>
                </c:pt>
                <c:pt idx="2">
                  <c:v>10</c:v>
                </c:pt>
                <c:pt idx="3">
                  <c:v>15</c:v>
                </c:pt>
                <c:pt idx="4">
                  <c:v>20</c:v>
                </c:pt>
                <c:pt idx="5">
                  <c:v>25</c:v>
                </c:pt>
                <c:pt idx="6">
                  <c:v>30</c:v>
                </c:pt>
              </c:strCache>
            </c:strRef>
          </c:cat>
          <c:val>
            <c:numRef>
              <c:f>Sheet1!$B$2:$B$8</c:f>
              <c:numCache>
                <c:formatCode>General</c:formatCode>
                <c:ptCount val="7"/>
                <c:pt idx="0">
                  <c:v>0</c:v>
                </c:pt>
                <c:pt idx="1">
                  <c:v>0.18</c:v>
                </c:pt>
                <c:pt idx="2">
                  <c:v>0.34</c:v>
                </c:pt>
                <c:pt idx="3">
                  <c:v>0.47</c:v>
                </c:pt>
                <c:pt idx="4">
                  <c:v>0.57999999999999996</c:v>
                </c:pt>
                <c:pt idx="5">
                  <c:v>0.32</c:v>
                </c:pt>
                <c:pt idx="6">
                  <c:v>0</c:v>
                </c:pt>
              </c:numCache>
            </c:numRef>
          </c:val>
          <c:smooth val="1"/>
          <c:extLst>
            <c:ext xmlns:c16="http://schemas.microsoft.com/office/drawing/2014/chart" uri="{C3380CC4-5D6E-409C-BE32-E72D297353CC}">
              <c16:uniqueId val="{00000000-702E-4465-B4E1-70069CF904D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9D3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4444"/>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drawings/_rels/drawing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image" Target="../media/image1.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D9D4DF18-A72E-8B6D-1191-3A234D93E5D0}"/>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15240000" cy="9525000"/>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93ACF82E-0360-474F-A6D4-6A1FA2DCE592}"/>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2"/>
        <a:stretch xmlns:a="http://schemas.openxmlformats.org/drawingml/2006/main">
          <a:fillRect/>
        </a:stretch>
      </cdr:blipFill>
      <cdr:spPr>
        <a:xfrm xmlns:a="http://schemas.openxmlformats.org/drawingml/2006/main">
          <a:off x="1712331" y="148556"/>
          <a:ext cx="8329961" cy="4498179"/>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33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0390700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9284792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7/10/2026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7636709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7/10/2026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162172447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129804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202890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4782467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7/10/2026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46423749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5268682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7/10/2026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8567525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45169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635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1BEF0D-F0BB-DE4B-95CE-6DB70DBA9567}" type="datetimeFigureOut">
              <a:rPr lang="en-US" smtClean="0"/>
              <a:pPr/>
              <a:t>7/10/2026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174632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640080" y="2148840"/>
            <a:ext cx="9144000" cy="320040"/>
          </a:xfrm>
          <a:prstGeom prst="rect">
            <a:avLst/>
          </a:prstGeom>
          <a:noFill/>
          <a:ln/>
        </p:spPr>
        <p:txBody>
          <a:bodyPr wrap="square" lIns="0" tIns="0" rIns="0" bIns="0" rtlCol="0" anchor="ctr"/>
          <a:lstStyle/>
          <a:p>
            <a:pPr marL="0" indent="0">
              <a:buNone/>
            </a:pPr>
            <a:r>
              <a:rPr lang="en-US" sz="1300" b="1" kern="0" spc="200" dirty="0">
                <a:solidFill>
                  <a:srgbClr val="E8743B"/>
                </a:solidFill>
                <a:latin typeface="Calibri" pitchFamily="34" charset="0"/>
                <a:ea typeface="Calibri" pitchFamily="34" charset="-122"/>
                <a:cs typeface="Calibri" pitchFamily="34" charset="-120"/>
              </a:rPr>
              <a:t>INTERNSHIP FINAL PRESENTATION</a:t>
            </a:r>
            <a:endParaRPr lang="en-US" sz="1300" dirty="0"/>
          </a:p>
        </p:txBody>
      </p:sp>
      <p:sp>
        <p:nvSpPr>
          <p:cNvPr id="3" name="Text 1"/>
          <p:cNvSpPr/>
          <p:nvPr/>
        </p:nvSpPr>
        <p:spPr>
          <a:xfrm>
            <a:off x="640080" y="2514600"/>
            <a:ext cx="10058400" cy="100584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Insurance Reserve Intelligence Platform</a:t>
            </a:r>
            <a:endParaRPr lang="en-US" sz="3800" dirty="0"/>
          </a:p>
        </p:txBody>
      </p:sp>
      <p:sp>
        <p:nvSpPr>
          <p:cNvPr id="4" name="Text 2"/>
          <p:cNvSpPr/>
          <p:nvPr/>
        </p:nvSpPr>
        <p:spPr>
          <a:xfrm>
            <a:off x="640080" y="3429000"/>
            <a:ext cx="9601200" cy="502920"/>
          </a:xfrm>
          <a:prstGeom prst="rect">
            <a:avLst/>
          </a:prstGeom>
          <a:noFill/>
          <a:ln/>
        </p:spPr>
        <p:txBody>
          <a:bodyPr wrap="square" lIns="0" tIns="0" rIns="0" bIns="0" rtlCol="0" anchor="ctr"/>
          <a:lstStyle/>
          <a:p>
            <a:pPr marL="0" indent="0">
              <a:buNone/>
            </a:pPr>
            <a:r>
              <a:rPr lang="en-US" sz="1700" dirty="0">
                <a:solidFill>
                  <a:srgbClr val="CFE0EE"/>
                </a:solidFill>
                <a:latin typeface="Calibri" pitchFamily="34" charset="0"/>
                <a:ea typeface="Calibri" pitchFamily="34" charset="-122"/>
                <a:cs typeface="Calibri" pitchFamily="34" charset="-120"/>
              </a:rPr>
              <a:t>Physics-Informed Neural Networks for Insurance Reserve Prediction</a:t>
            </a:r>
            <a:endParaRPr lang="en-US" sz="1700" dirty="0"/>
          </a:p>
        </p:txBody>
      </p:sp>
      <p:sp>
        <p:nvSpPr>
          <p:cNvPr id="5" name="Text 3"/>
          <p:cNvSpPr/>
          <p:nvPr/>
        </p:nvSpPr>
        <p:spPr>
          <a:xfrm>
            <a:off x="7863840" y="5074920"/>
            <a:ext cx="1463040" cy="320040"/>
          </a:xfrm>
          <a:prstGeom prst="rect">
            <a:avLst/>
          </a:prstGeom>
          <a:noFill/>
          <a:ln/>
        </p:spPr>
        <p:txBody>
          <a:bodyPr wrap="square" lIns="0" tIns="0" rIns="0" bIns="0" rtlCol="0" anchor="ctr"/>
          <a:lstStyle/>
          <a:p>
            <a:pPr marL="0" indent="0">
              <a:buNone/>
            </a:pPr>
            <a:r>
              <a:rPr lang="en-US" sz="1100" kern="0" spc="100" dirty="0">
                <a:solidFill>
                  <a:srgbClr val="8FAFC8"/>
                </a:solidFill>
                <a:latin typeface="Calibri" pitchFamily="34" charset="0"/>
                <a:ea typeface="Calibri" pitchFamily="34" charset="-122"/>
                <a:cs typeface="Calibri" pitchFamily="34" charset="-120"/>
              </a:rPr>
              <a:t>YOUR NAME:</a:t>
            </a:r>
            <a:endParaRPr lang="en-US" sz="1100" dirty="0"/>
          </a:p>
        </p:txBody>
      </p:sp>
      <p:sp>
        <p:nvSpPr>
          <p:cNvPr id="6" name="Text 4"/>
          <p:cNvSpPr/>
          <p:nvPr/>
        </p:nvSpPr>
        <p:spPr>
          <a:xfrm>
            <a:off x="9326880" y="5074920"/>
            <a:ext cx="219456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[Presenter Name]</a:t>
            </a:r>
            <a:endParaRPr lang="en-US" sz="1300" dirty="0"/>
          </a:p>
        </p:txBody>
      </p:sp>
      <p:sp>
        <p:nvSpPr>
          <p:cNvPr id="7" name="Text 5"/>
          <p:cNvSpPr/>
          <p:nvPr/>
        </p:nvSpPr>
        <p:spPr>
          <a:xfrm>
            <a:off x="7863840" y="5458968"/>
            <a:ext cx="1463040" cy="320040"/>
          </a:xfrm>
          <a:prstGeom prst="rect">
            <a:avLst/>
          </a:prstGeom>
          <a:noFill/>
          <a:ln/>
        </p:spPr>
        <p:txBody>
          <a:bodyPr wrap="square" lIns="0" tIns="0" rIns="0" bIns="0" rtlCol="0" anchor="ctr"/>
          <a:lstStyle/>
          <a:p>
            <a:pPr marL="0" indent="0">
              <a:buNone/>
            </a:pPr>
            <a:r>
              <a:rPr lang="en-US" sz="1100" kern="0" spc="100" dirty="0">
                <a:solidFill>
                  <a:srgbClr val="8FAFC8"/>
                </a:solidFill>
                <a:latin typeface="Calibri" pitchFamily="34" charset="0"/>
                <a:ea typeface="Calibri" pitchFamily="34" charset="-122"/>
                <a:cs typeface="Calibri" pitchFamily="34" charset="-120"/>
              </a:rPr>
              <a:t>MENTOR:</a:t>
            </a:r>
            <a:endParaRPr lang="en-US" sz="1100" dirty="0"/>
          </a:p>
        </p:txBody>
      </p:sp>
      <p:sp>
        <p:nvSpPr>
          <p:cNvPr id="8" name="Text 6"/>
          <p:cNvSpPr/>
          <p:nvPr/>
        </p:nvSpPr>
        <p:spPr>
          <a:xfrm>
            <a:off x="9326880" y="5458968"/>
            <a:ext cx="219456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[Mentor Name]</a:t>
            </a:r>
            <a:endParaRPr lang="en-US" sz="1300" dirty="0"/>
          </a:p>
        </p:txBody>
      </p:sp>
      <p:sp>
        <p:nvSpPr>
          <p:cNvPr id="9" name="Text 7"/>
          <p:cNvSpPr/>
          <p:nvPr/>
        </p:nvSpPr>
        <p:spPr>
          <a:xfrm>
            <a:off x="7863840" y="5843016"/>
            <a:ext cx="1463040" cy="320040"/>
          </a:xfrm>
          <a:prstGeom prst="rect">
            <a:avLst/>
          </a:prstGeom>
          <a:noFill/>
          <a:ln/>
        </p:spPr>
        <p:txBody>
          <a:bodyPr wrap="square" lIns="0" tIns="0" rIns="0" bIns="0" rtlCol="0" anchor="ctr"/>
          <a:lstStyle/>
          <a:p>
            <a:pPr marL="0" indent="0">
              <a:buNone/>
            </a:pPr>
            <a:r>
              <a:rPr lang="en-US" sz="1100" kern="0" spc="100" dirty="0">
                <a:solidFill>
                  <a:srgbClr val="8FAFC8"/>
                </a:solidFill>
                <a:latin typeface="Calibri" pitchFamily="34" charset="0"/>
                <a:ea typeface="Calibri" pitchFamily="34" charset="-122"/>
                <a:cs typeface="Calibri" pitchFamily="34" charset="-120"/>
              </a:rPr>
              <a:t>COMPANY:</a:t>
            </a:r>
            <a:endParaRPr lang="en-US" sz="1100" dirty="0"/>
          </a:p>
        </p:txBody>
      </p:sp>
      <p:sp>
        <p:nvSpPr>
          <p:cNvPr id="10" name="Text 8"/>
          <p:cNvSpPr/>
          <p:nvPr/>
        </p:nvSpPr>
        <p:spPr>
          <a:xfrm>
            <a:off x="9326880" y="5843016"/>
            <a:ext cx="219456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[Company Name]</a:t>
            </a:r>
            <a:endParaRPr lang="en-US" sz="1300" dirty="0"/>
          </a:p>
        </p:txBody>
      </p:sp>
      <p:sp>
        <p:nvSpPr>
          <p:cNvPr id="11" name="Text 9"/>
          <p:cNvSpPr/>
          <p:nvPr/>
        </p:nvSpPr>
        <p:spPr>
          <a:xfrm>
            <a:off x="7863840" y="6227064"/>
            <a:ext cx="1463040" cy="320040"/>
          </a:xfrm>
          <a:prstGeom prst="rect">
            <a:avLst/>
          </a:prstGeom>
          <a:noFill/>
          <a:ln/>
        </p:spPr>
        <p:txBody>
          <a:bodyPr wrap="square" lIns="0" tIns="0" rIns="0" bIns="0" rtlCol="0" anchor="ctr"/>
          <a:lstStyle/>
          <a:p>
            <a:pPr marL="0" indent="0">
              <a:buNone/>
            </a:pPr>
            <a:r>
              <a:rPr lang="en-US" sz="1100" kern="0" spc="100" dirty="0">
                <a:solidFill>
                  <a:srgbClr val="8FAFC8"/>
                </a:solidFill>
                <a:latin typeface="Calibri" pitchFamily="34" charset="0"/>
                <a:ea typeface="Calibri" pitchFamily="34" charset="-122"/>
                <a:cs typeface="Calibri" pitchFamily="34" charset="-120"/>
              </a:rPr>
              <a:t>DATE:</a:t>
            </a:r>
            <a:endParaRPr lang="en-US" sz="1100" dirty="0"/>
          </a:p>
        </p:txBody>
      </p:sp>
      <p:sp>
        <p:nvSpPr>
          <p:cNvPr id="12" name="Text 10"/>
          <p:cNvSpPr/>
          <p:nvPr/>
        </p:nvSpPr>
        <p:spPr>
          <a:xfrm>
            <a:off x="9326880" y="6227064"/>
            <a:ext cx="219456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[Presentation Date]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19" name="Shape 22">
            <a:extLst>
              <a:ext uri="{FF2B5EF4-FFF2-40B4-BE49-F238E27FC236}">
                <a16:creationId xmlns:a16="http://schemas.microsoft.com/office/drawing/2014/main" id="{C7E79E1E-FF94-2163-89F9-9796B61F366C}"/>
              </a:ext>
            </a:extLst>
          </p:cNvPr>
          <p:cNvSpPr/>
          <p:nvPr/>
        </p:nvSpPr>
        <p:spPr>
          <a:xfrm>
            <a:off x="4760597" y="1593820"/>
            <a:ext cx="6416289" cy="3229138"/>
          </a:xfrm>
          <a:prstGeom prst="rect">
            <a:avLst/>
          </a:prstGeom>
          <a:solidFill>
            <a:srgbClr val="0B1F3A"/>
          </a:solidFill>
          <a:ln/>
          <a:effectLst>
            <a:outerShdw blurRad="101600" dist="38100" dir="5400000" algn="bl" rotWithShape="0">
              <a:srgbClr val="0B1F3A">
                <a:alpha val="12000"/>
              </a:srgbClr>
            </a:outerShdw>
          </a:effectLst>
        </p:spPr>
        <p:txBody>
          <a:bodyPr/>
          <a:lstStyle/>
          <a:p>
            <a:endParaRPr lang="en-US"/>
          </a:p>
        </p:txBody>
      </p:sp>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What is an Insurance Reserve?</a:t>
            </a:r>
            <a:endParaRPr lang="en-US" sz="2800" dirty="0"/>
          </a:p>
        </p:txBody>
      </p:sp>
      <p:sp>
        <p:nvSpPr>
          <p:cNvPr id="5" name="Text 3"/>
          <p:cNvSpPr/>
          <p:nvPr/>
        </p:nvSpPr>
        <p:spPr>
          <a:xfrm>
            <a:off x="2222383" y="2430997"/>
            <a:ext cx="4055515" cy="448458"/>
          </a:xfrm>
          <a:prstGeom prst="rect">
            <a:avLst/>
          </a:prstGeom>
          <a:noFill/>
          <a:ln/>
        </p:spPr>
        <p:txBody>
          <a:bodyPr wrap="square" lIns="0" tIns="0" rIns="0" bIns="0" rtlCol="0" anchor="ctr"/>
          <a:lstStyle/>
          <a:p>
            <a:pPr marL="0" indent="0" algn="l">
              <a:buNone/>
            </a:pPr>
            <a:r>
              <a:rPr lang="en-US" sz="1300" dirty="0">
                <a:solidFill>
                  <a:srgbClr val="8C8C8C"/>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640080" y="2350008"/>
            <a:ext cx="3931920" cy="365760"/>
          </a:xfrm>
          <a:prstGeom prst="rect">
            <a:avLst/>
          </a:prstGeom>
          <a:noFill/>
          <a:ln/>
        </p:spPr>
        <p:txBody>
          <a:bodyPr wrap="square" lIns="0" tIns="0" rIns="0" bIns="0" rtlCol="0" anchor="ctr"/>
          <a:lstStyle/>
          <a:p>
            <a:pPr marL="0" indent="0" algn="l">
              <a:buNone/>
            </a:pPr>
            <a:endParaRPr lang="en-US" sz="1500" dirty="0"/>
          </a:p>
        </p:txBody>
      </p:sp>
      <p:sp>
        <p:nvSpPr>
          <p:cNvPr id="7" name="Text 5"/>
          <p:cNvSpPr/>
          <p:nvPr/>
        </p:nvSpPr>
        <p:spPr>
          <a:xfrm>
            <a:off x="2222383" y="3779336"/>
            <a:ext cx="435094" cy="400377"/>
          </a:xfrm>
          <a:prstGeom prst="rect">
            <a:avLst/>
          </a:prstGeom>
          <a:noFill/>
          <a:ln/>
        </p:spPr>
        <p:txBody>
          <a:bodyPr wrap="square" lIns="0" tIns="0" rIns="0" bIns="0" rtlCol="0" anchor="ctr"/>
          <a:lstStyle/>
          <a:p>
            <a:pPr marL="0" indent="0" algn="l">
              <a:buNone/>
            </a:pPr>
            <a:r>
              <a:rPr lang="en-US" sz="1300" dirty="0">
                <a:solidFill>
                  <a:srgbClr val="8C8C8C"/>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640080" y="3008376"/>
            <a:ext cx="3931920" cy="365760"/>
          </a:xfrm>
          <a:prstGeom prst="rect">
            <a:avLst/>
          </a:prstGeom>
          <a:noFill/>
          <a:ln/>
        </p:spPr>
        <p:txBody>
          <a:bodyPr wrap="square" lIns="0" tIns="0" rIns="0" bIns="0" rtlCol="0" anchor="ctr"/>
          <a:lstStyle/>
          <a:p>
            <a:pPr marL="0" indent="0" algn="l">
              <a:buNone/>
            </a:pPr>
            <a:endParaRPr lang="en-US" sz="1500" dirty="0"/>
          </a:p>
        </p:txBody>
      </p:sp>
      <p:sp>
        <p:nvSpPr>
          <p:cNvPr id="13" name="Text 11"/>
          <p:cNvSpPr/>
          <p:nvPr/>
        </p:nvSpPr>
        <p:spPr>
          <a:xfrm>
            <a:off x="5120640" y="2022532"/>
            <a:ext cx="6309360" cy="329184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Insurance companies collect premiums today.</a:t>
            </a:r>
            <a:endParaRPr lang="en-US" sz="1600" dirty="0">
              <a:solidFill>
                <a:schemeClr val="bg1"/>
              </a:solidFill>
            </a:endParaRPr>
          </a:p>
          <a:p>
            <a:pPr marL="203200" indent="-2032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Claims may occur many years later.</a:t>
            </a:r>
            <a:endParaRPr lang="en-US" sz="1600" dirty="0">
              <a:solidFill>
                <a:schemeClr val="bg1"/>
              </a:solidFill>
            </a:endParaRPr>
          </a:p>
          <a:p>
            <a:pPr marL="203200" indent="-2032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Companies must estimate future liabilities.</a:t>
            </a:r>
            <a:endParaRPr lang="en-US" sz="1600" dirty="0">
              <a:solidFill>
                <a:schemeClr val="bg1"/>
              </a:solidFill>
            </a:endParaRPr>
          </a:p>
          <a:p>
            <a:pPr marL="203200" indent="-2032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The estimated liability is called the insurance reserve.</a:t>
            </a:r>
            <a:endParaRPr lang="en-US" sz="1600" dirty="0">
              <a:solidFill>
                <a:schemeClr val="bg1"/>
              </a:solidFill>
            </a:endParaRPr>
          </a:p>
          <a:p>
            <a:pPr marL="203200" indent="-2032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Accurate reserve estimation is essential for pricing, solvency and risk management.</a:t>
            </a:r>
            <a:endParaRPr lang="en-US" sz="1600" dirty="0">
              <a:solidFill>
                <a:schemeClr val="bg1"/>
              </a:solidFill>
            </a:endParaRPr>
          </a:p>
        </p:txBody>
      </p:sp>
      <p:sp>
        <p:nvSpPr>
          <p:cNvPr id="14" name="Text 12"/>
          <p:cNvSpPr/>
          <p:nvPr/>
        </p:nvSpPr>
        <p:spPr>
          <a:xfrm>
            <a:off x="645485" y="5443293"/>
            <a:ext cx="54864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BUSINESS IMPORTANCE</a:t>
            </a:r>
            <a:endParaRPr lang="en-US" sz="1200" dirty="0"/>
          </a:p>
        </p:txBody>
      </p:sp>
      <p:sp>
        <p:nvSpPr>
          <p:cNvPr id="15" name="Text 13"/>
          <p:cNvSpPr/>
          <p:nvPr/>
        </p:nvSpPr>
        <p:spPr>
          <a:xfrm>
            <a:off x="640080" y="5833670"/>
            <a:ext cx="10881360" cy="457200"/>
          </a:xfrm>
          <a:prstGeom prst="rect">
            <a:avLst/>
          </a:prstGeom>
          <a:noFill/>
          <a:ln/>
        </p:spPr>
        <p:txBody>
          <a:bodyPr wrap="square" lIns="0" tIns="0" rIns="0" bIns="0" rtlCol="0" anchor="t"/>
          <a:lstStyle/>
          <a:p>
            <a:pPr marL="285750" indent="-285750" algn="l">
              <a:buFont typeface="Wingdings" panose="05000000000000000000" pitchFamily="2" charset="2"/>
              <a:buChar char="Ø"/>
            </a:pPr>
            <a:r>
              <a:rPr lang="en-US" sz="1600" dirty="0">
                <a:solidFill>
                  <a:srgbClr val="444444"/>
                </a:solidFill>
                <a:latin typeface="Calibri" pitchFamily="34" charset="0"/>
                <a:ea typeface="Calibri" pitchFamily="34" charset="-122"/>
                <a:cs typeface="Calibri" pitchFamily="34" charset="-120"/>
              </a:rPr>
              <a:t>Reserve estimation affects: Pricing, Capital Planning, Regulatory Compliance, Profitability.</a:t>
            </a:r>
            <a:endParaRPr lang="en-US" sz="1600" dirty="0"/>
          </a:p>
        </p:txBody>
      </p:sp>
      <p:sp>
        <p:nvSpPr>
          <p:cNvPr id="16" name="Text 14"/>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17" name="Text 15"/>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03</a:t>
            </a:r>
            <a:endParaRPr lang="en-US" sz="900" dirty="0"/>
          </a:p>
        </p:txBody>
      </p:sp>
      <p:sp>
        <p:nvSpPr>
          <p:cNvPr id="37" name="Shape 3">
            <a:extLst>
              <a:ext uri="{FF2B5EF4-FFF2-40B4-BE49-F238E27FC236}">
                <a16:creationId xmlns:a16="http://schemas.microsoft.com/office/drawing/2014/main" id="{9F57AEF0-FBBE-75FF-4FE4-3906A24D6C40}"/>
              </a:ext>
            </a:extLst>
          </p:cNvPr>
          <p:cNvSpPr/>
          <p:nvPr/>
        </p:nvSpPr>
        <p:spPr>
          <a:xfrm>
            <a:off x="1440934" y="1480022"/>
            <a:ext cx="1737360" cy="914400"/>
          </a:xfrm>
          <a:prstGeom prst="roundRect">
            <a:avLst>
              <a:gd name="adj" fmla="val 7000"/>
            </a:avLst>
          </a:prstGeom>
          <a:solidFill>
            <a:srgbClr val="F2F2F2"/>
          </a:solidFill>
          <a:ln w="12700">
            <a:solidFill>
              <a:srgbClr val="D9D9D9"/>
            </a:solidFill>
            <a:prstDash val="solid"/>
          </a:ln>
        </p:spPr>
        <p:txBody>
          <a:bodyPr/>
          <a:lstStyle/>
          <a:p>
            <a:endParaRPr lang="en-US" dirty="0"/>
          </a:p>
        </p:txBody>
      </p:sp>
      <p:sp>
        <p:nvSpPr>
          <p:cNvPr id="39" name="Text 4">
            <a:extLst>
              <a:ext uri="{FF2B5EF4-FFF2-40B4-BE49-F238E27FC236}">
                <a16:creationId xmlns:a16="http://schemas.microsoft.com/office/drawing/2014/main" id="{9D817398-21CA-A661-AD48-5C14430D2950}"/>
              </a:ext>
            </a:extLst>
          </p:cNvPr>
          <p:cNvSpPr/>
          <p:nvPr/>
        </p:nvSpPr>
        <p:spPr>
          <a:xfrm>
            <a:off x="1514086" y="1480022"/>
            <a:ext cx="1591056" cy="914400"/>
          </a:xfrm>
          <a:prstGeom prst="rect">
            <a:avLst/>
          </a:prstGeom>
          <a:noFill/>
          <a:ln/>
        </p:spPr>
        <p:txBody>
          <a:bodyPr wrap="square" lIns="0" tIns="0" rIns="0" bIns="0" rtlCol="0" anchor="ctr"/>
          <a:lstStyle/>
          <a:p>
            <a:pPr marL="0" indent="0" algn="ctr">
              <a:buNone/>
            </a:pPr>
            <a:r>
              <a:rPr lang="en-US" sz="1400" b="1" dirty="0">
                <a:solidFill>
                  <a:srgbClr val="1F4E79"/>
                </a:solidFill>
                <a:latin typeface="Calibri" pitchFamily="34" charset="0"/>
                <a:ea typeface="Calibri" pitchFamily="34" charset="-122"/>
                <a:cs typeface="Calibri" pitchFamily="34" charset="-120"/>
              </a:rPr>
              <a:t>Premium</a:t>
            </a:r>
            <a:endParaRPr lang="en-US" sz="1400" dirty="0"/>
          </a:p>
          <a:p>
            <a:pPr marL="0" indent="0" algn="ctr">
              <a:buNone/>
            </a:pPr>
            <a:r>
              <a:rPr lang="en-US" sz="1200" dirty="0">
                <a:solidFill>
                  <a:srgbClr val="595959"/>
                </a:solidFill>
                <a:latin typeface="Calibri" pitchFamily="34" charset="0"/>
                <a:ea typeface="Calibri" pitchFamily="34" charset="-122"/>
                <a:cs typeface="Calibri" pitchFamily="34" charset="-120"/>
              </a:rPr>
              <a:t>Collected today</a:t>
            </a:r>
            <a:endParaRPr lang="en-US" sz="1400" dirty="0"/>
          </a:p>
        </p:txBody>
      </p:sp>
      <p:sp>
        <p:nvSpPr>
          <p:cNvPr id="43" name="Shape 6">
            <a:extLst>
              <a:ext uri="{FF2B5EF4-FFF2-40B4-BE49-F238E27FC236}">
                <a16:creationId xmlns:a16="http://schemas.microsoft.com/office/drawing/2014/main" id="{6303036C-510C-415E-E5EC-10A0494E544D}"/>
              </a:ext>
            </a:extLst>
          </p:cNvPr>
          <p:cNvSpPr/>
          <p:nvPr/>
        </p:nvSpPr>
        <p:spPr>
          <a:xfrm>
            <a:off x="1426913" y="2879455"/>
            <a:ext cx="1737360" cy="914400"/>
          </a:xfrm>
          <a:prstGeom prst="roundRect">
            <a:avLst>
              <a:gd name="adj" fmla="val 7000"/>
            </a:avLst>
          </a:prstGeom>
          <a:solidFill>
            <a:srgbClr val="FDEBE0"/>
          </a:solidFill>
          <a:ln w="12700">
            <a:solidFill>
              <a:srgbClr val="D9D9D9"/>
            </a:solidFill>
            <a:prstDash val="solid"/>
          </a:ln>
        </p:spPr>
        <p:txBody>
          <a:bodyPr/>
          <a:lstStyle/>
          <a:p>
            <a:endParaRPr lang="en-US"/>
          </a:p>
        </p:txBody>
      </p:sp>
      <p:sp>
        <p:nvSpPr>
          <p:cNvPr id="45" name="Text 7">
            <a:extLst>
              <a:ext uri="{FF2B5EF4-FFF2-40B4-BE49-F238E27FC236}">
                <a16:creationId xmlns:a16="http://schemas.microsoft.com/office/drawing/2014/main" id="{7931F5F5-C947-14B8-470B-EA85DE8998E8}"/>
              </a:ext>
            </a:extLst>
          </p:cNvPr>
          <p:cNvSpPr/>
          <p:nvPr/>
        </p:nvSpPr>
        <p:spPr>
          <a:xfrm>
            <a:off x="1500065" y="2879455"/>
            <a:ext cx="1591056" cy="914400"/>
          </a:xfrm>
          <a:prstGeom prst="rect">
            <a:avLst/>
          </a:prstGeom>
          <a:noFill/>
          <a:ln/>
        </p:spPr>
        <p:txBody>
          <a:bodyPr wrap="square" lIns="0" tIns="0" rIns="0" bIns="0" rtlCol="0" anchor="ctr"/>
          <a:lstStyle/>
          <a:p>
            <a:pPr marL="0" indent="0" algn="ctr">
              <a:buNone/>
            </a:pPr>
            <a:r>
              <a:rPr lang="en-US" sz="1400" b="1" dirty="0">
                <a:solidFill>
                  <a:srgbClr val="E8743B"/>
                </a:solidFill>
                <a:latin typeface="Calibri" pitchFamily="34" charset="0"/>
                <a:ea typeface="Calibri" pitchFamily="34" charset="-122"/>
                <a:cs typeface="Calibri" pitchFamily="34" charset="-120"/>
              </a:rPr>
              <a:t>Reserve</a:t>
            </a:r>
            <a:endParaRPr lang="en-US" sz="1400" dirty="0"/>
          </a:p>
          <a:p>
            <a:pPr marL="0" indent="0" algn="ctr">
              <a:buNone/>
            </a:pPr>
            <a:r>
              <a:rPr lang="en-US" sz="1200" dirty="0">
                <a:solidFill>
                  <a:srgbClr val="595959"/>
                </a:solidFill>
                <a:latin typeface="Calibri" pitchFamily="34" charset="0"/>
                <a:ea typeface="Calibri" pitchFamily="34" charset="-122"/>
                <a:cs typeface="Calibri" pitchFamily="34" charset="-120"/>
              </a:rPr>
              <a:t>Held as liability</a:t>
            </a:r>
            <a:endParaRPr lang="en-US" sz="1400" dirty="0"/>
          </a:p>
        </p:txBody>
      </p:sp>
      <p:sp>
        <p:nvSpPr>
          <p:cNvPr id="49" name="Shape 9">
            <a:extLst>
              <a:ext uri="{FF2B5EF4-FFF2-40B4-BE49-F238E27FC236}">
                <a16:creationId xmlns:a16="http://schemas.microsoft.com/office/drawing/2014/main" id="{764D3472-7D34-51D5-CF8D-F74D2E32C1E9}"/>
              </a:ext>
            </a:extLst>
          </p:cNvPr>
          <p:cNvSpPr/>
          <p:nvPr/>
        </p:nvSpPr>
        <p:spPr>
          <a:xfrm>
            <a:off x="1440934" y="4233521"/>
            <a:ext cx="1737360" cy="914400"/>
          </a:xfrm>
          <a:prstGeom prst="roundRect">
            <a:avLst>
              <a:gd name="adj" fmla="val 7000"/>
            </a:avLst>
          </a:prstGeom>
          <a:solidFill>
            <a:srgbClr val="F2F2F2"/>
          </a:solidFill>
          <a:ln w="12700">
            <a:solidFill>
              <a:srgbClr val="D9D9D9"/>
            </a:solidFill>
            <a:prstDash val="solid"/>
          </a:ln>
        </p:spPr>
        <p:txBody>
          <a:bodyPr/>
          <a:lstStyle/>
          <a:p>
            <a:endParaRPr lang="en-US"/>
          </a:p>
        </p:txBody>
      </p:sp>
      <p:sp>
        <p:nvSpPr>
          <p:cNvPr id="51" name="Text 10">
            <a:extLst>
              <a:ext uri="{FF2B5EF4-FFF2-40B4-BE49-F238E27FC236}">
                <a16:creationId xmlns:a16="http://schemas.microsoft.com/office/drawing/2014/main" id="{DAC506F2-051A-EF0E-9AC0-DE3975893A46}"/>
              </a:ext>
            </a:extLst>
          </p:cNvPr>
          <p:cNvSpPr/>
          <p:nvPr/>
        </p:nvSpPr>
        <p:spPr>
          <a:xfrm>
            <a:off x="1514086" y="4233521"/>
            <a:ext cx="1591056" cy="914400"/>
          </a:xfrm>
          <a:prstGeom prst="rect">
            <a:avLst/>
          </a:prstGeom>
          <a:noFill/>
          <a:ln/>
        </p:spPr>
        <p:txBody>
          <a:bodyPr wrap="square" lIns="0" tIns="0" rIns="0" bIns="0" rtlCol="0" anchor="ctr"/>
          <a:lstStyle/>
          <a:p>
            <a:pPr marL="0" indent="0" algn="ctr">
              <a:buNone/>
            </a:pPr>
            <a:r>
              <a:rPr lang="en-US" sz="1400" b="1" dirty="0">
                <a:solidFill>
                  <a:srgbClr val="1F4E79"/>
                </a:solidFill>
                <a:latin typeface="Calibri" pitchFamily="34" charset="0"/>
                <a:ea typeface="Calibri" pitchFamily="34" charset="-122"/>
                <a:cs typeface="Calibri" pitchFamily="34" charset="-120"/>
              </a:rPr>
              <a:t>Claim</a:t>
            </a:r>
            <a:endParaRPr lang="en-US" sz="1400" dirty="0"/>
          </a:p>
          <a:p>
            <a:pPr marL="0" indent="0" algn="ctr">
              <a:buNone/>
            </a:pPr>
            <a:r>
              <a:rPr lang="en-US" sz="1200" dirty="0">
                <a:solidFill>
                  <a:srgbClr val="595959"/>
                </a:solidFill>
                <a:latin typeface="Calibri" pitchFamily="34" charset="0"/>
                <a:ea typeface="Calibri" pitchFamily="34" charset="-122"/>
                <a:cs typeface="Calibri" pitchFamily="34" charset="-120"/>
              </a:rPr>
              <a:t>Paid in future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16" name="Shape 22">
            <a:extLst>
              <a:ext uri="{FF2B5EF4-FFF2-40B4-BE49-F238E27FC236}">
                <a16:creationId xmlns:a16="http://schemas.microsoft.com/office/drawing/2014/main" id="{464994EE-D6DC-E652-803F-C8FBE1774157}"/>
              </a:ext>
            </a:extLst>
          </p:cNvPr>
          <p:cNvSpPr/>
          <p:nvPr/>
        </p:nvSpPr>
        <p:spPr>
          <a:xfrm>
            <a:off x="6073142" y="1809206"/>
            <a:ext cx="4754880" cy="2717074"/>
          </a:xfrm>
          <a:prstGeom prst="rect">
            <a:avLst/>
          </a:prstGeom>
          <a:solidFill>
            <a:srgbClr val="0B1F3A"/>
          </a:solidFill>
          <a:ln/>
          <a:effectLst>
            <a:outerShdw blurRad="101600" dist="38100" dir="5400000" algn="bl" rotWithShape="0">
              <a:srgbClr val="0B1F3A">
                <a:alpha val="12000"/>
              </a:srgbClr>
            </a:outerShdw>
          </a:effectLst>
        </p:spPr>
        <p:txBody>
          <a:bodyPr/>
          <a:lstStyle/>
          <a:p>
            <a:endParaRPr lang="en-US"/>
          </a:p>
        </p:txBody>
      </p:sp>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Current Challenges</a:t>
            </a:r>
            <a:endParaRPr lang="en-US" sz="2800" dirty="0"/>
          </a:p>
        </p:txBody>
      </p:sp>
      <p:sp>
        <p:nvSpPr>
          <p:cNvPr id="9" name="Text 7"/>
          <p:cNvSpPr/>
          <p:nvPr/>
        </p:nvSpPr>
        <p:spPr>
          <a:xfrm>
            <a:off x="6431280" y="1965960"/>
            <a:ext cx="4572000" cy="292608"/>
          </a:xfrm>
          <a:prstGeom prst="rect">
            <a:avLst/>
          </a:prstGeom>
          <a:noFill/>
          <a:ln/>
        </p:spPr>
        <p:txBody>
          <a:bodyPr wrap="square" lIns="0" tIns="0" rIns="0" bIns="0" rtlCol="0" anchor="ctr"/>
          <a:lstStyle/>
          <a:p>
            <a:pPr marL="0" indent="0">
              <a:buNone/>
            </a:pPr>
            <a:r>
              <a:rPr lang="en-US" sz="1200" b="1" kern="0" spc="150" dirty="0">
                <a:solidFill>
                  <a:schemeClr val="accent2"/>
                </a:solidFill>
                <a:latin typeface="Calibri" pitchFamily="34" charset="0"/>
                <a:ea typeface="Calibri" pitchFamily="34" charset="-122"/>
                <a:cs typeface="Calibri" pitchFamily="34" charset="-120"/>
              </a:rPr>
              <a:t>PROBLEMS</a:t>
            </a:r>
            <a:endParaRPr lang="en-US" sz="1200" dirty="0">
              <a:solidFill>
                <a:schemeClr val="accent2"/>
              </a:solidFill>
            </a:endParaRPr>
          </a:p>
        </p:txBody>
      </p:sp>
      <p:sp>
        <p:nvSpPr>
          <p:cNvPr id="10" name="Text 8"/>
          <p:cNvSpPr/>
          <p:nvPr/>
        </p:nvSpPr>
        <p:spPr>
          <a:xfrm>
            <a:off x="6431280" y="2331720"/>
            <a:ext cx="5760720" cy="292608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Solves one policy at a time</a:t>
            </a:r>
            <a:endParaRPr lang="en-US" sz="1600" dirty="0">
              <a:solidFill>
                <a:schemeClr val="bg1"/>
              </a:solidFill>
            </a:endParaRPr>
          </a:p>
          <a:p>
            <a:pPr marL="203200" indent="-2032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Computationally expensive</a:t>
            </a:r>
            <a:endParaRPr lang="en-US" sz="1600" dirty="0">
              <a:solidFill>
                <a:schemeClr val="bg1"/>
              </a:solidFill>
            </a:endParaRPr>
          </a:p>
          <a:p>
            <a:pPr marL="203200" indent="-2032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Slow for large portfolios</a:t>
            </a:r>
            <a:endParaRPr lang="en-US" sz="1600" dirty="0">
              <a:solidFill>
                <a:schemeClr val="bg1"/>
              </a:solidFill>
            </a:endParaRPr>
          </a:p>
          <a:p>
            <a:pPr marL="203200" indent="-2032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Repeated solving required for optimization</a:t>
            </a:r>
            <a:endParaRPr lang="en-US" sz="1600" dirty="0">
              <a:solidFill>
                <a:schemeClr val="bg1"/>
              </a:solidFill>
            </a:endParaRPr>
          </a:p>
          <a:p>
            <a:pPr marL="203200" indent="-2032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Stress testing becomes expensive</a:t>
            </a:r>
            <a:endParaRPr lang="en-US" sz="1600" dirty="0">
              <a:solidFill>
                <a:schemeClr val="bg1"/>
              </a:solidFill>
            </a:endParaRPr>
          </a:p>
        </p:txBody>
      </p:sp>
      <p:sp>
        <p:nvSpPr>
          <p:cNvPr id="11" name="Text 9"/>
          <p:cNvSpPr/>
          <p:nvPr/>
        </p:nvSpPr>
        <p:spPr>
          <a:xfrm>
            <a:off x="640080" y="5257800"/>
            <a:ext cx="36576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GOAL</a:t>
            </a:r>
            <a:endParaRPr lang="en-US" sz="1200" dirty="0"/>
          </a:p>
        </p:txBody>
      </p:sp>
      <p:sp>
        <p:nvSpPr>
          <p:cNvPr id="12" name="Text 10"/>
          <p:cNvSpPr/>
          <p:nvPr/>
        </p:nvSpPr>
        <p:spPr>
          <a:xfrm>
            <a:off x="640080" y="5577840"/>
            <a:ext cx="10515600" cy="548640"/>
          </a:xfrm>
          <a:prstGeom prst="rect">
            <a:avLst/>
          </a:prstGeom>
          <a:noFill/>
          <a:ln/>
        </p:spPr>
        <p:txBody>
          <a:bodyPr wrap="square" lIns="0" tIns="0" rIns="0" bIns="0" rtlCol="0" anchor="t"/>
          <a:lstStyle/>
          <a:p>
            <a:r>
              <a:rPr lang="en-US" sz="1600" dirty="0">
                <a:solidFill>
                  <a:srgbClr val="444444"/>
                </a:solidFill>
                <a:latin typeface="Calibri" pitchFamily="34" charset="0"/>
                <a:ea typeface="Calibri" pitchFamily="34" charset="-122"/>
                <a:cs typeface="Calibri" pitchFamily="34" charset="-120"/>
              </a:rPr>
              <a:t>Learn the reserve function using </a:t>
            </a:r>
            <a:r>
              <a:rPr lang="en-US" sz="1600" b="1" dirty="0"/>
              <a:t>Physics-Informed Neural Networks (PINNs)</a:t>
            </a:r>
            <a:r>
              <a:rPr lang="en-US" sz="1600" dirty="0"/>
              <a:t> and </a:t>
            </a:r>
            <a:r>
              <a:rPr lang="en-US" sz="1600" b="1" dirty="0"/>
              <a:t>Knowledge-Informed Neural Networks (KINNs)</a:t>
            </a:r>
            <a:r>
              <a:rPr lang="en-US" sz="1600" dirty="0"/>
              <a:t> for insurance reserve estimation, </a:t>
            </a:r>
            <a:r>
              <a:rPr lang="en-US" sz="1600" dirty="0">
                <a:solidFill>
                  <a:srgbClr val="444444"/>
                </a:solidFill>
                <a:latin typeface="Calibri" pitchFamily="34" charset="0"/>
                <a:ea typeface="Calibri" pitchFamily="34" charset="-122"/>
                <a:cs typeface="Calibri" pitchFamily="34" charset="-120"/>
              </a:rPr>
              <a:t>preserving actuarial principles.</a:t>
            </a:r>
            <a:endParaRPr lang="en-US" sz="1600" dirty="0"/>
          </a:p>
        </p:txBody>
      </p:sp>
      <p:sp>
        <p:nvSpPr>
          <p:cNvPr id="13" name="Text 11"/>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14" name="Text 12"/>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04</a:t>
            </a:r>
            <a:endParaRPr lang="en-US" sz="900" dirty="0"/>
          </a:p>
        </p:txBody>
      </p:sp>
      <p:sp>
        <p:nvSpPr>
          <p:cNvPr id="18" name="Shape 7">
            <a:extLst>
              <a:ext uri="{FF2B5EF4-FFF2-40B4-BE49-F238E27FC236}">
                <a16:creationId xmlns:a16="http://schemas.microsoft.com/office/drawing/2014/main" id="{D89CA8F9-ADE8-362D-AF36-9ABF2873BCBD}"/>
              </a:ext>
            </a:extLst>
          </p:cNvPr>
          <p:cNvSpPr/>
          <p:nvPr/>
        </p:nvSpPr>
        <p:spPr>
          <a:xfrm>
            <a:off x="853565" y="1961388"/>
            <a:ext cx="3602043" cy="1051560"/>
          </a:xfrm>
          <a:prstGeom prst="roundRect">
            <a:avLst>
              <a:gd name="adj" fmla="val 6087"/>
            </a:avLst>
          </a:prstGeom>
          <a:solidFill>
            <a:srgbClr val="F2F2F2"/>
          </a:solidFill>
          <a:ln w="12700">
            <a:solidFill>
              <a:srgbClr val="D9D9D9"/>
            </a:solidFill>
            <a:prstDash val="solid"/>
          </a:ln>
        </p:spPr>
        <p:txBody>
          <a:bodyPr/>
          <a:lstStyle/>
          <a:p>
            <a:endParaRPr lang="en-US"/>
          </a:p>
        </p:txBody>
      </p:sp>
      <p:sp>
        <p:nvSpPr>
          <p:cNvPr id="20" name="Text 8">
            <a:extLst>
              <a:ext uri="{FF2B5EF4-FFF2-40B4-BE49-F238E27FC236}">
                <a16:creationId xmlns:a16="http://schemas.microsoft.com/office/drawing/2014/main" id="{4E734AEB-5139-674C-0869-E1B66183F36C}"/>
              </a:ext>
            </a:extLst>
          </p:cNvPr>
          <p:cNvSpPr/>
          <p:nvPr/>
        </p:nvSpPr>
        <p:spPr>
          <a:xfrm>
            <a:off x="914400" y="1961388"/>
            <a:ext cx="3486778" cy="1051560"/>
          </a:xfrm>
          <a:prstGeom prst="rect">
            <a:avLst/>
          </a:prstGeom>
          <a:noFill/>
          <a:ln/>
        </p:spPr>
        <p:txBody>
          <a:bodyPr wrap="square" lIns="0" tIns="0" rIns="0" bIns="0" rtlCol="0" anchor="ctr"/>
          <a:lstStyle/>
          <a:p>
            <a:pPr marL="0" indent="0" algn="ctr">
              <a:buNone/>
            </a:pPr>
            <a:r>
              <a:rPr lang="en-US" sz="1500" b="1" dirty="0">
                <a:solidFill>
                  <a:srgbClr val="1F4E79"/>
                </a:solidFill>
                <a:latin typeface="Calibri" pitchFamily="34" charset="0"/>
                <a:ea typeface="Calibri" pitchFamily="34" charset="-122"/>
                <a:cs typeface="Calibri" pitchFamily="34" charset="-120"/>
              </a:rPr>
              <a:t>Classical Solver</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Solves ODEs per policy — Slow</a:t>
            </a:r>
            <a:endParaRPr lang="en-US" sz="1500" dirty="0"/>
          </a:p>
        </p:txBody>
      </p:sp>
      <p:sp>
        <p:nvSpPr>
          <p:cNvPr id="22" name="Text 9">
            <a:extLst>
              <a:ext uri="{FF2B5EF4-FFF2-40B4-BE49-F238E27FC236}">
                <a16:creationId xmlns:a16="http://schemas.microsoft.com/office/drawing/2014/main" id="{A349E313-3850-8396-E1C2-C9F49699514E}"/>
              </a:ext>
            </a:extLst>
          </p:cNvPr>
          <p:cNvSpPr/>
          <p:nvPr/>
        </p:nvSpPr>
        <p:spPr>
          <a:xfrm>
            <a:off x="2340195" y="3056382"/>
            <a:ext cx="288163" cy="502920"/>
          </a:xfrm>
          <a:prstGeom prst="rect">
            <a:avLst/>
          </a:prstGeom>
          <a:noFill/>
          <a:ln/>
        </p:spPr>
        <p:txBody>
          <a:bodyPr wrap="square" lIns="0" tIns="0" rIns="0" bIns="0" rtlCol="0" anchor="ctr"/>
          <a:lstStyle/>
          <a:p>
            <a:pPr marL="0" indent="0" algn="ctr">
              <a:buNone/>
            </a:pPr>
            <a:r>
              <a:rPr lang="en-US" sz="1800" dirty="0">
                <a:solidFill>
                  <a:srgbClr val="8C8C8C"/>
                </a:solidFill>
                <a:latin typeface="Calibri" pitchFamily="34" charset="0"/>
                <a:ea typeface="Calibri" pitchFamily="34" charset="-122"/>
                <a:cs typeface="Calibri" pitchFamily="34" charset="-120"/>
              </a:rPr>
              <a:t>↓</a:t>
            </a:r>
            <a:endParaRPr lang="en-US" sz="1800" dirty="0"/>
          </a:p>
        </p:txBody>
      </p:sp>
      <p:sp>
        <p:nvSpPr>
          <p:cNvPr id="24" name="Shape 10">
            <a:extLst>
              <a:ext uri="{FF2B5EF4-FFF2-40B4-BE49-F238E27FC236}">
                <a16:creationId xmlns:a16="http://schemas.microsoft.com/office/drawing/2014/main" id="{1AF67123-3DA8-5B0C-7F06-C93D332735E5}"/>
              </a:ext>
            </a:extLst>
          </p:cNvPr>
          <p:cNvSpPr/>
          <p:nvPr/>
        </p:nvSpPr>
        <p:spPr>
          <a:xfrm>
            <a:off x="853565" y="3607308"/>
            <a:ext cx="3602043" cy="1051560"/>
          </a:xfrm>
          <a:prstGeom prst="roundRect">
            <a:avLst>
              <a:gd name="adj" fmla="val 6087"/>
            </a:avLst>
          </a:prstGeom>
          <a:solidFill>
            <a:srgbClr val="FDEBE0"/>
          </a:solidFill>
          <a:ln w="12700">
            <a:solidFill>
              <a:srgbClr val="D9D9D9"/>
            </a:solidFill>
            <a:prstDash val="solid"/>
          </a:ln>
        </p:spPr>
        <p:txBody>
          <a:bodyPr/>
          <a:lstStyle/>
          <a:p>
            <a:endParaRPr lang="en-US"/>
          </a:p>
        </p:txBody>
      </p:sp>
      <p:sp>
        <p:nvSpPr>
          <p:cNvPr id="26" name="Text 11">
            <a:extLst>
              <a:ext uri="{FF2B5EF4-FFF2-40B4-BE49-F238E27FC236}">
                <a16:creationId xmlns:a16="http://schemas.microsoft.com/office/drawing/2014/main" id="{8DD7DAA2-E5E5-350E-1C7E-1A75FAE45DDA}"/>
              </a:ext>
            </a:extLst>
          </p:cNvPr>
          <p:cNvSpPr/>
          <p:nvPr/>
        </p:nvSpPr>
        <p:spPr>
          <a:xfrm>
            <a:off x="914400" y="3607308"/>
            <a:ext cx="3486778" cy="1051560"/>
          </a:xfrm>
          <a:prstGeom prst="rect">
            <a:avLst/>
          </a:prstGeom>
          <a:noFill/>
          <a:ln/>
        </p:spPr>
        <p:txBody>
          <a:bodyPr wrap="square" lIns="0" tIns="0" rIns="0" bIns="0" rtlCol="0" anchor="ctr"/>
          <a:lstStyle/>
          <a:p>
            <a:pPr marL="0" indent="0" algn="ctr">
              <a:buNone/>
            </a:pPr>
            <a:r>
              <a:rPr lang="en-US" sz="1500" b="1" dirty="0">
                <a:solidFill>
                  <a:srgbClr val="E8743B"/>
                </a:solidFill>
                <a:latin typeface="Calibri" pitchFamily="34" charset="0"/>
                <a:ea typeface="Calibri" pitchFamily="34" charset="-122"/>
                <a:cs typeface="Calibri" pitchFamily="34" charset="-120"/>
              </a:rPr>
              <a:t>Physics-Informed NN</a:t>
            </a:r>
            <a:endParaRPr lang="en-US" sz="1500" dirty="0"/>
          </a:p>
          <a:p>
            <a:pPr marL="0" indent="0" algn="ctr">
              <a:buNone/>
            </a:pPr>
            <a:r>
              <a:rPr lang="en-US" sz="1300" dirty="0">
                <a:solidFill>
                  <a:srgbClr val="595959"/>
                </a:solidFill>
                <a:latin typeface="Calibri" pitchFamily="34" charset="0"/>
                <a:ea typeface="Calibri" pitchFamily="34" charset="-122"/>
                <a:cs typeface="Calibri" pitchFamily="34" charset="-120"/>
              </a:rPr>
              <a:t>Learns reserve function — Fast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EAF1F8"/>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Why Physics-Informed Neural Networks?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743300095"/>
              </p:ext>
            </p:extLst>
          </p:nvPr>
        </p:nvGraphicFramePr>
        <p:xfrm>
          <a:off x="640080" y="1645920"/>
          <a:ext cx="10881360" cy="3108960"/>
        </p:xfrm>
        <a:graphic>
          <a:graphicData uri="http://schemas.openxmlformats.org/drawingml/2006/table">
            <a:tbl>
              <a:tblPr/>
              <a:tblGrid>
                <a:gridCol w="544068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621792">
                <a:tc>
                  <a:txBody>
                    <a:bodyPr/>
                    <a:lstStyle/>
                    <a:p>
                      <a:pPr marL="0" indent="0">
                        <a:buNone/>
                      </a:pPr>
                      <a:r>
                        <a:rPr lang="en-US" sz="1500" b="1" dirty="0">
                          <a:solidFill>
                            <a:srgbClr val="FFFFFF"/>
                          </a:solidFill>
                        </a:rPr>
                        <a:t>Traditional Neural Network</a:t>
                      </a:r>
                      <a:endParaRPr lang="en-US" sz="150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1F4E79"/>
                    </a:solidFill>
                  </a:tcPr>
                </a:tc>
                <a:tc>
                  <a:txBody>
                    <a:bodyPr/>
                    <a:lstStyle/>
                    <a:p>
                      <a:pPr marL="0" indent="0">
                        <a:buNone/>
                      </a:pPr>
                      <a:r>
                        <a:rPr lang="en-US" sz="1500" b="1" dirty="0">
                          <a:solidFill>
                            <a:srgbClr val="FFFFFF"/>
                          </a:solidFill>
                        </a:rPr>
                        <a:t>PINN</a:t>
                      </a:r>
                      <a:endParaRPr lang="en-US" sz="150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621792">
                <a:tc>
                  <a:txBody>
                    <a:bodyPr/>
                    <a:lstStyle/>
                    <a:p>
                      <a:pPr marL="0" indent="0">
                        <a:buNone/>
                      </a:pPr>
                      <a:r>
                        <a:rPr lang="en-US" sz="1450" dirty="0">
                          <a:solidFill>
                            <a:srgbClr val="444444"/>
                          </a:solidFill>
                        </a:rPr>
                        <a:t>Learns only from data</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50" dirty="0"/>
                        <a:t>Learns from data + domain knowledge + physics</a:t>
                      </a:r>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450" dirty="0">
                          <a:solidFill>
                            <a:srgbClr val="444444"/>
                          </a:solidFill>
                        </a:rPr>
                        <a:t>Needs large datasets</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tc>
                  <a:txBody>
                    <a:bodyPr/>
                    <a:lstStyle/>
                    <a:p>
                      <a:pPr marL="0" indent="0">
                        <a:buNone/>
                      </a:pPr>
                      <a:r>
                        <a:rPr lang="en-US" sz="1450" dirty="0">
                          <a:solidFill>
                            <a:srgbClr val="444444"/>
                          </a:solidFill>
                        </a:rPr>
                        <a:t>Works with smaller datasets</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extLst>
                  <a:ext uri="{0D108BD9-81ED-4DB2-BD59-A6C34878D82A}">
                    <a16:rowId xmlns:a16="http://schemas.microsoft.com/office/drawing/2014/main" val="10002"/>
                  </a:ext>
                </a:extLst>
              </a:tr>
              <a:tr h="621792">
                <a:tc>
                  <a:txBody>
                    <a:bodyPr/>
                    <a:lstStyle/>
                    <a:p>
                      <a:pPr marL="0" indent="0">
                        <a:buNone/>
                      </a:pPr>
                      <a:r>
                        <a:rPr lang="en-US" sz="1450" dirty="0">
                          <a:solidFill>
                            <a:srgbClr val="444444"/>
                          </a:solidFill>
                        </a:rPr>
                        <a:t>May violate physics</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50" dirty="0">
                          <a:solidFill>
                            <a:srgbClr val="444444"/>
                          </a:solidFill>
                        </a:rPr>
                        <a:t>Physics + actuarial constraints enforced</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buNone/>
                      </a:pPr>
                      <a:r>
                        <a:rPr lang="en-US" sz="1450" dirty="0">
                          <a:solidFill>
                            <a:srgbClr val="444444"/>
                          </a:solidFill>
                        </a:rPr>
                        <a:t>Black box</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tc>
                  <a:txBody>
                    <a:bodyPr/>
                    <a:lstStyle/>
                    <a:p>
                      <a:pPr marL="0" indent="0">
                        <a:buNone/>
                      </a:pPr>
                      <a:r>
                        <a:rPr lang="en-US" sz="1450" dirty="0">
                          <a:solidFill>
                            <a:srgbClr val="444444"/>
                          </a:solidFill>
                        </a:rPr>
                        <a:t>More interpretable</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extLst>
                  <a:ext uri="{0D108BD9-81ED-4DB2-BD59-A6C34878D82A}">
                    <a16:rowId xmlns:a16="http://schemas.microsoft.com/office/drawing/2014/main" val="10004"/>
                  </a:ext>
                </a:extLst>
              </a:tr>
            </a:tbl>
          </a:graphicData>
        </a:graphic>
      </p:graphicFrame>
      <p:sp>
        <p:nvSpPr>
          <p:cNvPr id="5" name="Text 2"/>
          <p:cNvSpPr/>
          <p:nvPr/>
        </p:nvSpPr>
        <p:spPr>
          <a:xfrm>
            <a:off x="640080" y="5120640"/>
            <a:ext cx="45720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PROJECT EVOLUTION</a:t>
            </a:r>
            <a:endParaRPr lang="en-US" sz="1200" dirty="0"/>
          </a:p>
        </p:txBody>
      </p:sp>
      <p:sp>
        <p:nvSpPr>
          <p:cNvPr id="4" name="Text 3"/>
          <p:cNvSpPr/>
          <p:nvPr/>
        </p:nvSpPr>
        <p:spPr>
          <a:xfrm>
            <a:off x="640080" y="5504688"/>
            <a:ext cx="10515600" cy="548640"/>
          </a:xfrm>
          <a:prstGeom prst="rect">
            <a:avLst/>
          </a:prstGeom>
          <a:noFill/>
          <a:ln/>
        </p:spPr>
        <p:txBody>
          <a:bodyPr wrap="square" lIns="0" tIns="0" rIns="0" bIns="0" rtlCol="0" anchor="t"/>
          <a:lstStyle/>
          <a:p>
            <a:r>
              <a:rPr lang="en-US" sz="1600"/>
              <a:t>The platform was initially developed using PINNs and later extended to support KINNs, allowing domain knowledge and actuarial constraints to be incorporated more explicitly.</a:t>
            </a:r>
            <a:endParaRPr lang="en-US" sz="1600" dirty="0"/>
          </a:p>
        </p:txBody>
      </p:sp>
      <p:sp>
        <p:nvSpPr>
          <p:cNvPr id="7" name="Text 4"/>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8" name="Text 5"/>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Overall Project Pipeline</a:t>
            </a:r>
            <a:endParaRPr lang="en-US" sz="2800" dirty="0"/>
          </a:p>
        </p:txBody>
      </p:sp>
      <p:sp>
        <p:nvSpPr>
          <p:cNvPr id="28" name="Text 26"/>
          <p:cNvSpPr/>
          <p:nvPr/>
        </p:nvSpPr>
        <p:spPr>
          <a:xfrm>
            <a:off x="655320" y="4828032"/>
            <a:ext cx="10881360" cy="457200"/>
          </a:xfrm>
          <a:prstGeom prst="rect">
            <a:avLst/>
          </a:prstGeom>
          <a:noFill/>
          <a:ln/>
        </p:spPr>
        <p:txBody>
          <a:bodyPr wrap="square" lIns="0" tIns="0" rIns="0" bIns="0" rtlCol="0" anchor="ctr"/>
          <a:lstStyle/>
          <a:p>
            <a:pPr marL="0" indent="0">
              <a:buNone/>
            </a:pPr>
            <a:r>
              <a:rPr lang="en-US" sz="1600" i="1" dirty="0">
                <a:solidFill>
                  <a:srgbClr val="595959"/>
                </a:solidFill>
                <a:latin typeface="Calibri" pitchFamily="34" charset="0"/>
                <a:ea typeface="Calibri" pitchFamily="34" charset="-122"/>
                <a:cs typeface="Calibri" pitchFamily="34" charset="-120"/>
              </a:rPr>
              <a:t>Synthetic data and classical physics train the network; the trained model then feeds evaluation, sensitivity and optimization.</a:t>
            </a:r>
            <a:endParaRPr lang="en-US" sz="1600" dirty="0"/>
          </a:p>
        </p:txBody>
      </p:sp>
      <p:sp>
        <p:nvSpPr>
          <p:cNvPr id="29" name="Text 27"/>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30" name="Text 28"/>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06</a:t>
            </a:r>
            <a:endParaRPr lang="en-US" sz="900" dirty="0"/>
          </a:p>
        </p:txBody>
      </p:sp>
      <p:sp>
        <p:nvSpPr>
          <p:cNvPr id="98" name="Shape 2">
            <a:extLst>
              <a:ext uri="{FF2B5EF4-FFF2-40B4-BE49-F238E27FC236}">
                <a16:creationId xmlns:a16="http://schemas.microsoft.com/office/drawing/2014/main" id="{B68FBA9D-E2B9-60B4-B6D2-4632BE672D47}"/>
              </a:ext>
            </a:extLst>
          </p:cNvPr>
          <p:cNvSpPr/>
          <p:nvPr/>
        </p:nvSpPr>
        <p:spPr>
          <a:xfrm>
            <a:off x="557784" y="2258567"/>
            <a:ext cx="1691640" cy="777240"/>
          </a:xfrm>
          <a:prstGeom prst="roundRect">
            <a:avLst>
              <a:gd name="adj" fmla="val 7059"/>
            </a:avLst>
          </a:prstGeom>
          <a:solidFill>
            <a:srgbClr val="163A57"/>
          </a:solidFill>
          <a:ln w="12700">
            <a:solidFill>
              <a:srgbClr val="5F87A8"/>
            </a:solidFill>
            <a:prstDash val="solid"/>
          </a:ln>
        </p:spPr>
        <p:txBody>
          <a:bodyPr/>
          <a:lstStyle/>
          <a:p>
            <a:endParaRPr lang="en-US" dirty="0">
              <a:highlight>
                <a:srgbClr val="C0C0C0"/>
              </a:highlight>
            </a:endParaRPr>
          </a:p>
        </p:txBody>
      </p:sp>
      <p:sp>
        <p:nvSpPr>
          <p:cNvPr id="100" name="Text 3">
            <a:extLst>
              <a:ext uri="{FF2B5EF4-FFF2-40B4-BE49-F238E27FC236}">
                <a16:creationId xmlns:a16="http://schemas.microsoft.com/office/drawing/2014/main" id="{F814DDFF-60D1-6CB2-87D6-C5759277A451}"/>
              </a:ext>
            </a:extLst>
          </p:cNvPr>
          <p:cNvSpPr/>
          <p:nvPr/>
        </p:nvSpPr>
        <p:spPr>
          <a:xfrm>
            <a:off x="694944" y="2240280"/>
            <a:ext cx="1581912"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Policy Generator</a:t>
            </a:r>
            <a:endParaRPr lang="en-US" sz="1150" dirty="0"/>
          </a:p>
        </p:txBody>
      </p:sp>
      <p:sp>
        <p:nvSpPr>
          <p:cNvPr id="102" name="Text 4">
            <a:extLst>
              <a:ext uri="{FF2B5EF4-FFF2-40B4-BE49-F238E27FC236}">
                <a16:creationId xmlns:a16="http://schemas.microsoft.com/office/drawing/2014/main" id="{01D7F499-79EB-FD12-9CC7-34734C5633FD}"/>
              </a:ext>
            </a:extLst>
          </p:cNvPr>
          <p:cNvSpPr/>
          <p:nvPr/>
        </p:nvSpPr>
        <p:spPr>
          <a:xfrm>
            <a:off x="2331720" y="2240280"/>
            <a:ext cx="137160" cy="777240"/>
          </a:xfrm>
          <a:prstGeom prst="rect">
            <a:avLst/>
          </a:prstGeom>
          <a:noFill/>
          <a:ln/>
        </p:spPr>
        <p:txBody>
          <a:bodyPr wrap="square" lIns="0" tIns="0" rIns="0" bIns="0" rtlCol="0" anchor="ctr"/>
          <a:lstStyle/>
          <a:p>
            <a:pPr marL="0" indent="0" algn="ctr">
              <a:buNone/>
            </a:pPr>
            <a:r>
              <a:rPr lang="en-US" sz="1400" dirty="0">
                <a:solidFill>
                  <a:srgbClr val="CFE0EE"/>
                </a:solidFill>
                <a:latin typeface="Calibri" pitchFamily="34" charset="0"/>
                <a:ea typeface="Calibri" pitchFamily="34" charset="-122"/>
                <a:cs typeface="Calibri" pitchFamily="34" charset="-120"/>
              </a:rPr>
              <a:t>→</a:t>
            </a:r>
            <a:endParaRPr lang="en-US" sz="1400" dirty="0"/>
          </a:p>
        </p:txBody>
      </p:sp>
      <p:sp>
        <p:nvSpPr>
          <p:cNvPr id="104" name="Shape 5">
            <a:extLst>
              <a:ext uri="{FF2B5EF4-FFF2-40B4-BE49-F238E27FC236}">
                <a16:creationId xmlns:a16="http://schemas.microsoft.com/office/drawing/2014/main" id="{7369CB5F-B8D6-1D4B-665F-0FECE9CFC7F9}"/>
              </a:ext>
            </a:extLst>
          </p:cNvPr>
          <p:cNvSpPr/>
          <p:nvPr/>
        </p:nvSpPr>
        <p:spPr>
          <a:xfrm>
            <a:off x="2468880" y="2240280"/>
            <a:ext cx="1691640" cy="777240"/>
          </a:xfrm>
          <a:prstGeom prst="roundRect">
            <a:avLst>
              <a:gd name="adj" fmla="val 7059"/>
            </a:avLst>
          </a:prstGeom>
          <a:solidFill>
            <a:srgbClr val="163A57"/>
          </a:solidFill>
          <a:ln w="12700">
            <a:solidFill>
              <a:srgbClr val="5F87A8"/>
            </a:solidFill>
            <a:prstDash val="solid"/>
          </a:ln>
        </p:spPr>
        <p:txBody>
          <a:bodyPr/>
          <a:lstStyle/>
          <a:p>
            <a:endParaRPr lang="en-US"/>
          </a:p>
        </p:txBody>
      </p:sp>
      <p:sp>
        <p:nvSpPr>
          <p:cNvPr id="106" name="Text 6">
            <a:extLst>
              <a:ext uri="{FF2B5EF4-FFF2-40B4-BE49-F238E27FC236}">
                <a16:creationId xmlns:a16="http://schemas.microsoft.com/office/drawing/2014/main" id="{94207010-58E5-CC73-CF61-BB4AA8957584}"/>
              </a:ext>
            </a:extLst>
          </p:cNvPr>
          <p:cNvSpPr/>
          <p:nvPr/>
        </p:nvSpPr>
        <p:spPr>
          <a:xfrm>
            <a:off x="2523744" y="2240280"/>
            <a:ext cx="1581912"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Classical Thiele Solver</a:t>
            </a:r>
            <a:endParaRPr lang="en-US" sz="1150" dirty="0"/>
          </a:p>
        </p:txBody>
      </p:sp>
      <p:sp>
        <p:nvSpPr>
          <p:cNvPr id="108" name="Text 7">
            <a:extLst>
              <a:ext uri="{FF2B5EF4-FFF2-40B4-BE49-F238E27FC236}">
                <a16:creationId xmlns:a16="http://schemas.microsoft.com/office/drawing/2014/main" id="{5C3177C8-851A-2F87-B02C-5EDBA5A746DA}"/>
              </a:ext>
            </a:extLst>
          </p:cNvPr>
          <p:cNvSpPr/>
          <p:nvPr/>
        </p:nvSpPr>
        <p:spPr>
          <a:xfrm>
            <a:off x="4160520" y="2240280"/>
            <a:ext cx="137160" cy="777240"/>
          </a:xfrm>
          <a:prstGeom prst="rect">
            <a:avLst/>
          </a:prstGeom>
          <a:noFill/>
          <a:ln/>
        </p:spPr>
        <p:txBody>
          <a:bodyPr wrap="square" lIns="0" tIns="0" rIns="0" bIns="0" rtlCol="0" anchor="ctr"/>
          <a:lstStyle/>
          <a:p>
            <a:pPr marL="0" indent="0" algn="ctr">
              <a:buNone/>
            </a:pPr>
            <a:r>
              <a:rPr lang="en-US" sz="1400" dirty="0">
                <a:solidFill>
                  <a:srgbClr val="CFE0EE"/>
                </a:solidFill>
                <a:latin typeface="Calibri" pitchFamily="34" charset="0"/>
                <a:ea typeface="Calibri" pitchFamily="34" charset="-122"/>
                <a:cs typeface="Calibri" pitchFamily="34" charset="-120"/>
              </a:rPr>
              <a:t>→</a:t>
            </a:r>
            <a:endParaRPr lang="en-US" sz="1400" dirty="0"/>
          </a:p>
        </p:txBody>
      </p:sp>
      <p:sp>
        <p:nvSpPr>
          <p:cNvPr id="110" name="Shape 8">
            <a:extLst>
              <a:ext uri="{FF2B5EF4-FFF2-40B4-BE49-F238E27FC236}">
                <a16:creationId xmlns:a16="http://schemas.microsoft.com/office/drawing/2014/main" id="{C88F042E-28F4-F147-2B79-E17C8C6BDB66}"/>
              </a:ext>
            </a:extLst>
          </p:cNvPr>
          <p:cNvSpPr/>
          <p:nvPr/>
        </p:nvSpPr>
        <p:spPr>
          <a:xfrm>
            <a:off x="4297680" y="2240280"/>
            <a:ext cx="1691640" cy="777240"/>
          </a:xfrm>
          <a:prstGeom prst="roundRect">
            <a:avLst>
              <a:gd name="adj" fmla="val 7059"/>
            </a:avLst>
          </a:prstGeom>
          <a:solidFill>
            <a:srgbClr val="163A57"/>
          </a:solidFill>
          <a:ln w="12700">
            <a:solidFill>
              <a:srgbClr val="5F87A8"/>
            </a:solidFill>
            <a:prstDash val="solid"/>
          </a:ln>
        </p:spPr>
        <p:txBody>
          <a:bodyPr/>
          <a:lstStyle/>
          <a:p>
            <a:endParaRPr lang="en-US"/>
          </a:p>
        </p:txBody>
      </p:sp>
      <p:sp>
        <p:nvSpPr>
          <p:cNvPr id="112" name="Text 9">
            <a:extLst>
              <a:ext uri="{FF2B5EF4-FFF2-40B4-BE49-F238E27FC236}">
                <a16:creationId xmlns:a16="http://schemas.microsoft.com/office/drawing/2014/main" id="{1E5DE2E4-B0FB-131C-8510-DF7A9A45D3E0}"/>
              </a:ext>
            </a:extLst>
          </p:cNvPr>
          <p:cNvSpPr/>
          <p:nvPr/>
        </p:nvSpPr>
        <p:spPr>
          <a:xfrm>
            <a:off x="4352544" y="2240280"/>
            <a:ext cx="1581912"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Reserve Dataset</a:t>
            </a:r>
            <a:endParaRPr lang="en-US" sz="1150" dirty="0"/>
          </a:p>
        </p:txBody>
      </p:sp>
      <p:sp>
        <p:nvSpPr>
          <p:cNvPr id="114" name="Text 10">
            <a:extLst>
              <a:ext uri="{FF2B5EF4-FFF2-40B4-BE49-F238E27FC236}">
                <a16:creationId xmlns:a16="http://schemas.microsoft.com/office/drawing/2014/main" id="{B4112F1D-C872-85A4-8A85-FDD0433FA7C1}"/>
              </a:ext>
            </a:extLst>
          </p:cNvPr>
          <p:cNvSpPr/>
          <p:nvPr/>
        </p:nvSpPr>
        <p:spPr>
          <a:xfrm>
            <a:off x="5989320" y="2240280"/>
            <a:ext cx="137160" cy="777240"/>
          </a:xfrm>
          <a:prstGeom prst="rect">
            <a:avLst/>
          </a:prstGeom>
          <a:noFill/>
          <a:ln/>
        </p:spPr>
        <p:txBody>
          <a:bodyPr wrap="square" lIns="0" tIns="0" rIns="0" bIns="0" rtlCol="0" anchor="ctr"/>
          <a:lstStyle/>
          <a:p>
            <a:pPr marL="0" indent="0" algn="ctr">
              <a:buNone/>
            </a:pPr>
            <a:r>
              <a:rPr lang="en-US" sz="1400" dirty="0">
                <a:solidFill>
                  <a:srgbClr val="CFE0EE"/>
                </a:solidFill>
                <a:latin typeface="Calibri" pitchFamily="34" charset="0"/>
                <a:ea typeface="Calibri" pitchFamily="34" charset="-122"/>
                <a:cs typeface="Calibri" pitchFamily="34" charset="-120"/>
              </a:rPr>
              <a:t>→</a:t>
            </a:r>
            <a:endParaRPr lang="en-US" sz="1400" dirty="0"/>
          </a:p>
        </p:txBody>
      </p:sp>
      <p:sp>
        <p:nvSpPr>
          <p:cNvPr id="116" name="Shape 11">
            <a:extLst>
              <a:ext uri="{FF2B5EF4-FFF2-40B4-BE49-F238E27FC236}">
                <a16:creationId xmlns:a16="http://schemas.microsoft.com/office/drawing/2014/main" id="{39CDA676-B0CB-39F8-273F-90D01CB097DE}"/>
              </a:ext>
            </a:extLst>
          </p:cNvPr>
          <p:cNvSpPr/>
          <p:nvPr/>
        </p:nvSpPr>
        <p:spPr>
          <a:xfrm>
            <a:off x="6126480" y="2240280"/>
            <a:ext cx="1691640" cy="777240"/>
          </a:xfrm>
          <a:prstGeom prst="roundRect">
            <a:avLst>
              <a:gd name="adj" fmla="val 7059"/>
            </a:avLst>
          </a:prstGeom>
          <a:solidFill>
            <a:srgbClr val="163A57"/>
          </a:solidFill>
          <a:ln w="12700">
            <a:solidFill>
              <a:srgbClr val="5F87A8"/>
            </a:solidFill>
            <a:prstDash val="solid"/>
          </a:ln>
        </p:spPr>
        <p:txBody>
          <a:bodyPr/>
          <a:lstStyle/>
          <a:p>
            <a:endParaRPr lang="en-US"/>
          </a:p>
        </p:txBody>
      </p:sp>
      <p:sp>
        <p:nvSpPr>
          <p:cNvPr id="118" name="Text 12">
            <a:extLst>
              <a:ext uri="{FF2B5EF4-FFF2-40B4-BE49-F238E27FC236}">
                <a16:creationId xmlns:a16="http://schemas.microsoft.com/office/drawing/2014/main" id="{3EFD96C0-B346-D49C-F14F-4F8BF81B3B73}"/>
              </a:ext>
            </a:extLst>
          </p:cNvPr>
          <p:cNvSpPr/>
          <p:nvPr/>
        </p:nvSpPr>
        <p:spPr>
          <a:xfrm>
            <a:off x="6181344" y="2240280"/>
            <a:ext cx="1581912"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PINN Training</a:t>
            </a:r>
            <a:endParaRPr lang="en-US" sz="1150" dirty="0"/>
          </a:p>
        </p:txBody>
      </p:sp>
      <p:sp>
        <p:nvSpPr>
          <p:cNvPr id="120" name="Text 13">
            <a:extLst>
              <a:ext uri="{FF2B5EF4-FFF2-40B4-BE49-F238E27FC236}">
                <a16:creationId xmlns:a16="http://schemas.microsoft.com/office/drawing/2014/main" id="{EABA9FE2-2CAC-185D-6E11-205B2E797727}"/>
              </a:ext>
            </a:extLst>
          </p:cNvPr>
          <p:cNvSpPr/>
          <p:nvPr/>
        </p:nvSpPr>
        <p:spPr>
          <a:xfrm>
            <a:off x="7818120" y="2240280"/>
            <a:ext cx="137160" cy="777240"/>
          </a:xfrm>
          <a:prstGeom prst="rect">
            <a:avLst/>
          </a:prstGeom>
          <a:noFill/>
          <a:ln/>
        </p:spPr>
        <p:txBody>
          <a:bodyPr wrap="square" lIns="0" tIns="0" rIns="0" bIns="0" rtlCol="0" anchor="ctr"/>
          <a:lstStyle/>
          <a:p>
            <a:pPr marL="0" indent="0" algn="ctr">
              <a:buNone/>
            </a:pPr>
            <a:r>
              <a:rPr lang="en-US" sz="1400" dirty="0">
                <a:solidFill>
                  <a:srgbClr val="CFE0EE"/>
                </a:solidFill>
                <a:latin typeface="Calibri" pitchFamily="34" charset="0"/>
                <a:ea typeface="Calibri" pitchFamily="34" charset="-122"/>
                <a:cs typeface="Calibri" pitchFamily="34" charset="-120"/>
              </a:rPr>
              <a:t>→</a:t>
            </a:r>
            <a:endParaRPr lang="en-US" sz="1400" dirty="0"/>
          </a:p>
        </p:txBody>
      </p:sp>
      <p:sp>
        <p:nvSpPr>
          <p:cNvPr id="122" name="Shape 14">
            <a:extLst>
              <a:ext uri="{FF2B5EF4-FFF2-40B4-BE49-F238E27FC236}">
                <a16:creationId xmlns:a16="http://schemas.microsoft.com/office/drawing/2014/main" id="{F904D01D-07EA-2741-8FE0-9DA8F71C17EA}"/>
              </a:ext>
            </a:extLst>
          </p:cNvPr>
          <p:cNvSpPr/>
          <p:nvPr/>
        </p:nvSpPr>
        <p:spPr>
          <a:xfrm>
            <a:off x="7955280" y="2240280"/>
            <a:ext cx="1691640" cy="777240"/>
          </a:xfrm>
          <a:prstGeom prst="roundRect">
            <a:avLst>
              <a:gd name="adj" fmla="val 7059"/>
            </a:avLst>
          </a:prstGeom>
          <a:solidFill>
            <a:srgbClr val="163A57"/>
          </a:solidFill>
          <a:ln w="12700">
            <a:solidFill>
              <a:srgbClr val="5F87A8"/>
            </a:solidFill>
            <a:prstDash val="solid"/>
          </a:ln>
        </p:spPr>
        <p:txBody>
          <a:bodyPr/>
          <a:lstStyle/>
          <a:p>
            <a:endParaRPr lang="en-US"/>
          </a:p>
        </p:txBody>
      </p:sp>
      <p:sp>
        <p:nvSpPr>
          <p:cNvPr id="124" name="Text 15">
            <a:extLst>
              <a:ext uri="{FF2B5EF4-FFF2-40B4-BE49-F238E27FC236}">
                <a16:creationId xmlns:a16="http://schemas.microsoft.com/office/drawing/2014/main" id="{88292D60-8C31-D567-6554-B1DBAADAC348}"/>
              </a:ext>
            </a:extLst>
          </p:cNvPr>
          <p:cNvSpPr/>
          <p:nvPr/>
        </p:nvSpPr>
        <p:spPr>
          <a:xfrm>
            <a:off x="8010144" y="2240280"/>
            <a:ext cx="1581912"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Reserve Predictor</a:t>
            </a:r>
            <a:endParaRPr lang="en-US" sz="1150" dirty="0"/>
          </a:p>
        </p:txBody>
      </p:sp>
      <p:sp>
        <p:nvSpPr>
          <p:cNvPr id="126" name="Text 16">
            <a:extLst>
              <a:ext uri="{FF2B5EF4-FFF2-40B4-BE49-F238E27FC236}">
                <a16:creationId xmlns:a16="http://schemas.microsoft.com/office/drawing/2014/main" id="{2352D3B1-F9B4-479F-88A3-2461EEC0D8E6}"/>
              </a:ext>
            </a:extLst>
          </p:cNvPr>
          <p:cNvSpPr/>
          <p:nvPr/>
        </p:nvSpPr>
        <p:spPr>
          <a:xfrm>
            <a:off x="9646920" y="2240280"/>
            <a:ext cx="137160" cy="777240"/>
          </a:xfrm>
          <a:prstGeom prst="rect">
            <a:avLst/>
          </a:prstGeom>
          <a:noFill/>
          <a:ln/>
        </p:spPr>
        <p:txBody>
          <a:bodyPr wrap="square" lIns="0" tIns="0" rIns="0" bIns="0" rtlCol="0" anchor="ctr"/>
          <a:lstStyle/>
          <a:p>
            <a:pPr marL="0" indent="0" algn="ctr">
              <a:buNone/>
            </a:pPr>
            <a:r>
              <a:rPr lang="en-US" sz="1400" dirty="0">
                <a:solidFill>
                  <a:srgbClr val="CFE0EE"/>
                </a:solidFill>
                <a:latin typeface="Calibri" pitchFamily="34" charset="0"/>
                <a:ea typeface="Calibri" pitchFamily="34" charset="-122"/>
                <a:cs typeface="Calibri" pitchFamily="34" charset="-120"/>
              </a:rPr>
              <a:t>→</a:t>
            </a:r>
            <a:endParaRPr lang="en-US" sz="1400" dirty="0"/>
          </a:p>
        </p:txBody>
      </p:sp>
      <p:sp>
        <p:nvSpPr>
          <p:cNvPr id="128" name="Shape 17">
            <a:extLst>
              <a:ext uri="{FF2B5EF4-FFF2-40B4-BE49-F238E27FC236}">
                <a16:creationId xmlns:a16="http://schemas.microsoft.com/office/drawing/2014/main" id="{65FE948B-6E55-BBA4-2399-1FA76F9A5907}"/>
              </a:ext>
            </a:extLst>
          </p:cNvPr>
          <p:cNvSpPr/>
          <p:nvPr/>
        </p:nvSpPr>
        <p:spPr>
          <a:xfrm>
            <a:off x="9784080" y="2240280"/>
            <a:ext cx="1691640" cy="777240"/>
          </a:xfrm>
          <a:prstGeom prst="roundRect">
            <a:avLst>
              <a:gd name="adj" fmla="val 7059"/>
            </a:avLst>
          </a:prstGeom>
          <a:solidFill>
            <a:srgbClr val="163A57"/>
          </a:solidFill>
          <a:ln w="12700">
            <a:solidFill>
              <a:srgbClr val="5F87A8"/>
            </a:solidFill>
            <a:prstDash val="solid"/>
          </a:ln>
        </p:spPr>
        <p:txBody>
          <a:bodyPr/>
          <a:lstStyle/>
          <a:p>
            <a:endParaRPr lang="en-US"/>
          </a:p>
        </p:txBody>
      </p:sp>
      <p:sp>
        <p:nvSpPr>
          <p:cNvPr id="130" name="Text 18">
            <a:extLst>
              <a:ext uri="{FF2B5EF4-FFF2-40B4-BE49-F238E27FC236}">
                <a16:creationId xmlns:a16="http://schemas.microsoft.com/office/drawing/2014/main" id="{EB946C9D-F67A-F73F-00DD-81397DAF05ED}"/>
              </a:ext>
            </a:extLst>
          </p:cNvPr>
          <p:cNvSpPr/>
          <p:nvPr/>
        </p:nvSpPr>
        <p:spPr>
          <a:xfrm>
            <a:off x="9838944" y="2240280"/>
            <a:ext cx="1581912"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Evaluation</a:t>
            </a:r>
            <a:endParaRPr lang="en-US" sz="1150" dirty="0"/>
          </a:p>
        </p:txBody>
      </p:sp>
      <p:sp>
        <p:nvSpPr>
          <p:cNvPr id="132" name="Shape 19">
            <a:extLst>
              <a:ext uri="{FF2B5EF4-FFF2-40B4-BE49-F238E27FC236}">
                <a16:creationId xmlns:a16="http://schemas.microsoft.com/office/drawing/2014/main" id="{D13FF1AE-7F4C-B444-9706-B91630ACEE22}"/>
              </a:ext>
            </a:extLst>
          </p:cNvPr>
          <p:cNvSpPr/>
          <p:nvPr/>
        </p:nvSpPr>
        <p:spPr>
          <a:xfrm>
            <a:off x="10629900" y="3017520"/>
            <a:ext cx="0" cy="274320"/>
          </a:xfrm>
          <a:prstGeom prst="line">
            <a:avLst/>
          </a:prstGeom>
          <a:noFill/>
          <a:ln w="15875">
            <a:solidFill>
              <a:srgbClr val="5F87A8"/>
            </a:solidFill>
            <a:prstDash val="solid"/>
          </a:ln>
        </p:spPr>
        <p:txBody>
          <a:bodyPr/>
          <a:lstStyle/>
          <a:p>
            <a:endParaRPr lang="en-US"/>
          </a:p>
        </p:txBody>
      </p:sp>
      <p:sp>
        <p:nvSpPr>
          <p:cNvPr id="134" name="Shape 20">
            <a:extLst>
              <a:ext uri="{FF2B5EF4-FFF2-40B4-BE49-F238E27FC236}">
                <a16:creationId xmlns:a16="http://schemas.microsoft.com/office/drawing/2014/main" id="{F0B03728-5487-10B5-223C-84FE757069B1}"/>
              </a:ext>
            </a:extLst>
          </p:cNvPr>
          <p:cNvSpPr/>
          <p:nvPr/>
        </p:nvSpPr>
        <p:spPr>
          <a:xfrm>
            <a:off x="6057900" y="3291840"/>
            <a:ext cx="4572000" cy="0"/>
          </a:xfrm>
          <a:prstGeom prst="line">
            <a:avLst/>
          </a:prstGeom>
          <a:noFill/>
          <a:ln w="15875">
            <a:solidFill>
              <a:srgbClr val="5F87A8"/>
            </a:solidFill>
            <a:prstDash val="solid"/>
          </a:ln>
        </p:spPr>
        <p:txBody>
          <a:bodyPr/>
          <a:lstStyle/>
          <a:p>
            <a:endParaRPr lang="en-US"/>
          </a:p>
        </p:txBody>
      </p:sp>
      <p:sp>
        <p:nvSpPr>
          <p:cNvPr id="136" name="Shape 21">
            <a:extLst>
              <a:ext uri="{FF2B5EF4-FFF2-40B4-BE49-F238E27FC236}">
                <a16:creationId xmlns:a16="http://schemas.microsoft.com/office/drawing/2014/main" id="{78E4FED0-DE7C-D732-89E1-8FF61CB1D9F9}"/>
              </a:ext>
            </a:extLst>
          </p:cNvPr>
          <p:cNvSpPr/>
          <p:nvPr/>
        </p:nvSpPr>
        <p:spPr>
          <a:xfrm>
            <a:off x="2080260" y="3291840"/>
            <a:ext cx="7955280" cy="0"/>
          </a:xfrm>
          <a:prstGeom prst="line">
            <a:avLst/>
          </a:prstGeom>
          <a:noFill/>
          <a:ln w="15875">
            <a:solidFill>
              <a:srgbClr val="5F87A8"/>
            </a:solidFill>
            <a:prstDash val="solid"/>
          </a:ln>
        </p:spPr>
        <p:txBody>
          <a:bodyPr/>
          <a:lstStyle/>
          <a:p>
            <a:endParaRPr lang="en-US" dirty="0"/>
          </a:p>
        </p:txBody>
      </p:sp>
      <p:sp>
        <p:nvSpPr>
          <p:cNvPr id="138" name="Shape 22">
            <a:extLst>
              <a:ext uri="{FF2B5EF4-FFF2-40B4-BE49-F238E27FC236}">
                <a16:creationId xmlns:a16="http://schemas.microsoft.com/office/drawing/2014/main" id="{697BED78-DC41-068B-0115-4903C6782AFC}"/>
              </a:ext>
            </a:extLst>
          </p:cNvPr>
          <p:cNvSpPr/>
          <p:nvPr/>
        </p:nvSpPr>
        <p:spPr>
          <a:xfrm>
            <a:off x="2080260" y="3291840"/>
            <a:ext cx="0" cy="182880"/>
          </a:xfrm>
          <a:prstGeom prst="line">
            <a:avLst/>
          </a:prstGeom>
          <a:noFill/>
          <a:ln w="15875">
            <a:solidFill>
              <a:srgbClr val="5F87A8"/>
            </a:solidFill>
            <a:prstDash val="solid"/>
          </a:ln>
        </p:spPr>
        <p:txBody>
          <a:bodyPr/>
          <a:lstStyle/>
          <a:p>
            <a:endParaRPr lang="en-US"/>
          </a:p>
        </p:txBody>
      </p:sp>
      <p:sp>
        <p:nvSpPr>
          <p:cNvPr id="140" name="Shape 23">
            <a:extLst>
              <a:ext uri="{FF2B5EF4-FFF2-40B4-BE49-F238E27FC236}">
                <a16:creationId xmlns:a16="http://schemas.microsoft.com/office/drawing/2014/main" id="{32A0DC64-2898-B097-1F99-701DD165C430}"/>
              </a:ext>
            </a:extLst>
          </p:cNvPr>
          <p:cNvSpPr/>
          <p:nvPr/>
        </p:nvSpPr>
        <p:spPr>
          <a:xfrm>
            <a:off x="891540" y="3474720"/>
            <a:ext cx="2377440" cy="777240"/>
          </a:xfrm>
          <a:prstGeom prst="roundRect">
            <a:avLst>
              <a:gd name="adj" fmla="val 7059"/>
            </a:avLst>
          </a:prstGeom>
          <a:solidFill>
            <a:srgbClr val="163A57"/>
          </a:solidFill>
          <a:ln w="12700">
            <a:solidFill>
              <a:srgbClr val="5F87A8"/>
            </a:solidFill>
            <a:prstDash val="solid"/>
          </a:ln>
        </p:spPr>
        <p:txBody>
          <a:bodyPr/>
          <a:lstStyle/>
          <a:p>
            <a:endParaRPr lang="en-US"/>
          </a:p>
        </p:txBody>
      </p:sp>
      <p:sp>
        <p:nvSpPr>
          <p:cNvPr id="142" name="Text 24">
            <a:extLst>
              <a:ext uri="{FF2B5EF4-FFF2-40B4-BE49-F238E27FC236}">
                <a16:creationId xmlns:a16="http://schemas.microsoft.com/office/drawing/2014/main" id="{BA477891-D945-D849-49D0-AA45A5C39609}"/>
              </a:ext>
            </a:extLst>
          </p:cNvPr>
          <p:cNvSpPr/>
          <p:nvPr/>
        </p:nvSpPr>
        <p:spPr>
          <a:xfrm>
            <a:off x="946404" y="3474720"/>
            <a:ext cx="2267712" cy="777240"/>
          </a:xfrm>
          <a:prstGeom prst="rect">
            <a:avLst/>
          </a:prstGeom>
          <a:noFill/>
          <a:ln/>
        </p:spPr>
        <p:txBody>
          <a:bodyPr wrap="square" lIns="0" tIns="0" rIns="0" bIns="0" rtlCol="0" anchor="ctr"/>
          <a:lstStyle/>
          <a:p>
            <a:pPr marL="0" indent="0" algn="ctr">
              <a:buNone/>
            </a:pPr>
            <a:r>
              <a:rPr lang="en-US" sz="1300" b="1" dirty="0">
                <a:solidFill>
                  <a:srgbClr val="CFE0EE"/>
                </a:solidFill>
                <a:latin typeface="Calibri" pitchFamily="34" charset="0"/>
                <a:ea typeface="Calibri" pitchFamily="34" charset="-122"/>
                <a:cs typeface="Calibri" pitchFamily="34" charset="-120"/>
              </a:rPr>
              <a:t>Sensitivity</a:t>
            </a:r>
            <a:endParaRPr lang="en-US" sz="1300" dirty="0"/>
          </a:p>
        </p:txBody>
      </p:sp>
      <p:sp>
        <p:nvSpPr>
          <p:cNvPr id="144" name="Shape 25">
            <a:extLst>
              <a:ext uri="{FF2B5EF4-FFF2-40B4-BE49-F238E27FC236}">
                <a16:creationId xmlns:a16="http://schemas.microsoft.com/office/drawing/2014/main" id="{5976295D-3206-37FE-0658-0CFFE7DBD5C7}"/>
              </a:ext>
            </a:extLst>
          </p:cNvPr>
          <p:cNvSpPr/>
          <p:nvPr/>
        </p:nvSpPr>
        <p:spPr>
          <a:xfrm>
            <a:off x="4732020" y="3291840"/>
            <a:ext cx="0" cy="182880"/>
          </a:xfrm>
          <a:prstGeom prst="line">
            <a:avLst/>
          </a:prstGeom>
          <a:noFill/>
          <a:ln w="15875">
            <a:solidFill>
              <a:srgbClr val="5F87A8"/>
            </a:solidFill>
            <a:prstDash val="solid"/>
          </a:ln>
        </p:spPr>
        <p:txBody>
          <a:bodyPr/>
          <a:lstStyle/>
          <a:p>
            <a:endParaRPr lang="en-US"/>
          </a:p>
        </p:txBody>
      </p:sp>
      <p:sp>
        <p:nvSpPr>
          <p:cNvPr id="146" name="Shape 26">
            <a:extLst>
              <a:ext uri="{FF2B5EF4-FFF2-40B4-BE49-F238E27FC236}">
                <a16:creationId xmlns:a16="http://schemas.microsoft.com/office/drawing/2014/main" id="{C4E94A74-AB7A-5D1B-6970-C26A06ADCF32}"/>
              </a:ext>
            </a:extLst>
          </p:cNvPr>
          <p:cNvSpPr/>
          <p:nvPr/>
        </p:nvSpPr>
        <p:spPr>
          <a:xfrm>
            <a:off x="3543300" y="3474720"/>
            <a:ext cx="2377440" cy="777240"/>
          </a:xfrm>
          <a:prstGeom prst="roundRect">
            <a:avLst>
              <a:gd name="adj" fmla="val 7059"/>
            </a:avLst>
          </a:prstGeom>
          <a:solidFill>
            <a:srgbClr val="163A57"/>
          </a:solidFill>
          <a:ln w="12700">
            <a:solidFill>
              <a:srgbClr val="5F87A8"/>
            </a:solidFill>
            <a:prstDash val="solid"/>
          </a:ln>
        </p:spPr>
        <p:txBody>
          <a:bodyPr/>
          <a:lstStyle/>
          <a:p>
            <a:endParaRPr lang="en-US"/>
          </a:p>
        </p:txBody>
      </p:sp>
      <p:sp>
        <p:nvSpPr>
          <p:cNvPr id="148" name="Text 27">
            <a:extLst>
              <a:ext uri="{FF2B5EF4-FFF2-40B4-BE49-F238E27FC236}">
                <a16:creationId xmlns:a16="http://schemas.microsoft.com/office/drawing/2014/main" id="{E533AD76-4BFC-5782-A208-4890B76B76AF}"/>
              </a:ext>
            </a:extLst>
          </p:cNvPr>
          <p:cNvSpPr/>
          <p:nvPr/>
        </p:nvSpPr>
        <p:spPr>
          <a:xfrm>
            <a:off x="3598164" y="3474720"/>
            <a:ext cx="2267712" cy="777240"/>
          </a:xfrm>
          <a:prstGeom prst="rect">
            <a:avLst/>
          </a:prstGeom>
          <a:noFill/>
          <a:ln/>
        </p:spPr>
        <p:txBody>
          <a:bodyPr wrap="square" lIns="0" tIns="0" rIns="0" bIns="0" rtlCol="0" anchor="ctr"/>
          <a:lstStyle/>
          <a:p>
            <a:pPr marL="0" indent="0" algn="ctr">
              <a:buNone/>
            </a:pPr>
            <a:r>
              <a:rPr lang="en-US" sz="1300" b="1" dirty="0">
                <a:solidFill>
                  <a:srgbClr val="CFE0EE"/>
                </a:solidFill>
                <a:latin typeface="Calibri" pitchFamily="34" charset="0"/>
                <a:ea typeface="Calibri" pitchFamily="34" charset="-122"/>
                <a:cs typeface="Calibri" pitchFamily="34" charset="-120"/>
              </a:rPr>
              <a:t>Optimization</a:t>
            </a:r>
            <a:endParaRPr lang="en-US" sz="1300" dirty="0"/>
          </a:p>
        </p:txBody>
      </p:sp>
      <p:sp>
        <p:nvSpPr>
          <p:cNvPr id="150" name="Shape 28">
            <a:extLst>
              <a:ext uri="{FF2B5EF4-FFF2-40B4-BE49-F238E27FC236}">
                <a16:creationId xmlns:a16="http://schemas.microsoft.com/office/drawing/2014/main" id="{FD876381-9811-2709-BF4C-93451F27708C}"/>
              </a:ext>
            </a:extLst>
          </p:cNvPr>
          <p:cNvSpPr/>
          <p:nvPr/>
        </p:nvSpPr>
        <p:spPr>
          <a:xfrm>
            <a:off x="7383780" y="3291840"/>
            <a:ext cx="0" cy="182880"/>
          </a:xfrm>
          <a:prstGeom prst="line">
            <a:avLst/>
          </a:prstGeom>
          <a:noFill/>
          <a:ln w="15875">
            <a:solidFill>
              <a:srgbClr val="5F87A8"/>
            </a:solidFill>
            <a:prstDash val="solid"/>
          </a:ln>
        </p:spPr>
        <p:txBody>
          <a:bodyPr/>
          <a:lstStyle/>
          <a:p>
            <a:endParaRPr lang="en-US"/>
          </a:p>
        </p:txBody>
      </p:sp>
      <p:sp>
        <p:nvSpPr>
          <p:cNvPr id="152" name="Shape 29">
            <a:extLst>
              <a:ext uri="{FF2B5EF4-FFF2-40B4-BE49-F238E27FC236}">
                <a16:creationId xmlns:a16="http://schemas.microsoft.com/office/drawing/2014/main" id="{FEC156A6-D99F-3E0B-E6FB-FFFCDD85D668}"/>
              </a:ext>
            </a:extLst>
          </p:cNvPr>
          <p:cNvSpPr/>
          <p:nvPr/>
        </p:nvSpPr>
        <p:spPr>
          <a:xfrm>
            <a:off x="6195060" y="3474720"/>
            <a:ext cx="2377440" cy="777240"/>
          </a:xfrm>
          <a:prstGeom prst="roundRect">
            <a:avLst>
              <a:gd name="adj" fmla="val 7059"/>
            </a:avLst>
          </a:prstGeom>
          <a:solidFill>
            <a:srgbClr val="163A57"/>
          </a:solidFill>
          <a:ln w="12700">
            <a:solidFill>
              <a:srgbClr val="5F87A8"/>
            </a:solidFill>
            <a:prstDash val="solid"/>
          </a:ln>
        </p:spPr>
        <p:txBody>
          <a:bodyPr/>
          <a:lstStyle/>
          <a:p>
            <a:endParaRPr lang="en-US"/>
          </a:p>
        </p:txBody>
      </p:sp>
      <p:sp>
        <p:nvSpPr>
          <p:cNvPr id="154" name="Text 30">
            <a:extLst>
              <a:ext uri="{FF2B5EF4-FFF2-40B4-BE49-F238E27FC236}">
                <a16:creationId xmlns:a16="http://schemas.microsoft.com/office/drawing/2014/main" id="{3DCCE97E-3E76-A80E-3ED0-45B05E09A682}"/>
              </a:ext>
            </a:extLst>
          </p:cNvPr>
          <p:cNvSpPr/>
          <p:nvPr/>
        </p:nvSpPr>
        <p:spPr>
          <a:xfrm>
            <a:off x="6249924" y="3474720"/>
            <a:ext cx="2267712" cy="777240"/>
          </a:xfrm>
          <a:prstGeom prst="rect">
            <a:avLst/>
          </a:prstGeom>
          <a:noFill/>
          <a:ln/>
        </p:spPr>
        <p:txBody>
          <a:bodyPr wrap="square" lIns="0" tIns="0" rIns="0" bIns="0" rtlCol="0" anchor="ctr"/>
          <a:lstStyle/>
          <a:p>
            <a:pPr marL="0" indent="0" algn="ctr">
              <a:buNone/>
            </a:pPr>
            <a:r>
              <a:rPr lang="en-US" sz="1300" b="1" dirty="0">
                <a:solidFill>
                  <a:srgbClr val="CFE0EE"/>
                </a:solidFill>
                <a:latin typeface="Calibri" pitchFamily="34" charset="0"/>
                <a:ea typeface="Calibri" pitchFamily="34" charset="-122"/>
                <a:cs typeface="Calibri" pitchFamily="34" charset="-120"/>
              </a:rPr>
              <a:t>Stress Testing</a:t>
            </a:r>
            <a:endParaRPr lang="en-US" sz="1300" dirty="0"/>
          </a:p>
        </p:txBody>
      </p:sp>
      <p:sp>
        <p:nvSpPr>
          <p:cNvPr id="156" name="Shape 31">
            <a:extLst>
              <a:ext uri="{FF2B5EF4-FFF2-40B4-BE49-F238E27FC236}">
                <a16:creationId xmlns:a16="http://schemas.microsoft.com/office/drawing/2014/main" id="{78FDCC68-D70B-709F-8DE7-15B725061651}"/>
              </a:ext>
            </a:extLst>
          </p:cNvPr>
          <p:cNvSpPr/>
          <p:nvPr/>
        </p:nvSpPr>
        <p:spPr>
          <a:xfrm>
            <a:off x="10035540" y="3291840"/>
            <a:ext cx="0" cy="182880"/>
          </a:xfrm>
          <a:prstGeom prst="line">
            <a:avLst/>
          </a:prstGeom>
          <a:noFill/>
          <a:ln w="15875">
            <a:solidFill>
              <a:srgbClr val="5F87A8"/>
            </a:solidFill>
            <a:prstDash val="solid"/>
          </a:ln>
        </p:spPr>
        <p:txBody>
          <a:bodyPr/>
          <a:lstStyle/>
          <a:p>
            <a:endParaRPr lang="en-US"/>
          </a:p>
        </p:txBody>
      </p:sp>
      <p:sp>
        <p:nvSpPr>
          <p:cNvPr id="158" name="Shape 32">
            <a:extLst>
              <a:ext uri="{FF2B5EF4-FFF2-40B4-BE49-F238E27FC236}">
                <a16:creationId xmlns:a16="http://schemas.microsoft.com/office/drawing/2014/main" id="{82DF8054-6C3C-7B00-4C27-17AD84C78C06}"/>
              </a:ext>
            </a:extLst>
          </p:cNvPr>
          <p:cNvSpPr/>
          <p:nvPr/>
        </p:nvSpPr>
        <p:spPr>
          <a:xfrm>
            <a:off x="8846820" y="3474720"/>
            <a:ext cx="2377440" cy="777240"/>
          </a:xfrm>
          <a:prstGeom prst="roundRect">
            <a:avLst>
              <a:gd name="adj" fmla="val 7059"/>
            </a:avLst>
          </a:prstGeom>
          <a:solidFill>
            <a:srgbClr val="163A57"/>
          </a:solidFill>
          <a:ln w="12700">
            <a:solidFill>
              <a:srgbClr val="5F87A8"/>
            </a:solidFill>
            <a:prstDash val="solid"/>
          </a:ln>
        </p:spPr>
        <p:txBody>
          <a:bodyPr/>
          <a:lstStyle/>
          <a:p>
            <a:endParaRPr lang="en-US" dirty="0"/>
          </a:p>
        </p:txBody>
      </p:sp>
      <p:sp>
        <p:nvSpPr>
          <p:cNvPr id="160" name="Text 33">
            <a:extLst>
              <a:ext uri="{FF2B5EF4-FFF2-40B4-BE49-F238E27FC236}">
                <a16:creationId xmlns:a16="http://schemas.microsoft.com/office/drawing/2014/main" id="{53977432-3B59-16A3-E072-BA466A4222A2}"/>
              </a:ext>
            </a:extLst>
          </p:cNvPr>
          <p:cNvSpPr/>
          <p:nvPr/>
        </p:nvSpPr>
        <p:spPr>
          <a:xfrm>
            <a:off x="8901684" y="3474720"/>
            <a:ext cx="2267712" cy="777240"/>
          </a:xfrm>
          <a:prstGeom prst="rect">
            <a:avLst/>
          </a:prstGeom>
          <a:noFill/>
          <a:ln/>
        </p:spPr>
        <p:txBody>
          <a:bodyPr wrap="square" lIns="0" tIns="0" rIns="0" bIns="0" rtlCol="0" anchor="ctr"/>
          <a:lstStyle/>
          <a:p>
            <a:pPr marL="0" indent="0" algn="ctr">
              <a:buNone/>
            </a:pPr>
            <a:r>
              <a:rPr lang="en-US" sz="1300" b="1" dirty="0">
                <a:solidFill>
                  <a:srgbClr val="CFE0EE"/>
                </a:solidFill>
                <a:latin typeface="Calibri" pitchFamily="34" charset="0"/>
                <a:ea typeface="Calibri" pitchFamily="34" charset="-122"/>
                <a:cs typeface="Calibri" pitchFamily="34" charset="-120"/>
              </a:rPr>
              <a:t>Future Works</a:t>
            </a:r>
            <a:endParaRPr lang="en-US" sz="1300" dirty="0"/>
          </a:p>
        </p:txBody>
      </p:sp>
      <p:sp>
        <p:nvSpPr>
          <p:cNvPr id="162" name="Text 34">
            <a:extLst>
              <a:ext uri="{FF2B5EF4-FFF2-40B4-BE49-F238E27FC236}">
                <a16:creationId xmlns:a16="http://schemas.microsoft.com/office/drawing/2014/main" id="{5E3541CF-96D4-3C71-2082-F95CD6F9F5DD}"/>
              </a:ext>
            </a:extLst>
          </p:cNvPr>
          <p:cNvSpPr/>
          <p:nvPr/>
        </p:nvSpPr>
        <p:spPr>
          <a:xfrm>
            <a:off x="640080" y="4114800"/>
            <a:ext cx="10515600" cy="457200"/>
          </a:xfrm>
          <a:prstGeom prst="rect">
            <a:avLst/>
          </a:prstGeom>
          <a:noFill/>
          <a:ln/>
        </p:spPr>
        <p:txBody>
          <a:bodyPr wrap="square" lIns="0" tIns="0" rIns="0" bIns="0" rtlCol="0" anchor="t"/>
          <a:lstStyle/>
          <a:p>
            <a:pPr marL="0" indent="0" algn="l">
              <a:buNone/>
            </a:pPr>
            <a:r>
              <a:rPr lang="en-US" sz="1500" i="1" dirty="0">
                <a:solidFill>
                  <a:srgbClr val="CFE0EE"/>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DATASET GENERATION</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Synthetic Data Generation</a:t>
            </a:r>
            <a:endParaRPr lang="en-US" sz="2800" dirty="0"/>
          </a:p>
        </p:txBody>
      </p:sp>
      <p:sp>
        <p:nvSpPr>
          <p:cNvPr id="4" name="Text 2"/>
          <p:cNvSpPr/>
          <p:nvPr/>
        </p:nvSpPr>
        <p:spPr>
          <a:xfrm>
            <a:off x="640080" y="1645920"/>
            <a:ext cx="5120640" cy="594360"/>
          </a:xfrm>
          <a:prstGeom prst="rect">
            <a:avLst/>
          </a:prstGeom>
          <a:noFill/>
          <a:ln/>
        </p:spPr>
        <p:txBody>
          <a:bodyPr wrap="square" lIns="0" tIns="0" rIns="0" bIns="0" rtlCol="0" anchor="t"/>
          <a:lstStyle/>
          <a:p>
            <a:pPr marL="0" indent="0" algn="l">
              <a:buNone/>
            </a:pPr>
            <a:r>
              <a:rPr lang="en-US" sz="1600" dirty="0">
                <a:solidFill>
                  <a:srgbClr val="444444"/>
                </a:solidFill>
                <a:latin typeface="Calibri" pitchFamily="34" charset="0"/>
                <a:ea typeface="Calibri" pitchFamily="34" charset="-122"/>
                <a:cs typeface="Calibri" pitchFamily="34" charset="-120"/>
              </a:rPr>
              <a:t>Since real insurance datasets were unavailable, synthetic policies were generated.</a:t>
            </a:r>
            <a:endParaRPr lang="en-US" sz="1600" dirty="0"/>
          </a:p>
        </p:txBody>
      </p:sp>
      <p:sp>
        <p:nvSpPr>
          <p:cNvPr id="5" name="Text 3"/>
          <p:cNvSpPr/>
          <p:nvPr/>
        </p:nvSpPr>
        <p:spPr>
          <a:xfrm>
            <a:off x="640080" y="2331720"/>
            <a:ext cx="45720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GENERATED VARIABLES</a:t>
            </a:r>
            <a:endParaRPr lang="en-US" sz="1200" dirty="0"/>
          </a:p>
        </p:txBody>
      </p:sp>
      <p:sp>
        <p:nvSpPr>
          <p:cNvPr id="6" name="Text 4"/>
          <p:cNvSpPr/>
          <p:nvPr/>
        </p:nvSpPr>
        <p:spPr>
          <a:xfrm>
            <a:off x="640080" y="2670048"/>
            <a:ext cx="5120640" cy="21945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Age</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Policy Term</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Interest Rate</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Sum Assured</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Mortality</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Premium</a:t>
            </a:r>
            <a:endParaRPr lang="en-US" sz="1600" dirty="0"/>
          </a:p>
        </p:txBody>
      </p:sp>
      <p:sp>
        <p:nvSpPr>
          <p:cNvPr id="7" name="Text 5"/>
          <p:cNvSpPr/>
          <p:nvPr/>
        </p:nvSpPr>
        <p:spPr>
          <a:xfrm>
            <a:off x="640080" y="4846320"/>
            <a:ext cx="5120640" cy="640080"/>
          </a:xfrm>
          <a:prstGeom prst="rect">
            <a:avLst/>
          </a:prstGeom>
          <a:noFill/>
          <a:ln/>
        </p:spPr>
        <p:txBody>
          <a:bodyPr wrap="square" lIns="0" tIns="0" rIns="0" bIns="0" rtlCol="0" anchor="t"/>
          <a:lstStyle/>
          <a:p>
            <a:pPr marL="0" indent="0" algn="l">
              <a:buNone/>
            </a:pPr>
            <a:r>
              <a:rPr lang="en-US" sz="1500" i="1" dirty="0">
                <a:solidFill>
                  <a:srgbClr val="444444"/>
                </a:solidFill>
                <a:latin typeface="Calibri" pitchFamily="34" charset="0"/>
                <a:ea typeface="Calibri" pitchFamily="34" charset="-122"/>
                <a:cs typeface="Calibri" pitchFamily="34" charset="-120"/>
              </a:rPr>
              <a:t>Each policy was solved using the classical Thiele Solver to generate reserve trajectories.</a:t>
            </a:r>
            <a:endParaRPr lang="en-US" sz="1500" dirty="0"/>
          </a:p>
        </p:txBody>
      </p:sp>
      <p:graphicFrame>
        <p:nvGraphicFramePr>
          <p:cNvPr id="8" name="Chart 0"/>
          <p:cNvGraphicFramePr/>
          <p:nvPr>
            <p:extLst>
              <p:ext uri="{D42A27DB-BD31-4B8C-83A1-F6EECF244321}">
                <p14:modId xmlns:p14="http://schemas.microsoft.com/office/powerpoint/2010/main" val="565502210"/>
              </p:ext>
            </p:extLst>
          </p:nvPr>
        </p:nvGraphicFramePr>
        <p:xfrm>
          <a:off x="5486400" y="1645920"/>
          <a:ext cx="64008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10" name="Text 7"/>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1DCA914-E89F-CC80-86EC-15FE788AFBC4}"/>
              </a:ext>
            </a:extLst>
          </p:cNvPr>
          <p:cNvSpPr>
            <a:spLocks noGrp="1"/>
          </p:cNvSpPr>
          <p:nvPr>
            <p:ph type="subTitle" idx="1"/>
          </p:nvPr>
        </p:nvSpPr>
        <p:spPr>
          <a:xfrm>
            <a:off x="811619" y="4973638"/>
            <a:ext cx="10214344" cy="1655762"/>
          </a:xfrm>
        </p:spPr>
        <p:txBody>
          <a:bodyPr>
            <a:normAutofit fontScale="92500" lnSpcReduction="10000"/>
          </a:bodyPr>
          <a:lstStyle/>
          <a:p>
            <a:pPr marL="342900" indent="-342900" algn="l">
              <a:buFont typeface="Arial" panose="020B0604020202020204" pitchFamily="34" charset="0"/>
              <a:buChar char="•"/>
            </a:pPr>
            <a:r>
              <a:rPr lang="en-US" dirty="0"/>
              <a:t>Older policyholders and longer policy terms tend to require higher peak reserves due to increased liability.</a:t>
            </a:r>
          </a:p>
          <a:p>
            <a:pPr marL="342900" indent="-342900" algn="l">
              <a:buFont typeface="Arial" panose="020B0604020202020204" pitchFamily="34" charset="0"/>
              <a:buChar char="•"/>
            </a:pPr>
            <a:r>
              <a:rPr lang="en-US" dirty="0"/>
              <a:t>The </a:t>
            </a:r>
            <a:r>
              <a:rPr lang="en-US" dirty="0" err="1"/>
              <a:t>colour</a:t>
            </a:r>
            <a:r>
              <a:rPr lang="en-US" dirty="0"/>
              <a:t> band indicates policy term, showing that longer-duration policies (yellow) generally require higher peak reserves than shorter-duration policies (purple).</a:t>
            </a:r>
          </a:p>
        </p:txBody>
      </p:sp>
      <p:pic>
        <p:nvPicPr>
          <p:cNvPr id="5" name="Picture 4">
            <a:extLst>
              <a:ext uri="{FF2B5EF4-FFF2-40B4-BE49-F238E27FC236}">
                <a16:creationId xmlns:a16="http://schemas.microsoft.com/office/drawing/2014/main" id="{E41EC23B-0FC8-E301-EC71-6CF46FDC0A66}"/>
              </a:ext>
            </a:extLst>
          </p:cNvPr>
          <p:cNvPicPr>
            <a:picLocks noChangeAspect="1"/>
          </p:cNvPicPr>
          <p:nvPr/>
        </p:nvPicPr>
        <p:blipFill>
          <a:blip r:embed="rId2"/>
          <a:stretch>
            <a:fillRect/>
          </a:stretch>
        </p:blipFill>
        <p:spPr>
          <a:xfrm>
            <a:off x="0" y="388088"/>
            <a:ext cx="12192000" cy="4340784"/>
          </a:xfrm>
          <a:prstGeom prst="rect">
            <a:avLst/>
          </a:prstGeom>
        </p:spPr>
      </p:pic>
    </p:spTree>
    <p:extLst>
      <p:ext uri="{BB962C8B-B14F-4D97-AF65-F5344CB8AC3E}">
        <p14:creationId xmlns:p14="http://schemas.microsoft.com/office/powerpoint/2010/main" val="2945571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9ACE32-F829-8283-E5AC-DEFF6D1666BC}"/>
              </a:ext>
            </a:extLst>
          </p:cNvPr>
          <p:cNvPicPr>
            <a:picLocks noChangeAspect="1"/>
          </p:cNvPicPr>
          <p:nvPr/>
        </p:nvPicPr>
        <p:blipFill>
          <a:blip r:embed="rId2"/>
          <a:stretch>
            <a:fillRect/>
          </a:stretch>
        </p:blipFill>
        <p:spPr>
          <a:xfrm>
            <a:off x="226626" y="282419"/>
            <a:ext cx="11965372" cy="4247708"/>
          </a:xfrm>
          <a:prstGeom prst="rect">
            <a:avLst/>
          </a:prstGeom>
        </p:spPr>
      </p:pic>
      <p:sp>
        <p:nvSpPr>
          <p:cNvPr id="3" name="Content Placeholder 2">
            <a:extLst>
              <a:ext uri="{FF2B5EF4-FFF2-40B4-BE49-F238E27FC236}">
                <a16:creationId xmlns:a16="http://schemas.microsoft.com/office/drawing/2014/main" id="{2E7E44BC-D68C-76B6-5F66-CC6878C8C376}"/>
              </a:ext>
            </a:extLst>
          </p:cNvPr>
          <p:cNvSpPr>
            <a:spLocks noGrp="1"/>
          </p:cNvSpPr>
          <p:nvPr>
            <p:ph idx="1"/>
          </p:nvPr>
        </p:nvSpPr>
        <p:spPr>
          <a:xfrm>
            <a:off x="2078563" y="4775417"/>
            <a:ext cx="8261498" cy="1800164"/>
          </a:xfrm>
        </p:spPr>
        <p:txBody>
          <a:bodyPr anchor="t">
            <a:normAutofit/>
          </a:bodyPr>
          <a:lstStyle/>
          <a:p>
            <a:r>
              <a:rPr lang="en-US" sz="2000" dirty="0"/>
              <a:t>Mortality intensity (‰/year) represents the annual probability of death, expressed as deaths per 1,000 policyholders per year.</a:t>
            </a:r>
          </a:p>
          <a:p>
            <a:r>
              <a:rPr lang="en-US" sz="2000" dirty="0"/>
              <a:t>The reserve increases consistently as mortality intensity increases</a:t>
            </a:r>
          </a:p>
          <a:p>
            <a:r>
              <a:rPr lang="en-US" sz="2000" dirty="0"/>
              <a:t>higher mortality ⇒ higher reserve</a:t>
            </a:r>
          </a:p>
        </p:txBody>
      </p:sp>
    </p:spTree>
    <p:extLst>
      <p:ext uri="{BB962C8B-B14F-4D97-AF65-F5344CB8AC3E}">
        <p14:creationId xmlns:p14="http://schemas.microsoft.com/office/powerpoint/2010/main" val="616143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9D690B-73DA-FA3B-78C7-28BB08B7C049}"/>
              </a:ext>
            </a:extLst>
          </p:cNvPr>
          <p:cNvPicPr>
            <a:picLocks noChangeAspect="1"/>
          </p:cNvPicPr>
          <p:nvPr/>
        </p:nvPicPr>
        <p:blipFill>
          <a:blip r:embed="rId2"/>
          <a:srcRect l="907" r="1" b="1"/>
          <a:stretch>
            <a:fillRect/>
          </a:stretch>
        </p:blipFill>
        <p:spPr>
          <a:xfrm>
            <a:off x="80407" y="449689"/>
            <a:ext cx="8115280" cy="6408311"/>
          </a:xfrm>
          <a:prstGeom prst="rect">
            <a:avLst/>
          </a:prstGeom>
        </p:spPr>
      </p:pic>
      <p:sp>
        <p:nvSpPr>
          <p:cNvPr id="3" name="Content Placeholder 2">
            <a:extLst>
              <a:ext uri="{FF2B5EF4-FFF2-40B4-BE49-F238E27FC236}">
                <a16:creationId xmlns:a16="http://schemas.microsoft.com/office/drawing/2014/main" id="{1C02FF48-2E2C-D168-548F-53FB9DE6104F}"/>
              </a:ext>
            </a:extLst>
          </p:cNvPr>
          <p:cNvSpPr>
            <a:spLocks noGrp="1"/>
          </p:cNvSpPr>
          <p:nvPr>
            <p:ph idx="1"/>
          </p:nvPr>
        </p:nvSpPr>
        <p:spPr>
          <a:xfrm>
            <a:off x="8504970" y="1759190"/>
            <a:ext cx="2942813" cy="3540265"/>
          </a:xfrm>
        </p:spPr>
        <p:txBody>
          <a:bodyPr>
            <a:normAutofit/>
          </a:bodyPr>
          <a:lstStyle/>
          <a:p>
            <a:r>
              <a:rPr lang="en-US" sz="2000" dirty="0"/>
              <a:t>The correlation matrix shows the relationships between policy features, </a:t>
            </a:r>
          </a:p>
          <a:p>
            <a:r>
              <a:rPr lang="en-US" sz="2000" dirty="0"/>
              <a:t>with red indicating strong positive correlation, blue indicating negative correlation, and white indicating little or no relationship.</a:t>
            </a:r>
          </a:p>
          <a:p>
            <a:endParaRPr lang="en-US" sz="2000" dirty="0"/>
          </a:p>
          <a:p>
            <a:pPr marL="0" indent="0">
              <a:buNone/>
            </a:pPr>
            <a:endParaRPr lang="en-US" sz="2000" dirty="0"/>
          </a:p>
        </p:txBody>
      </p:sp>
    </p:spTree>
    <p:extLst>
      <p:ext uri="{BB962C8B-B14F-4D97-AF65-F5344CB8AC3E}">
        <p14:creationId xmlns:p14="http://schemas.microsoft.com/office/powerpoint/2010/main" val="3998272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MODEL TRAINING</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PINN + KINN Architecture</a:t>
            </a:r>
            <a:endParaRPr lang="en-US" sz="2800" dirty="0"/>
          </a:p>
        </p:txBody>
      </p:sp>
      <p:sp>
        <p:nvSpPr>
          <p:cNvPr id="4" name="Shape 2"/>
          <p:cNvSpPr/>
          <p:nvPr/>
        </p:nvSpPr>
        <p:spPr>
          <a:xfrm>
            <a:off x="1232044" y="1607058"/>
            <a:ext cx="2184495" cy="475488"/>
          </a:xfrm>
          <a:prstGeom prst="roundRect">
            <a:avLst>
              <a:gd name="adj" fmla="val 13462"/>
            </a:avLst>
          </a:prstGeom>
          <a:solidFill>
            <a:srgbClr val="F2F2F2"/>
          </a:solidFill>
          <a:ln w="12700">
            <a:solidFill>
              <a:srgbClr val="D9D9D9"/>
            </a:solidFill>
            <a:prstDash val="solid"/>
          </a:ln>
        </p:spPr>
        <p:txBody>
          <a:bodyPr/>
          <a:lstStyle/>
          <a:p>
            <a:endParaRPr lang="en-US"/>
          </a:p>
        </p:txBody>
      </p:sp>
      <p:sp>
        <p:nvSpPr>
          <p:cNvPr id="5" name="Text 3"/>
          <p:cNvSpPr/>
          <p:nvPr/>
        </p:nvSpPr>
        <p:spPr>
          <a:xfrm>
            <a:off x="1293322" y="1607058"/>
            <a:ext cx="2050065" cy="475488"/>
          </a:xfrm>
          <a:prstGeom prst="rect">
            <a:avLst/>
          </a:prstGeom>
          <a:noFill/>
          <a:ln/>
        </p:spPr>
        <p:txBody>
          <a:bodyPr wrap="square" lIns="0" tIns="0" rIns="0" bIns="0" rtlCol="0" anchor="ctr"/>
          <a:lstStyle/>
          <a:p>
            <a:pPr marL="0" indent="0" algn="ctr">
              <a:buNone/>
            </a:pPr>
            <a:r>
              <a:rPr lang="en-US" sz="1200" b="1" dirty="0">
                <a:solidFill>
                  <a:srgbClr val="1F4E79"/>
                </a:solidFill>
                <a:latin typeface="Calibri" pitchFamily="34" charset="0"/>
                <a:ea typeface="Calibri" pitchFamily="34" charset="-122"/>
                <a:cs typeface="Calibri" pitchFamily="34" charset="-120"/>
              </a:rPr>
              <a:t>Time</a:t>
            </a:r>
            <a:endParaRPr lang="en-US" sz="1200" dirty="0"/>
          </a:p>
        </p:txBody>
      </p:sp>
      <p:sp>
        <p:nvSpPr>
          <p:cNvPr id="6" name="Shape 4"/>
          <p:cNvSpPr/>
          <p:nvPr/>
        </p:nvSpPr>
        <p:spPr>
          <a:xfrm>
            <a:off x="1232044" y="2201418"/>
            <a:ext cx="2184495" cy="475488"/>
          </a:xfrm>
          <a:prstGeom prst="roundRect">
            <a:avLst>
              <a:gd name="adj" fmla="val 13462"/>
            </a:avLst>
          </a:prstGeom>
          <a:solidFill>
            <a:srgbClr val="F2F2F2"/>
          </a:solidFill>
          <a:ln w="12700">
            <a:solidFill>
              <a:srgbClr val="D9D9D9"/>
            </a:solidFill>
            <a:prstDash val="solid"/>
          </a:ln>
        </p:spPr>
        <p:txBody>
          <a:bodyPr/>
          <a:lstStyle/>
          <a:p>
            <a:endParaRPr lang="en-US"/>
          </a:p>
        </p:txBody>
      </p:sp>
      <p:sp>
        <p:nvSpPr>
          <p:cNvPr id="7" name="Text 5"/>
          <p:cNvSpPr/>
          <p:nvPr/>
        </p:nvSpPr>
        <p:spPr>
          <a:xfrm>
            <a:off x="1293322" y="2201418"/>
            <a:ext cx="2050065" cy="475488"/>
          </a:xfrm>
          <a:prstGeom prst="rect">
            <a:avLst/>
          </a:prstGeom>
          <a:noFill/>
          <a:ln/>
        </p:spPr>
        <p:txBody>
          <a:bodyPr wrap="square" lIns="0" tIns="0" rIns="0" bIns="0" rtlCol="0" anchor="ctr"/>
          <a:lstStyle/>
          <a:p>
            <a:pPr marL="0" indent="0" algn="ctr">
              <a:buNone/>
            </a:pPr>
            <a:r>
              <a:rPr lang="en-US" sz="1200" b="1" dirty="0">
                <a:solidFill>
                  <a:srgbClr val="1F4E79"/>
                </a:solidFill>
                <a:latin typeface="Calibri" pitchFamily="34" charset="0"/>
                <a:ea typeface="Calibri" pitchFamily="34" charset="-122"/>
                <a:cs typeface="Calibri" pitchFamily="34" charset="-120"/>
              </a:rPr>
              <a:t>Age</a:t>
            </a:r>
            <a:endParaRPr lang="en-US" sz="1200" dirty="0"/>
          </a:p>
        </p:txBody>
      </p:sp>
      <p:sp>
        <p:nvSpPr>
          <p:cNvPr id="8" name="Shape 6"/>
          <p:cNvSpPr/>
          <p:nvPr/>
        </p:nvSpPr>
        <p:spPr>
          <a:xfrm>
            <a:off x="1232044" y="2795778"/>
            <a:ext cx="2184495" cy="475488"/>
          </a:xfrm>
          <a:prstGeom prst="roundRect">
            <a:avLst>
              <a:gd name="adj" fmla="val 13462"/>
            </a:avLst>
          </a:prstGeom>
          <a:solidFill>
            <a:srgbClr val="F2F2F2"/>
          </a:solidFill>
          <a:ln w="12700">
            <a:solidFill>
              <a:srgbClr val="D9D9D9"/>
            </a:solidFill>
            <a:prstDash val="solid"/>
          </a:ln>
        </p:spPr>
        <p:txBody>
          <a:bodyPr/>
          <a:lstStyle/>
          <a:p>
            <a:endParaRPr lang="en-US"/>
          </a:p>
        </p:txBody>
      </p:sp>
      <p:sp>
        <p:nvSpPr>
          <p:cNvPr id="9" name="Text 7"/>
          <p:cNvSpPr/>
          <p:nvPr/>
        </p:nvSpPr>
        <p:spPr>
          <a:xfrm>
            <a:off x="1293322" y="2795778"/>
            <a:ext cx="2050065" cy="475488"/>
          </a:xfrm>
          <a:prstGeom prst="rect">
            <a:avLst/>
          </a:prstGeom>
          <a:noFill/>
          <a:ln/>
        </p:spPr>
        <p:txBody>
          <a:bodyPr wrap="square" lIns="0" tIns="0" rIns="0" bIns="0" rtlCol="0" anchor="ctr"/>
          <a:lstStyle/>
          <a:p>
            <a:pPr marL="0" indent="0" algn="ctr">
              <a:buNone/>
            </a:pPr>
            <a:r>
              <a:rPr lang="en-US" sz="1200" b="1" dirty="0">
                <a:solidFill>
                  <a:srgbClr val="1F4E79"/>
                </a:solidFill>
                <a:latin typeface="Calibri" pitchFamily="34" charset="0"/>
                <a:ea typeface="Calibri" pitchFamily="34" charset="-122"/>
                <a:cs typeface="Calibri" pitchFamily="34" charset="-120"/>
              </a:rPr>
              <a:t>Interest Rate</a:t>
            </a:r>
            <a:endParaRPr lang="en-US" sz="1200" dirty="0"/>
          </a:p>
        </p:txBody>
      </p:sp>
      <p:sp>
        <p:nvSpPr>
          <p:cNvPr id="10" name="Shape 8"/>
          <p:cNvSpPr/>
          <p:nvPr/>
        </p:nvSpPr>
        <p:spPr>
          <a:xfrm>
            <a:off x="1232044" y="3390138"/>
            <a:ext cx="2184495" cy="475488"/>
          </a:xfrm>
          <a:prstGeom prst="roundRect">
            <a:avLst>
              <a:gd name="adj" fmla="val 13462"/>
            </a:avLst>
          </a:prstGeom>
          <a:solidFill>
            <a:srgbClr val="F2F2F2"/>
          </a:solidFill>
          <a:ln w="12700">
            <a:solidFill>
              <a:srgbClr val="D9D9D9"/>
            </a:solidFill>
            <a:prstDash val="solid"/>
          </a:ln>
        </p:spPr>
        <p:txBody>
          <a:bodyPr/>
          <a:lstStyle/>
          <a:p>
            <a:endParaRPr lang="en-US"/>
          </a:p>
        </p:txBody>
      </p:sp>
      <p:sp>
        <p:nvSpPr>
          <p:cNvPr id="11" name="Text 9"/>
          <p:cNvSpPr/>
          <p:nvPr/>
        </p:nvSpPr>
        <p:spPr>
          <a:xfrm>
            <a:off x="1293322" y="3390138"/>
            <a:ext cx="2050065" cy="475488"/>
          </a:xfrm>
          <a:prstGeom prst="rect">
            <a:avLst/>
          </a:prstGeom>
          <a:noFill/>
          <a:ln/>
        </p:spPr>
        <p:txBody>
          <a:bodyPr wrap="square" lIns="0" tIns="0" rIns="0" bIns="0" rtlCol="0" anchor="ctr"/>
          <a:lstStyle/>
          <a:p>
            <a:pPr marL="0" indent="0" algn="ctr">
              <a:buNone/>
            </a:pPr>
            <a:r>
              <a:rPr lang="en-US" sz="1200" b="1" dirty="0">
                <a:solidFill>
                  <a:srgbClr val="1F4E79"/>
                </a:solidFill>
                <a:latin typeface="Calibri" pitchFamily="34" charset="0"/>
                <a:ea typeface="Calibri" pitchFamily="34" charset="-122"/>
                <a:cs typeface="Calibri" pitchFamily="34" charset="-120"/>
              </a:rPr>
              <a:t>Premium Ratio</a:t>
            </a:r>
            <a:endParaRPr lang="en-US" sz="1200" dirty="0"/>
          </a:p>
        </p:txBody>
      </p:sp>
      <p:sp>
        <p:nvSpPr>
          <p:cNvPr id="12" name="Shape 10"/>
          <p:cNvSpPr/>
          <p:nvPr/>
        </p:nvSpPr>
        <p:spPr>
          <a:xfrm>
            <a:off x="1232044" y="3984498"/>
            <a:ext cx="2184495" cy="475488"/>
          </a:xfrm>
          <a:prstGeom prst="roundRect">
            <a:avLst>
              <a:gd name="adj" fmla="val 13462"/>
            </a:avLst>
          </a:prstGeom>
          <a:solidFill>
            <a:srgbClr val="F2F2F2"/>
          </a:solidFill>
          <a:ln w="12700">
            <a:solidFill>
              <a:srgbClr val="D9D9D9"/>
            </a:solidFill>
            <a:prstDash val="solid"/>
          </a:ln>
        </p:spPr>
        <p:txBody>
          <a:bodyPr/>
          <a:lstStyle/>
          <a:p>
            <a:endParaRPr lang="en-US"/>
          </a:p>
        </p:txBody>
      </p:sp>
      <p:sp>
        <p:nvSpPr>
          <p:cNvPr id="13" name="Text 11"/>
          <p:cNvSpPr/>
          <p:nvPr/>
        </p:nvSpPr>
        <p:spPr>
          <a:xfrm>
            <a:off x="1293322" y="3984498"/>
            <a:ext cx="2050065" cy="475488"/>
          </a:xfrm>
          <a:prstGeom prst="rect">
            <a:avLst/>
          </a:prstGeom>
          <a:noFill/>
          <a:ln/>
        </p:spPr>
        <p:txBody>
          <a:bodyPr wrap="square" lIns="0" tIns="0" rIns="0" bIns="0" rtlCol="0" anchor="ctr"/>
          <a:lstStyle/>
          <a:p>
            <a:pPr marL="0" indent="0" algn="ctr">
              <a:buNone/>
            </a:pPr>
            <a:r>
              <a:rPr lang="en-US" sz="1200" b="1" dirty="0">
                <a:solidFill>
                  <a:srgbClr val="1F4E79"/>
                </a:solidFill>
                <a:latin typeface="Calibri" pitchFamily="34" charset="0"/>
                <a:ea typeface="Calibri" pitchFamily="34" charset="-122"/>
                <a:cs typeface="Calibri" pitchFamily="34" charset="-120"/>
              </a:rPr>
              <a:t>Sum Assured</a:t>
            </a:r>
            <a:endParaRPr lang="en-US" sz="1200" dirty="0"/>
          </a:p>
        </p:txBody>
      </p:sp>
      <p:sp>
        <p:nvSpPr>
          <p:cNvPr id="14" name="Shape 12"/>
          <p:cNvSpPr/>
          <p:nvPr/>
        </p:nvSpPr>
        <p:spPr>
          <a:xfrm>
            <a:off x="1232044" y="4578858"/>
            <a:ext cx="2184495" cy="475488"/>
          </a:xfrm>
          <a:prstGeom prst="roundRect">
            <a:avLst>
              <a:gd name="adj" fmla="val 13462"/>
            </a:avLst>
          </a:prstGeom>
          <a:solidFill>
            <a:srgbClr val="F2F2F2"/>
          </a:solidFill>
          <a:ln w="12700">
            <a:solidFill>
              <a:srgbClr val="D9D9D9"/>
            </a:solidFill>
            <a:prstDash val="solid"/>
          </a:ln>
        </p:spPr>
        <p:txBody>
          <a:bodyPr/>
          <a:lstStyle/>
          <a:p>
            <a:endParaRPr lang="en-US"/>
          </a:p>
        </p:txBody>
      </p:sp>
      <p:sp>
        <p:nvSpPr>
          <p:cNvPr id="15" name="Text 13"/>
          <p:cNvSpPr/>
          <p:nvPr/>
        </p:nvSpPr>
        <p:spPr>
          <a:xfrm>
            <a:off x="1293322" y="4578858"/>
            <a:ext cx="2050065" cy="475488"/>
          </a:xfrm>
          <a:prstGeom prst="rect">
            <a:avLst/>
          </a:prstGeom>
          <a:noFill/>
          <a:ln/>
        </p:spPr>
        <p:txBody>
          <a:bodyPr wrap="square" lIns="0" tIns="0" rIns="0" bIns="0" rtlCol="0" anchor="ctr"/>
          <a:lstStyle/>
          <a:p>
            <a:pPr marL="0" indent="0" algn="ctr">
              <a:buNone/>
            </a:pPr>
            <a:r>
              <a:rPr lang="en-US" sz="1200" b="1" dirty="0">
                <a:solidFill>
                  <a:srgbClr val="1F4E79"/>
                </a:solidFill>
                <a:latin typeface="Calibri" pitchFamily="34" charset="0"/>
                <a:ea typeface="Calibri" pitchFamily="34" charset="-122"/>
                <a:cs typeface="Calibri" pitchFamily="34" charset="-120"/>
              </a:rPr>
              <a:t>Mortality</a:t>
            </a:r>
            <a:endParaRPr lang="en-US" sz="1200" dirty="0"/>
          </a:p>
        </p:txBody>
      </p:sp>
      <p:sp>
        <p:nvSpPr>
          <p:cNvPr id="16" name="Shape 14"/>
          <p:cNvSpPr/>
          <p:nvPr/>
        </p:nvSpPr>
        <p:spPr>
          <a:xfrm>
            <a:off x="4056620" y="1607058"/>
            <a:ext cx="3291840" cy="3447288"/>
          </a:xfrm>
          <a:prstGeom prst="roundRect">
            <a:avLst>
              <a:gd name="adj" fmla="val 2222"/>
            </a:avLst>
          </a:prstGeom>
          <a:solidFill>
            <a:srgbClr val="1F4E79"/>
          </a:solidFill>
          <a:ln/>
        </p:spPr>
        <p:txBody>
          <a:bodyPr/>
          <a:lstStyle/>
          <a:p>
            <a:endParaRPr lang="en-US"/>
          </a:p>
        </p:txBody>
      </p:sp>
      <p:sp>
        <p:nvSpPr>
          <p:cNvPr id="17" name="Text 15"/>
          <p:cNvSpPr/>
          <p:nvPr/>
        </p:nvSpPr>
        <p:spPr>
          <a:xfrm>
            <a:off x="4056620" y="1607058"/>
            <a:ext cx="3291840" cy="34472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Neural</a:t>
            </a:r>
            <a:endParaRPr lang="en-US" sz="1800" dirty="0"/>
          </a:p>
          <a:p>
            <a:pPr marL="0" indent="0" algn="ctr">
              <a:buNone/>
            </a:pPr>
            <a:r>
              <a:rPr lang="en-US" sz="1800" b="1" dirty="0">
                <a:solidFill>
                  <a:srgbClr val="FFFFFF"/>
                </a:solidFill>
                <a:latin typeface="Calibri" pitchFamily="34" charset="0"/>
                <a:ea typeface="Calibri" pitchFamily="34" charset="-122"/>
                <a:cs typeface="Calibri" pitchFamily="34" charset="-120"/>
              </a:rPr>
              <a:t>Network</a:t>
            </a:r>
            <a:endParaRPr lang="en-US" sz="1800" dirty="0"/>
          </a:p>
        </p:txBody>
      </p:sp>
      <p:sp>
        <p:nvSpPr>
          <p:cNvPr id="18" name="Shape 16"/>
          <p:cNvSpPr/>
          <p:nvPr/>
        </p:nvSpPr>
        <p:spPr>
          <a:xfrm>
            <a:off x="4559540" y="2018538"/>
            <a:ext cx="91440" cy="91440"/>
          </a:xfrm>
          <a:prstGeom prst="ellipse">
            <a:avLst/>
          </a:prstGeom>
          <a:solidFill>
            <a:srgbClr val="5F87A8"/>
          </a:solidFill>
          <a:ln/>
        </p:spPr>
        <p:txBody>
          <a:bodyPr/>
          <a:lstStyle/>
          <a:p>
            <a:endParaRPr lang="en-US"/>
          </a:p>
        </p:txBody>
      </p:sp>
      <p:sp>
        <p:nvSpPr>
          <p:cNvPr id="19" name="Shape 17"/>
          <p:cNvSpPr/>
          <p:nvPr/>
        </p:nvSpPr>
        <p:spPr>
          <a:xfrm>
            <a:off x="4559540" y="3284982"/>
            <a:ext cx="91440" cy="91440"/>
          </a:xfrm>
          <a:prstGeom prst="ellipse">
            <a:avLst/>
          </a:prstGeom>
          <a:solidFill>
            <a:srgbClr val="5F87A8"/>
          </a:solidFill>
          <a:ln/>
        </p:spPr>
        <p:txBody>
          <a:bodyPr/>
          <a:lstStyle/>
          <a:p>
            <a:endParaRPr lang="en-US"/>
          </a:p>
        </p:txBody>
      </p:sp>
      <p:sp>
        <p:nvSpPr>
          <p:cNvPr id="20" name="Shape 18"/>
          <p:cNvSpPr/>
          <p:nvPr/>
        </p:nvSpPr>
        <p:spPr>
          <a:xfrm>
            <a:off x="4559540" y="4551426"/>
            <a:ext cx="91440" cy="91440"/>
          </a:xfrm>
          <a:prstGeom prst="ellipse">
            <a:avLst/>
          </a:prstGeom>
          <a:solidFill>
            <a:srgbClr val="5F87A8"/>
          </a:solidFill>
          <a:ln/>
        </p:spPr>
        <p:txBody>
          <a:bodyPr/>
          <a:lstStyle/>
          <a:p>
            <a:endParaRPr lang="en-US"/>
          </a:p>
        </p:txBody>
      </p:sp>
      <p:sp>
        <p:nvSpPr>
          <p:cNvPr id="21" name="Shape 19"/>
          <p:cNvSpPr/>
          <p:nvPr/>
        </p:nvSpPr>
        <p:spPr>
          <a:xfrm>
            <a:off x="5656820" y="2018538"/>
            <a:ext cx="91440" cy="91440"/>
          </a:xfrm>
          <a:prstGeom prst="ellipse">
            <a:avLst/>
          </a:prstGeom>
          <a:solidFill>
            <a:srgbClr val="5F87A8"/>
          </a:solidFill>
          <a:ln/>
        </p:spPr>
        <p:txBody>
          <a:bodyPr/>
          <a:lstStyle/>
          <a:p>
            <a:endParaRPr lang="en-US"/>
          </a:p>
        </p:txBody>
      </p:sp>
      <p:sp>
        <p:nvSpPr>
          <p:cNvPr id="22" name="Shape 20"/>
          <p:cNvSpPr/>
          <p:nvPr/>
        </p:nvSpPr>
        <p:spPr>
          <a:xfrm>
            <a:off x="5656820" y="2862834"/>
            <a:ext cx="91440" cy="91440"/>
          </a:xfrm>
          <a:prstGeom prst="ellipse">
            <a:avLst/>
          </a:prstGeom>
          <a:solidFill>
            <a:srgbClr val="5F87A8"/>
          </a:solidFill>
          <a:ln/>
        </p:spPr>
        <p:txBody>
          <a:bodyPr/>
          <a:lstStyle/>
          <a:p>
            <a:endParaRPr lang="en-US"/>
          </a:p>
        </p:txBody>
      </p:sp>
      <p:sp>
        <p:nvSpPr>
          <p:cNvPr id="23" name="Shape 21"/>
          <p:cNvSpPr/>
          <p:nvPr/>
        </p:nvSpPr>
        <p:spPr>
          <a:xfrm>
            <a:off x="5656820" y="3707130"/>
            <a:ext cx="91440" cy="91440"/>
          </a:xfrm>
          <a:prstGeom prst="ellipse">
            <a:avLst/>
          </a:prstGeom>
          <a:solidFill>
            <a:srgbClr val="5F87A8"/>
          </a:solidFill>
          <a:ln/>
        </p:spPr>
        <p:txBody>
          <a:bodyPr/>
          <a:lstStyle/>
          <a:p>
            <a:endParaRPr lang="en-US"/>
          </a:p>
        </p:txBody>
      </p:sp>
      <p:sp>
        <p:nvSpPr>
          <p:cNvPr id="24" name="Shape 22"/>
          <p:cNvSpPr/>
          <p:nvPr/>
        </p:nvSpPr>
        <p:spPr>
          <a:xfrm>
            <a:off x="5656820" y="4551426"/>
            <a:ext cx="91440" cy="91440"/>
          </a:xfrm>
          <a:prstGeom prst="ellipse">
            <a:avLst/>
          </a:prstGeom>
          <a:solidFill>
            <a:srgbClr val="5F87A8"/>
          </a:solidFill>
          <a:ln/>
        </p:spPr>
        <p:txBody>
          <a:bodyPr/>
          <a:lstStyle/>
          <a:p>
            <a:endParaRPr lang="en-US"/>
          </a:p>
        </p:txBody>
      </p:sp>
      <p:sp>
        <p:nvSpPr>
          <p:cNvPr id="25" name="Shape 23"/>
          <p:cNvSpPr/>
          <p:nvPr/>
        </p:nvSpPr>
        <p:spPr>
          <a:xfrm>
            <a:off x="6754100" y="2018538"/>
            <a:ext cx="91440" cy="91440"/>
          </a:xfrm>
          <a:prstGeom prst="ellipse">
            <a:avLst/>
          </a:prstGeom>
          <a:solidFill>
            <a:srgbClr val="5F87A8"/>
          </a:solidFill>
          <a:ln/>
        </p:spPr>
        <p:txBody>
          <a:bodyPr/>
          <a:lstStyle/>
          <a:p>
            <a:endParaRPr lang="en-US"/>
          </a:p>
        </p:txBody>
      </p:sp>
      <p:sp>
        <p:nvSpPr>
          <p:cNvPr id="26" name="Shape 24"/>
          <p:cNvSpPr/>
          <p:nvPr/>
        </p:nvSpPr>
        <p:spPr>
          <a:xfrm>
            <a:off x="6754100" y="3284982"/>
            <a:ext cx="91440" cy="91440"/>
          </a:xfrm>
          <a:prstGeom prst="ellipse">
            <a:avLst/>
          </a:prstGeom>
          <a:solidFill>
            <a:srgbClr val="5F87A8"/>
          </a:solidFill>
          <a:ln/>
        </p:spPr>
        <p:txBody>
          <a:bodyPr/>
          <a:lstStyle/>
          <a:p>
            <a:endParaRPr lang="en-US"/>
          </a:p>
        </p:txBody>
      </p:sp>
      <p:sp>
        <p:nvSpPr>
          <p:cNvPr id="27" name="Shape 25"/>
          <p:cNvSpPr/>
          <p:nvPr/>
        </p:nvSpPr>
        <p:spPr>
          <a:xfrm>
            <a:off x="6754100" y="4551426"/>
            <a:ext cx="91440" cy="91440"/>
          </a:xfrm>
          <a:prstGeom prst="ellipse">
            <a:avLst/>
          </a:prstGeom>
          <a:solidFill>
            <a:srgbClr val="5F87A8"/>
          </a:solidFill>
          <a:ln/>
        </p:spPr>
        <p:txBody>
          <a:bodyPr/>
          <a:lstStyle/>
          <a:p>
            <a:endParaRPr lang="en-US"/>
          </a:p>
        </p:txBody>
      </p:sp>
      <p:sp>
        <p:nvSpPr>
          <p:cNvPr id="28" name="Text 26"/>
          <p:cNvSpPr/>
          <p:nvPr/>
        </p:nvSpPr>
        <p:spPr>
          <a:xfrm>
            <a:off x="3416540" y="3193542"/>
            <a:ext cx="640080" cy="365760"/>
          </a:xfrm>
          <a:prstGeom prst="rect">
            <a:avLst/>
          </a:prstGeom>
          <a:noFill/>
          <a:ln/>
        </p:spPr>
        <p:txBody>
          <a:bodyPr wrap="square" lIns="0" tIns="0" rIns="0" bIns="0" rtlCol="0" anchor="ctr"/>
          <a:lstStyle/>
          <a:p>
            <a:pPr marL="0" indent="0" algn="ctr">
              <a:buNone/>
            </a:pPr>
            <a:r>
              <a:rPr lang="en-US" sz="1800" dirty="0">
                <a:solidFill>
                  <a:srgbClr val="8C8C8C"/>
                </a:solidFill>
                <a:latin typeface="Calibri" pitchFamily="34" charset="0"/>
                <a:ea typeface="Calibri" pitchFamily="34" charset="-122"/>
                <a:cs typeface="Calibri" pitchFamily="34" charset="-120"/>
              </a:rPr>
              <a:t>→</a:t>
            </a:r>
            <a:endParaRPr lang="en-US" sz="1800" dirty="0"/>
          </a:p>
        </p:txBody>
      </p:sp>
      <p:sp>
        <p:nvSpPr>
          <p:cNvPr id="29" name="Text 27"/>
          <p:cNvSpPr/>
          <p:nvPr/>
        </p:nvSpPr>
        <p:spPr>
          <a:xfrm>
            <a:off x="7348460" y="3193542"/>
            <a:ext cx="640080" cy="365760"/>
          </a:xfrm>
          <a:prstGeom prst="rect">
            <a:avLst/>
          </a:prstGeom>
          <a:noFill/>
          <a:ln/>
        </p:spPr>
        <p:txBody>
          <a:bodyPr wrap="square" lIns="0" tIns="0" rIns="0" bIns="0" rtlCol="0" anchor="ctr"/>
          <a:lstStyle/>
          <a:p>
            <a:pPr marL="0" indent="0" algn="ctr">
              <a:buNone/>
            </a:pPr>
            <a:r>
              <a:rPr lang="en-US" sz="1800" dirty="0">
                <a:solidFill>
                  <a:srgbClr val="8C8C8C"/>
                </a:solidFill>
                <a:latin typeface="Calibri" pitchFamily="34" charset="0"/>
                <a:ea typeface="Calibri" pitchFamily="34" charset="-122"/>
                <a:cs typeface="Calibri" pitchFamily="34" charset="-120"/>
              </a:rPr>
              <a:t>→</a:t>
            </a:r>
            <a:endParaRPr lang="en-US" sz="1800" dirty="0"/>
          </a:p>
        </p:txBody>
      </p:sp>
      <p:sp>
        <p:nvSpPr>
          <p:cNvPr id="30" name="Shape 28"/>
          <p:cNvSpPr/>
          <p:nvPr/>
        </p:nvSpPr>
        <p:spPr>
          <a:xfrm>
            <a:off x="7988540" y="2964942"/>
            <a:ext cx="2011680" cy="731520"/>
          </a:xfrm>
          <a:prstGeom prst="roundRect">
            <a:avLst>
              <a:gd name="adj" fmla="val 8750"/>
            </a:avLst>
          </a:prstGeom>
          <a:solidFill>
            <a:srgbClr val="FDEBE0"/>
          </a:solidFill>
          <a:ln w="12700">
            <a:solidFill>
              <a:srgbClr val="D9D9D9"/>
            </a:solidFill>
            <a:prstDash val="solid"/>
          </a:ln>
        </p:spPr>
        <p:txBody>
          <a:bodyPr/>
          <a:lstStyle/>
          <a:p>
            <a:endParaRPr lang="en-US"/>
          </a:p>
        </p:txBody>
      </p:sp>
      <p:sp>
        <p:nvSpPr>
          <p:cNvPr id="31" name="Text 29"/>
          <p:cNvSpPr/>
          <p:nvPr/>
        </p:nvSpPr>
        <p:spPr>
          <a:xfrm>
            <a:off x="8061692" y="2964942"/>
            <a:ext cx="1865376" cy="731520"/>
          </a:xfrm>
          <a:prstGeom prst="rect">
            <a:avLst/>
          </a:prstGeom>
          <a:noFill/>
          <a:ln/>
        </p:spPr>
        <p:txBody>
          <a:bodyPr wrap="square" lIns="0" tIns="0" rIns="0" bIns="0" rtlCol="0" anchor="ctr"/>
          <a:lstStyle/>
          <a:p>
            <a:pPr marL="0" indent="0" algn="ctr">
              <a:buNone/>
            </a:pPr>
            <a:r>
              <a:rPr lang="en-US" sz="1400" b="1" dirty="0">
                <a:solidFill>
                  <a:srgbClr val="E8743B"/>
                </a:solidFill>
                <a:latin typeface="Calibri" pitchFamily="34" charset="0"/>
                <a:ea typeface="Calibri" pitchFamily="34" charset="-122"/>
                <a:cs typeface="Calibri" pitchFamily="34" charset="-120"/>
              </a:rPr>
              <a:t>Reserve</a:t>
            </a:r>
            <a:endParaRPr lang="en-US" sz="1400" dirty="0"/>
          </a:p>
        </p:txBody>
      </p:sp>
      <p:sp>
        <p:nvSpPr>
          <p:cNvPr id="32" name="Text 30"/>
          <p:cNvSpPr/>
          <p:nvPr/>
        </p:nvSpPr>
        <p:spPr>
          <a:xfrm>
            <a:off x="554468" y="5225796"/>
            <a:ext cx="3657600" cy="274320"/>
          </a:xfrm>
          <a:prstGeom prst="rect">
            <a:avLst/>
          </a:prstGeom>
          <a:noFill/>
          <a:ln/>
        </p:spPr>
        <p:txBody>
          <a:bodyPr wrap="square" lIns="0" tIns="0" rIns="0" bIns="0" rtlCol="0" anchor="ctr"/>
          <a:lstStyle/>
          <a:p>
            <a:pPr marL="0" indent="0">
              <a:buNone/>
            </a:pPr>
            <a:r>
              <a:rPr lang="en-US" sz="1100" b="1" kern="0" spc="150" dirty="0">
                <a:solidFill>
                  <a:srgbClr val="8C8C8C"/>
                </a:solidFill>
                <a:latin typeface="Calibri" pitchFamily="34" charset="0"/>
                <a:ea typeface="Calibri" pitchFamily="34" charset="-122"/>
                <a:cs typeface="Calibri" pitchFamily="34" charset="-120"/>
              </a:rPr>
              <a:t>TRAINING LOSSES</a:t>
            </a:r>
            <a:endParaRPr lang="en-US" sz="1100" dirty="0"/>
          </a:p>
        </p:txBody>
      </p:sp>
      <p:sp>
        <p:nvSpPr>
          <p:cNvPr id="33" name="Shape 31"/>
          <p:cNvSpPr/>
          <p:nvPr/>
        </p:nvSpPr>
        <p:spPr>
          <a:xfrm>
            <a:off x="554468" y="5591556"/>
            <a:ext cx="1764792" cy="594360"/>
          </a:xfrm>
          <a:prstGeom prst="roundRect">
            <a:avLst>
              <a:gd name="adj" fmla="val 10769"/>
            </a:avLst>
          </a:prstGeom>
          <a:solidFill>
            <a:srgbClr val="F2F2F2"/>
          </a:solidFill>
          <a:ln w="12700">
            <a:solidFill>
              <a:srgbClr val="D9D9D9"/>
            </a:solidFill>
            <a:prstDash val="solid"/>
          </a:ln>
        </p:spPr>
        <p:txBody>
          <a:bodyPr/>
          <a:lstStyle/>
          <a:p>
            <a:endParaRPr lang="en-US"/>
          </a:p>
        </p:txBody>
      </p:sp>
      <p:sp>
        <p:nvSpPr>
          <p:cNvPr id="34" name="Text 32"/>
          <p:cNvSpPr/>
          <p:nvPr/>
        </p:nvSpPr>
        <p:spPr>
          <a:xfrm>
            <a:off x="627620" y="5591556"/>
            <a:ext cx="1618488" cy="594360"/>
          </a:xfrm>
          <a:prstGeom prst="rect">
            <a:avLst/>
          </a:prstGeom>
          <a:noFill/>
          <a:ln/>
        </p:spPr>
        <p:txBody>
          <a:bodyPr wrap="square" lIns="0" tIns="0" rIns="0" bIns="0" rtlCol="0" anchor="ctr"/>
          <a:lstStyle/>
          <a:p>
            <a:pPr marL="0" indent="0" algn="ctr">
              <a:buNone/>
            </a:pPr>
            <a:r>
              <a:rPr lang="en-US" sz="1050" b="1" dirty="0">
                <a:solidFill>
                  <a:srgbClr val="1F4E79"/>
                </a:solidFill>
                <a:latin typeface="Calibri" pitchFamily="34" charset="0"/>
                <a:ea typeface="Calibri" pitchFamily="34" charset="-122"/>
                <a:cs typeface="Calibri" pitchFamily="34" charset="-120"/>
              </a:rPr>
              <a:t>Data Loss</a:t>
            </a:r>
            <a:endParaRPr lang="en-US" sz="1050" dirty="0"/>
          </a:p>
        </p:txBody>
      </p:sp>
      <p:sp>
        <p:nvSpPr>
          <p:cNvPr id="35" name="Shape 33"/>
          <p:cNvSpPr/>
          <p:nvPr/>
        </p:nvSpPr>
        <p:spPr>
          <a:xfrm>
            <a:off x="2438132" y="5591556"/>
            <a:ext cx="1764792" cy="594360"/>
          </a:xfrm>
          <a:prstGeom prst="roundRect">
            <a:avLst>
              <a:gd name="adj" fmla="val 10769"/>
            </a:avLst>
          </a:prstGeom>
          <a:solidFill>
            <a:srgbClr val="F2F2F2"/>
          </a:solidFill>
          <a:ln w="12700">
            <a:solidFill>
              <a:srgbClr val="D9D9D9"/>
            </a:solidFill>
            <a:prstDash val="solid"/>
          </a:ln>
        </p:spPr>
        <p:txBody>
          <a:bodyPr/>
          <a:lstStyle/>
          <a:p>
            <a:endParaRPr lang="en-US"/>
          </a:p>
        </p:txBody>
      </p:sp>
      <p:sp>
        <p:nvSpPr>
          <p:cNvPr id="36" name="Text 34"/>
          <p:cNvSpPr/>
          <p:nvPr/>
        </p:nvSpPr>
        <p:spPr>
          <a:xfrm>
            <a:off x="2511284" y="5591556"/>
            <a:ext cx="1618488" cy="594360"/>
          </a:xfrm>
          <a:prstGeom prst="rect">
            <a:avLst/>
          </a:prstGeom>
          <a:noFill/>
          <a:ln/>
        </p:spPr>
        <p:txBody>
          <a:bodyPr wrap="square" lIns="0" tIns="0" rIns="0" bIns="0" rtlCol="0" anchor="ctr"/>
          <a:lstStyle/>
          <a:p>
            <a:pPr marL="0" indent="0" algn="ctr">
              <a:buNone/>
            </a:pPr>
            <a:r>
              <a:rPr lang="en-US" sz="1050" b="1" dirty="0">
                <a:solidFill>
                  <a:srgbClr val="1F4E79"/>
                </a:solidFill>
                <a:latin typeface="Calibri" pitchFamily="34" charset="0"/>
                <a:ea typeface="Calibri" pitchFamily="34" charset="-122"/>
                <a:cs typeface="Calibri" pitchFamily="34" charset="-120"/>
              </a:rPr>
              <a:t>PDE Loss</a:t>
            </a:r>
            <a:endParaRPr lang="en-US" sz="1050" dirty="0"/>
          </a:p>
        </p:txBody>
      </p:sp>
      <p:sp>
        <p:nvSpPr>
          <p:cNvPr id="37" name="Shape 35"/>
          <p:cNvSpPr/>
          <p:nvPr/>
        </p:nvSpPr>
        <p:spPr>
          <a:xfrm>
            <a:off x="4321796" y="5591556"/>
            <a:ext cx="1764792" cy="594360"/>
          </a:xfrm>
          <a:prstGeom prst="roundRect">
            <a:avLst>
              <a:gd name="adj" fmla="val 10769"/>
            </a:avLst>
          </a:prstGeom>
          <a:solidFill>
            <a:srgbClr val="F2F2F2"/>
          </a:solidFill>
          <a:ln w="12700">
            <a:solidFill>
              <a:srgbClr val="D9D9D9"/>
            </a:solidFill>
            <a:prstDash val="solid"/>
          </a:ln>
        </p:spPr>
        <p:txBody>
          <a:bodyPr/>
          <a:lstStyle/>
          <a:p>
            <a:endParaRPr lang="en-US"/>
          </a:p>
        </p:txBody>
      </p:sp>
      <p:sp>
        <p:nvSpPr>
          <p:cNvPr id="38" name="Text 36"/>
          <p:cNvSpPr/>
          <p:nvPr/>
        </p:nvSpPr>
        <p:spPr>
          <a:xfrm>
            <a:off x="4394948" y="5591556"/>
            <a:ext cx="1618488" cy="594360"/>
          </a:xfrm>
          <a:prstGeom prst="rect">
            <a:avLst/>
          </a:prstGeom>
          <a:noFill/>
          <a:ln/>
        </p:spPr>
        <p:txBody>
          <a:bodyPr wrap="square" lIns="0" tIns="0" rIns="0" bIns="0" rtlCol="0" anchor="ctr"/>
          <a:lstStyle/>
          <a:p>
            <a:pPr marL="0" indent="0" algn="ctr">
              <a:buNone/>
            </a:pPr>
            <a:r>
              <a:rPr lang="en-US" sz="1050" b="1" dirty="0">
                <a:solidFill>
                  <a:srgbClr val="1F4E79"/>
                </a:solidFill>
                <a:latin typeface="Calibri" pitchFamily="34" charset="0"/>
                <a:ea typeface="Calibri" pitchFamily="34" charset="-122"/>
                <a:cs typeface="Calibri" pitchFamily="34" charset="-120"/>
              </a:rPr>
              <a:t>Boundary Loss</a:t>
            </a:r>
            <a:endParaRPr lang="en-US" sz="1050" dirty="0"/>
          </a:p>
        </p:txBody>
      </p:sp>
      <p:sp>
        <p:nvSpPr>
          <p:cNvPr id="39" name="Shape 37"/>
          <p:cNvSpPr/>
          <p:nvPr/>
        </p:nvSpPr>
        <p:spPr>
          <a:xfrm>
            <a:off x="6205460" y="5591556"/>
            <a:ext cx="1764792" cy="594360"/>
          </a:xfrm>
          <a:prstGeom prst="roundRect">
            <a:avLst>
              <a:gd name="adj" fmla="val 10769"/>
            </a:avLst>
          </a:prstGeom>
          <a:solidFill>
            <a:srgbClr val="F2F2F2"/>
          </a:solidFill>
          <a:ln w="12700">
            <a:solidFill>
              <a:srgbClr val="D9D9D9"/>
            </a:solidFill>
            <a:prstDash val="solid"/>
          </a:ln>
        </p:spPr>
        <p:txBody>
          <a:bodyPr/>
          <a:lstStyle/>
          <a:p>
            <a:endParaRPr lang="en-US"/>
          </a:p>
        </p:txBody>
      </p:sp>
      <p:sp>
        <p:nvSpPr>
          <p:cNvPr id="40" name="Text 38"/>
          <p:cNvSpPr/>
          <p:nvPr/>
        </p:nvSpPr>
        <p:spPr>
          <a:xfrm>
            <a:off x="6278612" y="5591556"/>
            <a:ext cx="1618488" cy="594360"/>
          </a:xfrm>
          <a:prstGeom prst="rect">
            <a:avLst/>
          </a:prstGeom>
          <a:noFill/>
          <a:ln/>
        </p:spPr>
        <p:txBody>
          <a:bodyPr wrap="square" lIns="0" tIns="0" rIns="0" bIns="0" rtlCol="0" anchor="ctr"/>
          <a:lstStyle/>
          <a:p>
            <a:pPr marL="0" indent="0" algn="ctr">
              <a:buNone/>
            </a:pPr>
            <a:r>
              <a:rPr lang="en-US" sz="1050" b="1" dirty="0">
                <a:solidFill>
                  <a:srgbClr val="1F4E79"/>
                </a:solidFill>
                <a:latin typeface="Calibri" pitchFamily="34" charset="0"/>
                <a:ea typeface="Calibri" pitchFamily="34" charset="-122"/>
                <a:cs typeface="Calibri" pitchFamily="34" charset="-120"/>
              </a:rPr>
              <a:t>Monotonicity</a:t>
            </a:r>
            <a:endParaRPr lang="en-US" sz="1050" dirty="0"/>
          </a:p>
        </p:txBody>
      </p:sp>
      <p:sp>
        <p:nvSpPr>
          <p:cNvPr id="41" name="Shape 39"/>
          <p:cNvSpPr/>
          <p:nvPr/>
        </p:nvSpPr>
        <p:spPr>
          <a:xfrm>
            <a:off x="8089124" y="5591556"/>
            <a:ext cx="1764792" cy="594360"/>
          </a:xfrm>
          <a:prstGeom prst="roundRect">
            <a:avLst>
              <a:gd name="adj" fmla="val 10769"/>
            </a:avLst>
          </a:prstGeom>
          <a:solidFill>
            <a:srgbClr val="F2F2F2"/>
          </a:solidFill>
          <a:ln w="12700">
            <a:solidFill>
              <a:srgbClr val="D9D9D9"/>
            </a:solidFill>
            <a:prstDash val="solid"/>
          </a:ln>
        </p:spPr>
        <p:txBody>
          <a:bodyPr/>
          <a:lstStyle/>
          <a:p>
            <a:endParaRPr lang="en-US"/>
          </a:p>
        </p:txBody>
      </p:sp>
      <p:sp>
        <p:nvSpPr>
          <p:cNvPr id="42" name="Text 40"/>
          <p:cNvSpPr/>
          <p:nvPr/>
        </p:nvSpPr>
        <p:spPr>
          <a:xfrm>
            <a:off x="8162276" y="5591556"/>
            <a:ext cx="1618488" cy="594360"/>
          </a:xfrm>
          <a:prstGeom prst="rect">
            <a:avLst/>
          </a:prstGeom>
          <a:noFill/>
          <a:ln/>
        </p:spPr>
        <p:txBody>
          <a:bodyPr wrap="square" lIns="0" tIns="0" rIns="0" bIns="0" rtlCol="0" anchor="ctr"/>
          <a:lstStyle/>
          <a:p>
            <a:pPr marL="0" indent="0" algn="ctr">
              <a:buNone/>
            </a:pPr>
            <a:r>
              <a:rPr lang="en-US" sz="1050" b="1" dirty="0">
                <a:solidFill>
                  <a:srgbClr val="1F4E79"/>
                </a:solidFill>
                <a:latin typeface="Calibri" pitchFamily="34" charset="0"/>
                <a:ea typeface="Calibri" pitchFamily="34" charset="-122"/>
                <a:cs typeface="Calibri" pitchFamily="34" charset="-120"/>
              </a:rPr>
              <a:t>Smoothness</a:t>
            </a:r>
            <a:endParaRPr lang="en-US" sz="1050" dirty="0"/>
          </a:p>
        </p:txBody>
      </p:sp>
      <p:sp>
        <p:nvSpPr>
          <p:cNvPr id="43" name="Shape 41"/>
          <p:cNvSpPr/>
          <p:nvPr/>
        </p:nvSpPr>
        <p:spPr>
          <a:xfrm>
            <a:off x="9972788" y="5591556"/>
            <a:ext cx="1764792" cy="594360"/>
          </a:xfrm>
          <a:prstGeom prst="roundRect">
            <a:avLst>
              <a:gd name="adj" fmla="val 10769"/>
            </a:avLst>
          </a:prstGeom>
          <a:solidFill>
            <a:srgbClr val="F2F2F2"/>
          </a:solidFill>
          <a:ln w="12700">
            <a:solidFill>
              <a:srgbClr val="D9D9D9"/>
            </a:solidFill>
            <a:prstDash val="solid"/>
          </a:ln>
        </p:spPr>
        <p:txBody>
          <a:bodyPr/>
          <a:lstStyle/>
          <a:p>
            <a:endParaRPr lang="en-US"/>
          </a:p>
        </p:txBody>
      </p:sp>
      <p:sp>
        <p:nvSpPr>
          <p:cNvPr id="44" name="Text 42"/>
          <p:cNvSpPr/>
          <p:nvPr/>
        </p:nvSpPr>
        <p:spPr>
          <a:xfrm>
            <a:off x="10045940" y="5591556"/>
            <a:ext cx="1618488" cy="594360"/>
          </a:xfrm>
          <a:prstGeom prst="rect">
            <a:avLst/>
          </a:prstGeom>
          <a:noFill/>
          <a:ln/>
        </p:spPr>
        <p:txBody>
          <a:bodyPr wrap="square" lIns="0" tIns="0" rIns="0" bIns="0" rtlCol="0" anchor="ctr"/>
          <a:lstStyle/>
          <a:p>
            <a:pPr marL="0" indent="0" algn="ctr">
              <a:buNone/>
            </a:pPr>
            <a:r>
              <a:rPr lang="en-US" sz="1050" b="1" dirty="0">
                <a:solidFill>
                  <a:srgbClr val="1F4E79"/>
                </a:solidFill>
                <a:latin typeface="Calibri" pitchFamily="34" charset="0"/>
                <a:ea typeface="Calibri" pitchFamily="34" charset="-122"/>
                <a:cs typeface="Calibri" pitchFamily="34" charset="-120"/>
              </a:rPr>
              <a:t>Regularization</a:t>
            </a:r>
            <a:endParaRPr lang="en-US" sz="1050" dirty="0"/>
          </a:p>
        </p:txBody>
      </p:sp>
      <p:sp>
        <p:nvSpPr>
          <p:cNvPr id="45" name="Text 43"/>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46" name="Text 44"/>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Evaluation Framework</a:t>
            </a:r>
            <a:endParaRPr lang="en-US" sz="2800" dirty="0"/>
          </a:p>
        </p:txBody>
      </p:sp>
      <p:sp>
        <p:nvSpPr>
          <p:cNvPr id="4" name="Text 2"/>
          <p:cNvSpPr/>
          <p:nvPr/>
        </p:nvSpPr>
        <p:spPr>
          <a:xfrm>
            <a:off x="640080" y="1645920"/>
            <a:ext cx="36576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METRICS</a:t>
            </a:r>
            <a:endParaRPr lang="en-US" sz="1200" dirty="0"/>
          </a:p>
        </p:txBody>
      </p:sp>
      <p:sp>
        <p:nvSpPr>
          <p:cNvPr id="5" name="Text 3"/>
          <p:cNvSpPr/>
          <p:nvPr/>
        </p:nvSpPr>
        <p:spPr>
          <a:xfrm>
            <a:off x="640080" y="1993392"/>
            <a:ext cx="4937760" cy="15544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MSE</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RMSE</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MAE</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R²</a:t>
            </a:r>
            <a:endParaRPr lang="en-US" sz="1600" dirty="0"/>
          </a:p>
        </p:txBody>
      </p:sp>
      <p:sp>
        <p:nvSpPr>
          <p:cNvPr id="6" name="Text 4"/>
          <p:cNvSpPr/>
          <p:nvPr/>
        </p:nvSpPr>
        <p:spPr>
          <a:xfrm>
            <a:off x="640080" y="3657600"/>
            <a:ext cx="36576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VALIDATION</a:t>
            </a:r>
            <a:endParaRPr lang="en-US" sz="1200" dirty="0"/>
          </a:p>
        </p:txBody>
      </p:sp>
      <p:sp>
        <p:nvSpPr>
          <p:cNvPr id="7" name="Text 5"/>
          <p:cNvSpPr/>
          <p:nvPr/>
        </p:nvSpPr>
        <p:spPr>
          <a:xfrm>
            <a:off x="640080" y="4005072"/>
            <a:ext cx="2414619" cy="155448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Classical Solver Comparison</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Reserve Trajectory</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Prediction Accuracy</a:t>
            </a:r>
            <a:endParaRPr lang="en-US" sz="1600" dirty="0"/>
          </a:p>
        </p:txBody>
      </p:sp>
      <p:sp>
        <p:nvSpPr>
          <p:cNvPr id="9" name="Text 6"/>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10" name="Text 7"/>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11</a:t>
            </a:r>
            <a:endParaRPr lang="en-US" sz="900" dirty="0"/>
          </a:p>
        </p:txBody>
      </p:sp>
      <p:pic>
        <p:nvPicPr>
          <p:cNvPr id="12" name="Picture 11">
            <a:extLst>
              <a:ext uri="{FF2B5EF4-FFF2-40B4-BE49-F238E27FC236}">
                <a16:creationId xmlns:a16="http://schemas.microsoft.com/office/drawing/2014/main" id="{FB13646E-B517-FB0E-167F-CA1EBABD3917}"/>
              </a:ext>
            </a:extLst>
          </p:cNvPr>
          <p:cNvPicPr>
            <a:picLocks noChangeAspect="1"/>
          </p:cNvPicPr>
          <p:nvPr/>
        </p:nvPicPr>
        <p:blipFill>
          <a:blip r:embed="rId3"/>
          <a:stretch>
            <a:fillRect/>
          </a:stretch>
        </p:blipFill>
        <p:spPr>
          <a:xfrm>
            <a:off x="3054699" y="1092401"/>
            <a:ext cx="8686970" cy="53815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565F62-86C9-3398-0F0B-A9BE25804FC1}"/>
              </a:ext>
            </a:extLst>
          </p:cNvPr>
          <p:cNvSpPr txBox="1"/>
          <p:nvPr/>
        </p:nvSpPr>
        <p:spPr>
          <a:xfrm>
            <a:off x="3048886" y="3244334"/>
            <a:ext cx="6097772" cy="369332"/>
          </a:xfrm>
          <a:prstGeom prst="rect">
            <a:avLst/>
          </a:prstGeom>
          <a:noFill/>
        </p:spPr>
        <p:txBody>
          <a:bodyPr wrap="square">
            <a:spAutoFit/>
          </a:bodyPr>
          <a:lstStyle/>
          <a:p>
            <a:endParaRPr lang="en-US" dirty="0"/>
          </a:p>
        </p:txBody>
      </p:sp>
      <p:sp>
        <p:nvSpPr>
          <p:cNvPr id="7" name="TextBox 6">
            <a:extLst>
              <a:ext uri="{FF2B5EF4-FFF2-40B4-BE49-F238E27FC236}">
                <a16:creationId xmlns:a16="http://schemas.microsoft.com/office/drawing/2014/main" id="{A46779EE-EDC1-33EA-AC40-5665182E1369}"/>
              </a:ext>
            </a:extLst>
          </p:cNvPr>
          <p:cNvSpPr txBox="1"/>
          <p:nvPr/>
        </p:nvSpPr>
        <p:spPr>
          <a:xfrm>
            <a:off x="3048886" y="3244334"/>
            <a:ext cx="6097772" cy="369332"/>
          </a:xfrm>
          <a:prstGeom prst="rect">
            <a:avLst/>
          </a:prstGeom>
          <a:noFill/>
        </p:spPr>
        <p:txBody>
          <a:bodyPr wrap="square">
            <a:spAutoFit/>
          </a:bodyPr>
          <a:lstStyle/>
          <a:p>
            <a:endParaRPr lang="en-US" dirty="0"/>
          </a:p>
        </p:txBody>
      </p:sp>
      <p:sp>
        <p:nvSpPr>
          <p:cNvPr id="9" name="TextBox 8">
            <a:extLst>
              <a:ext uri="{FF2B5EF4-FFF2-40B4-BE49-F238E27FC236}">
                <a16:creationId xmlns:a16="http://schemas.microsoft.com/office/drawing/2014/main" id="{975D263E-0844-0213-874F-D730F04C37A1}"/>
              </a:ext>
            </a:extLst>
          </p:cNvPr>
          <p:cNvSpPr txBox="1"/>
          <p:nvPr/>
        </p:nvSpPr>
        <p:spPr>
          <a:xfrm>
            <a:off x="3048886" y="3244334"/>
            <a:ext cx="6097772" cy="369332"/>
          </a:xfrm>
          <a:prstGeom prst="rect">
            <a:avLst/>
          </a:prstGeom>
          <a:noFill/>
        </p:spPr>
        <p:txBody>
          <a:bodyPr wrap="square">
            <a:spAutoFit/>
          </a:bodyPr>
          <a:lstStyle/>
          <a:p>
            <a:endParaRPr lang="en-US" dirty="0"/>
          </a:p>
        </p:txBody>
      </p:sp>
      <p:sp>
        <p:nvSpPr>
          <p:cNvPr id="11" name="TextBox 10">
            <a:extLst>
              <a:ext uri="{FF2B5EF4-FFF2-40B4-BE49-F238E27FC236}">
                <a16:creationId xmlns:a16="http://schemas.microsoft.com/office/drawing/2014/main" id="{98C2E166-DE45-20B2-FA71-E040896247F2}"/>
              </a:ext>
            </a:extLst>
          </p:cNvPr>
          <p:cNvSpPr txBox="1"/>
          <p:nvPr/>
        </p:nvSpPr>
        <p:spPr>
          <a:xfrm>
            <a:off x="3048886" y="3244334"/>
            <a:ext cx="6097772" cy="369332"/>
          </a:xfrm>
          <a:prstGeom prst="rect">
            <a:avLst/>
          </a:prstGeom>
          <a:noFill/>
        </p:spPr>
        <p:txBody>
          <a:bodyPr wrap="square">
            <a:spAutoFit/>
          </a:bodyPr>
          <a:lstStyle/>
          <a:p>
            <a:endParaRPr lang="en-US" dirty="0"/>
          </a:p>
        </p:txBody>
      </p:sp>
      <p:sp>
        <p:nvSpPr>
          <p:cNvPr id="13" name="TextBox 12">
            <a:extLst>
              <a:ext uri="{FF2B5EF4-FFF2-40B4-BE49-F238E27FC236}">
                <a16:creationId xmlns:a16="http://schemas.microsoft.com/office/drawing/2014/main" id="{3E6CA235-B83B-E4A2-9967-28CEA2E7B13D}"/>
              </a:ext>
            </a:extLst>
          </p:cNvPr>
          <p:cNvSpPr txBox="1"/>
          <p:nvPr/>
        </p:nvSpPr>
        <p:spPr>
          <a:xfrm>
            <a:off x="3048886" y="3244334"/>
            <a:ext cx="6097772" cy="369332"/>
          </a:xfrm>
          <a:prstGeom prst="rect">
            <a:avLst/>
          </a:prstGeom>
          <a:noFill/>
        </p:spPr>
        <p:txBody>
          <a:bodyPr wrap="square">
            <a:spAutoFit/>
          </a:bodyPr>
          <a:lstStyle/>
          <a:p>
            <a:endParaRPr lang="en-US" dirty="0"/>
          </a:p>
        </p:txBody>
      </p:sp>
      <p:sp>
        <p:nvSpPr>
          <p:cNvPr id="15" name="TextBox 14">
            <a:extLst>
              <a:ext uri="{FF2B5EF4-FFF2-40B4-BE49-F238E27FC236}">
                <a16:creationId xmlns:a16="http://schemas.microsoft.com/office/drawing/2014/main" id="{1D889BEB-0A24-5B32-B342-92FDB5FB8891}"/>
              </a:ext>
            </a:extLst>
          </p:cNvPr>
          <p:cNvSpPr txBox="1"/>
          <p:nvPr/>
        </p:nvSpPr>
        <p:spPr>
          <a:xfrm>
            <a:off x="3048886" y="3244334"/>
            <a:ext cx="6097772" cy="369332"/>
          </a:xfrm>
          <a:prstGeom prst="rect">
            <a:avLst/>
          </a:prstGeom>
          <a:noFill/>
        </p:spPr>
        <p:txBody>
          <a:bodyPr wrap="square">
            <a:spAutoFit/>
          </a:bodyPr>
          <a:lstStyle/>
          <a:p>
            <a:endParaRPr lang="en-US" dirty="0"/>
          </a:p>
        </p:txBody>
      </p:sp>
      <p:sp>
        <p:nvSpPr>
          <p:cNvPr id="17" name="TextBox 16">
            <a:extLst>
              <a:ext uri="{FF2B5EF4-FFF2-40B4-BE49-F238E27FC236}">
                <a16:creationId xmlns:a16="http://schemas.microsoft.com/office/drawing/2014/main" id="{E88BCAC3-CA90-4D60-3B3A-FF2054D8DEDC}"/>
              </a:ext>
            </a:extLst>
          </p:cNvPr>
          <p:cNvSpPr txBox="1"/>
          <p:nvPr/>
        </p:nvSpPr>
        <p:spPr>
          <a:xfrm>
            <a:off x="3048886" y="3244334"/>
            <a:ext cx="6097772" cy="369332"/>
          </a:xfrm>
          <a:prstGeom prst="rect">
            <a:avLst/>
          </a:prstGeom>
          <a:noFill/>
        </p:spPr>
        <p:txBody>
          <a:bodyPr wrap="square">
            <a:spAutoFit/>
          </a:bodyPr>
          <a:lstStyle/>
          <a:p>
            <a:endParaRPr lang="en-US" dirty="0"/>
          </a:p>
        </p:txBody>
      </p:sp>
      <p:sp>
        <p:nvSpPr>
          <p:cNvPr id="19" name="TextBox 18">
            <a:extLst>
              <a:ext uri="{FF2B5EF4-FFF2-40B4-BE49-F238E27FC236}">
                <a16:creationId xmlns:a16="http://schemas.microsoft.com/office/drawing/2014/main" id="{DC334D7A-7C81-A1DA-0582-2EDAACC1EB7C}"/>
              </a:ext>
            </a:extLst>
          </p:cNvPr>
          <p:cNvSpPr txBox="1"/>
          <p:nvPr/>
        </p:nvSpPr>
        <p:spPr>
          <a:xfrm>
            <a:off x="3048886" y="3244334"/>
            <a:ext cx="6097772" cy="369332"/>
          </a:xfrm>
          <a:prstGeom prst="rect">
            <a:avLst/>
          </a:prstGeom>
          <a:noFill/>
        </p:spPr>
        <p:txBody>
          <a:bodyPr wrap="square">
            <a:spAutoFit/>
          </a:bodyPr>
          <a:lstStyle/>
          <a:p>
            <a:endParaRPr lang="en-US" dirty="0"/>
          </a:p>
        </p:txBody>
      </p:sp>
      <p:sp>
        <p:nvSpPr>
          <p:cNvPr id="21" name="TextBox 20">
            <a:extLst>
              <a:ext uri="{FF2B5EF4-FFF2-40B4-BE49-F238E27FC236}">
                <a16:creationId xmlns:a16="http://schemas.microsoft.com/office/drawing/2014/main" id="{32D068A8-8344-9B1D-1B83-9B65AA0DB5ED}"/>
              </a:ext>
            </a:extLst>
          </p:cNvPr>
          <p:cNvSpPr txBox="1"/>
          <p:nvPr/>
        </p:nvSpPr>
        <p:spPr>
          <a:xfrm>
            <a:off x="3048886" y="3244334"/>
            <a:ext cx="6097772" cy="369332"/>
          </a:xfrm>
          <a:prstGeom prst="rect">
            <a:avLst/>
          </a:prstGeom>
          <a:noFill/>
        </p:spPr>
        <p:txBody>
          <a:bodyPr wrap="square">
            <a:spAutoFit/>
          </a:bodyPr>
          <a:lstStyle/>
          <a:p>
            <a:endParaRPr lang="en-US" dirty="0"/>
          </a:p>
        </p:txBody>
      </p:sp>
      <p:pic>
        <p:nvPicPr>
          <p:cNvPr id="23" name="Picture 22">
            <a:extLst>
              <a:ext uri="{FF2B5EF4-FFF2-40B4-BE49-F238E27FC236}">
                <a16:creationId xmlns:a16="http://schemas.microsoft.com/office/drawing/2014/main" id="{1058AA5A-3A15-1E47-E32D-D894B463CB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64" y="0"/>
            <a:ext cx="12105272" cy="6858000"/>
          </a:xfrm>
          <a:prstGeom prst="rect">
            <a:avLst/>
          </a:prstGeom>
        </p:spPr>
      </p:pic>
    </p:spTree>
    <p:extLst>
      <p:ext uri="{BB962C8B-B14F-4D97-AF65-F5344CB8AC3E}">
        <p14:creationId xmlns:p14="http://schemas.microsoft.com/office/powerpoint/2010/main" val="849031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EAF1F8"/>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SENSITIVITY ANALYSIS</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Sensitivity Analysis</a:t>
            </a:r>
            <a:endParaRPr lang="en-US" sz="2800" dirty="0"/>
          </a:p>
        </p:txBody>
      </p:sp>
      <p:sp>
        <p:nvSpPr>
          <p:cNvPr id="4" name="Text 2"/>
          <p:cNvSpPr/>
          <p:nvPr/>
        </p:nvSpPr>
        <p:spPr>
          <a:xfrm>
            <a:off x="640080" y="1645920"/>
            <a:ext cx="54864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BUSINESS QUESTION</a:t>
            </a:r>
            <a:endParaRPr lang="en-US" sz="1200" dirty="0"/>
          </a:p>
        </p:txBody>
      </p:sp>
      <p:sp>
        <p:nvSpPr>
          <p:cNvPr id="5" name="Text 3"/>
          <p:cNvSpPr/>
          <p:nvPr/>
        </p:nvSpPr>
        <p:spPr>
          <a:xfrm>
            <a:off x="640080" y="1965960"/>
            <a:ext cx="5120640" cy="548640"/>
          </a:xfrm>
          <a:prstGeom prst="rect">
            <a:avLst/>
          </a:prstGeom>
          <a:noFill/>
          <a:ln/>
        </p:spPr>
        <p:txBody>
          <a:bodyPr wrap="square" lIns="0" tIns="0" rIns="0" bIns="0" rtlCol="0" anchor="t"/>
          <a:lstStyle/>
          <a:p>
            <a:pPr marL="0" indent="0" algn="l">
              <a:buNone/>
            </a:pPr>
            <a:r>
              <a:rPr lang="en-US" sz="1600" dirty="0">
                <a:solidFill>
                  <a:srgbClr val="444444"/>
                </a:solidFill>
                <a:latin typeface="Calibri" pitchFamily="34" charset="0"/>
                <a:ea typeface="Calibri" pitchFamily="34" charset="-122"/>
                <a:cs typeface="Calibri" pitchFamily="34" charset="-120"/>
              </a:rPr>
              <a:t>How does reserve change when one assumption changes?</a:t>
            </a:r>
            <a:endParaRPr lang="en-US" sz="1600" dirty="0"/>
          </a:p>
        </p:txBody>
      </p:sp>
      <p:sp>
        <p:nvSpPr>
          <p:cNvPr id="6" name="Text 4"/>
          <p:cNvSpPr/>
          <p:nvPr/>
        </p:nvSpPr>
        <p:spPr>
          <a:xfrm>
            <a:off x="640080" y="2743200"/>
            <a:ext cx="5120640" cy="365760"/>
          </a:xfrm>
          <a:prstGeom prst="rect">
            <a:avLst/>
          </a:prstGeom>
          <a:noFill/>
          <a:ln/>
        </p:spPr>
        <p:txBody>
          <a:bodyPr wrap="square" lIns="0" tIns="0" rIns="0" bIns="0" rtlCol="0" anchor="ctr"/>
          <a:lstStyle/>
          <a:p>
            <a:pPr marL="0" indent="0" algn="l">
              <a:buNone/>
            </a:pPr>
            <a:r>
              <a:rPr lang="en-US" sz="1550" b="1" dirty="0">
                <a:solidFill>
                  <a:srgbClr val="1F4E79"/>
                </a:solidFill>
                <a:latin typeface="Calibri" pitchFamily="34" charset="0"/>
                <a:ea typeface="Calibri" pitchFamily="34" charset="-122"/>
                <a:cs typeface="Calibri" pitchFamily="34" charset="-120"/>
              </a:rPr>
              <a:t>Reference Policy</a:t>
            </a:r>
            <a:endParaRPr lang="en-US" sz="1550" dirty="0"/>
          </a:p>
        </p:txBody>
      </p:sp>
      <p:sp>
        <p:nvSpPr>
          <p:cNvPr id="7" name="Text 5"/>
          <p:cNvSpPr/>
          <p:nvPr/>
        </p:nvSpPr>
        <p:spPr>
          <a:xfrm>
            <a:off x="640080" y="3090672"/>
            <a:ext cx="5120640" cy="219456"/>
          </a:xfrm>
          <a:prstGeom prst="rect">
            <a:avLst/>
          </a:prstGeom>
          <a:noFill/>
          <a:ln/>
        </p:spPr>
        <p:txBody>
          <a:bodyPr wrap="square" lIns="0" tIns="0" rIns="0" bIns="0" rtlCol="0" anchor="ctr"/>
          <a:lstStyle/>
          <a:p>
            <a:pPr marL="0" indent="0" algn="l">
              <a:buNone/>
            </a:pPr>
            <a:r>
              <a:rPr lang="en-US" sz="1300" dirty="0">
                <a:solidFill>
                  <a:srgbClr val="8C8C8C"/>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640080" y="3364992"/>
            <a:ext cx="5120640" cy="365760"/>
          </a:xfrm>
          <a:prstGeom prst="rect">
            <a:avLst/>
          </a:prstGeom>
          <a:noFill/>
          <a:ln/>
        </p:spPr>
        <p:txBody>
          <a:bodyPr wrap="square" lIns="0" tIns="0" rIns="0" bIns="0" rtlCol="0" anchor="ctr"/>
          <a:lstStyle/>
          <a:p>
            <a:pPr marL="0" indent="0" algn="l">
              <a:buNone/>
            </a:pPr>
            <a:r>
              <a:rPr lang="en-US" sz="1550" b="1" dirty="0">
                <a:solidFill>
                  <a:srgbClr val="1F4E79"/>
                </a:solidFill>
                <a:latin typeface="Calibri" pitchFamily="34" charset="0"/>
                <a:ea typeface="Calibri" pitchFamily="34" charset="-122"/>
                <a:cs typeface="Calibri" pitchFamily="34" charset="-120"/>
              </a:rPr>
              <a:t>Perturb ONE variable</a:t>
            </a:r>
            <a:endParaRPr lang="en-US" sz="1550" dirty="0"/>
          </a:p>
        </p:txBody>
      </p:sp>
      <p:sp>
        <p:nvSpPr>
          <p:cNvPr id="9" name="Text 7"/>
          <p:cNvSpPr/>
          <p:nvPr/>
        </p:nvSpPr>
        <p:spPr>
          <a:xfrm>
            <a:off x="640080" y="3712464"/>
            <a:ext cx="5120640" cy="219456"/>
          </a:xfrm>
          <a:prstGeom prst="rect">
            <a:avLst/>
          </a:prstGeom>
          <a:noFill/>
          <a:ln/>
        </p:spPr>
        <p:txBody>
          <a:bodyPr wrap="square" lIns="0" tIns="0" rIns="0" bIns="0" rtlCol="0" anchor="ctr"/>
          <a:lstStyle/>
          <a:p>
            <a:pPr marL="0" indent="0" algn="l">
              <a:buNone/>
            </a:pPr>
            <a:r>
              <a:rPr lang="en-US" sz="1300" dirty="0">
                <a:solidFill>
                  <a:srgbClr val="8C8C8C"/>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640080" y="3986784"/>
            <a:ext cx="5120640" cy="365760"/>
          </a:xfrm>
          <a:prstGeom prst="rect">
            <a:avLst/>
          </a:prstGeom>
          <a:noFill/>
          <a:ln/>
        </p:spPr>
        <p:txBody>
          <a:bodyPr wrap="square" lIns="0" tIns="0" rIns="0" bIns="0" rtlCol="0" anchor="ctr"/>
          <a:lstStyle/>
          <a:p>
            <a:pPr marL="0" indent="0" algn="l">
              <a:buNone/>
            </a:pPr>
            <a:r>
              <a:rPr lang="en-US" sz="1550" b="1" dirty="0">
                <a:solidFill>
                  <a:srgbClr val="1F4E79"/>
                </a:solidFill>
                <a:latin typeface="Calibri" pitchFamily="34" charset="0"/>
                <a:ea typeface="Calibri" pitchFamily="34" charset="-122"/>
                <a:cs typeface="Calibri" pitchFamily="34" charset="-120"/>
              </a:rPr>
              <a:t>PINN</a:t>
            </a:r>
            <a:endParaRPr lang="en-US" sz="1550" dirty="0"/>
          </a:p>
        </p:txBody>
      </p:sp>
      <p:sp>
        <p:nvSpPr>
          <p:cNvPr id="11" name="Text 9"/>
          <p:cNvSpPr/>
          <p:nvPr/>
        </p:nvSpPr>
        <p:spPr>
          <a:xfrm>
            <a:off x="640080" y="4334256"/>
            <a:ext cx="5120640" cy="219456"/>
          </a:xfrm>
          <a:prstGeom prst="rect">
            <a:avLst/>
          </a:prstGeom>
          <a:noFill/>
          <a:ln/>
        </p:spPr>
        <p:txBody>
          <a:bodyPr wrap="square" lIns="0" tIns="0" rIns="0" bIns="0" rtlCol="0" anchor="ctr"/>
          <a:lstStyle/>
          <a:p>
            <a:pPr marL="0" indent="0" algn="l">
              <a:buNone/>
            </a:pPr>
            <a:r>
              <a:rPr lang="en-US" sz="1300" dirty="0">
                <a:solidFill>
                  <a:srgbClr val="8C8C8C"/>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640080" y="4608576"/>
            <a:ext cx="5120640" cy="365760"/>
          </a:xfrm>
          <a:prstGeom prst="rect">
            <a:avLst/>
          </a:prstGeom>
          <a:noFill/>
          <a:ln/>
        </p:spPr>
        <p:txBody>
          <a:bodyPr wrap="square" lIns="0" tIns="0" rIns="0" bIns="0" rtlCol="0" anchor="ctr"/>
          <a:lstStyle/>
          <a:p>
            <a:pPr marL="0" indent="0" algn="l">
              <a:buNone/>
            </a:pPr>
            <a:r>
              <a:rPr lang="en-US" sz="1550" b="1" dirty="0">
                <a:solidFill>
                  <a:srgbClr val="1F4E79"/>
                </a:solidFill>
                <a:latin typeface="Calibri" pitchFamily="34" charset="0"/>
                <a:ea typeface="Calibri" pitchFamily="34" charset="-122"/>
                <a:cs typeface="Calibri" pitchFamily="34" charset="-120"/>
              </a:rPr>
              <a:t>Finite Difference</a:t>
            </a:r>
            <a:endParaRPr lang="en-US" sz="1550" dirty="0"/>
          </a:p>
        </p:txBody>
      </p:sp>
      <p:sp>
        <p:nvSpPr>
          <p:cNvPr id="13" name="Text 11"/>
          <p:cNvSpPr/>
          <p:nvPr/>
        </p:nvSpPr>
        <p:spPr>
          <a:xfrm>
            <a:off x="640080" y="4956048"/>
            <a:ext cx="5120640" cy="219456"/>
          </a:xfrm>
          <a:prstGeom prst="rect">
            <a:avLst/>
          </a:prstGeom>
          <a:noFill/>
          <a:ln/>
        </p:spPr>
        <p:txBody>
          <a:bodyPr wrap="square" lIns="0" tIns="0" rIns="0" bIns="0" rtlCol="0" anchor="ctr"/>
          <a:lstStyle/>
          <a:p>
            <a:pPr marL="0" indent="0" algn="l">
              <a:buNone/>
            </a:pPr>
            <a:r>
              <a:rPr lang="en-US" sz="1300" dirty="0">
                <a:solidFill>
                  <a:srgbClr val="8C8C8C"/>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640080" y="5230368"/>
            <a:ext cx="5120640" cy="365760"/>
          </a:xfrm>
          <a:prstGeom prst="rect">
            <a:avLst/>
          </a:prstGeom>
          <a:noFill/>
          <a:ln/>
        </p:spPr>
        <p:txBody>
          <a:bodyPr wrap="square" lIns="0" tIns="0" rIns="0" bIns="0" rtlCol="0" anchor="ctr"/>
          <a:lstStyle/>
          <a:p>
            <a:pPr marL="0" indent="0" algn="l">
              <a:buNone/>
            </a:pPr>
            <a:r>
              <a:rPr lang="en-US" sz="1550" b="1" dirty="0">
                <a:solidFill>
                  <a:srgbClr val="1F4E79"/>
                </a:solidFill>
                <a:latin typeface="Calibri" pitchFamily="34" charset="0"/>
                <a:ea typeface="Calibri" pitchFamily="34" charset="-122"/>
                <a:cs typeface="Calibri" pitchFamily="34" charset="-120"/>
              </a:rPr>
              <a:t>Sensitivity</a:t>
            </a:r>
            <a:endParaRPr lang="en-US" sz="1550" dirty="0"/>
          </a:p>
        </p:txBody>
      </p:sp>
      <p:sp>
        <p:nvSpPr>
          <p:cNvPr id="15" name="Text 13"/>
          <p:cNvSpPr/>
          <p:nvPr/>
        </p:nvSpPr>
        <p:spPr>
          <a:xfrm>
            <a:off x="6400800" y="1645920"/>
            <a:ext cx="45720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VARIABLES</a:t>
            </a:r>
            <a:endParaRPr lang="en-US" sz="1200" dirty="0"/>
          </a:p>
        </p:txBody>
      </p:sp>
      <p:sp>
        <p:nvSpPr>
          <p:cNvPr id="16" name="Text 14"/>
          <p:cNvSpPr/>
          <p:nvPr/>
        </p:nvSpPr>
        <p:spPr>
          <a:xfrm>
            <a:off x="6400800" y="1993392"/>
            <a:ext cx="4937760" cy="182880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444444"/>
                </a:solidFill>
                <a:latin typeface="Calibri" pitchFamily="34" charset="0"/>
                <a:ea typeface="Calibri" pitchFamily="34" charset="-122"/>
                <a:cs typeface="Calibri" pitchFamily="34" charset="-120"/>
              </a:rPr>
              <a:t>Interest Rate</a:t>
            </a:r>
            <a:endParaRPr lang="en-US" sz="1600" dirty="0"/>
          </a:p>
          <a:p>
            <a:pPr marL="203200" indent="-203200">
              <a:spcAft>
                <a:spcPts val="1000"/>
              </a:spcAft>
              <a:buSzPct val="100000"/>
              <a:buChar char="•"/>
            </a:pPr>
            <a:r>
              <a:rPr lang="en-US" sz="1600" dirty="0">
                <a:solidFill>
                  <a:srgbClr val="444444"/>
                </a:solidFill>
                <a:latin typeface="Calibri" pitchFamily="34" charset="0"/>
                <a:ea typeface="Calibri" pitchFamily="34" charset="-122"/>
                <a:cs typeface="Calibri" pitchFamily="34" charset="-120"/>
              </a:rPr>
              <a:t>Mortality</a:t>
            </a:r>
            <a:endParaRPr lang="en-US" sz="1600" dirty="0"/>
          </a:p>
          <a:p>
            <a:pPr marL="203200" indent="-203200">
              <a:spcAft>
                <a:spcPts val="1000"/>
              </a:spcAft>
              <a:buSzPct val="100000"/>
              <a:buChar char="•"/>
            </a:pPr>
            <a:r>
              <a:rPr lang="en-US" sz="1600" dirty="0">
                <a:solidFill>
                  <a:srgbClr val="444444"/>
                </a:solidFill>
                <a:latin typeface="Calibri" pitchFamily="34" charset="0"/>
                <a:ea typeface="Calibri" pitchFamily="34" charset="-122"/>
                <a:cs typeface="Calibri" pitchFamily="34" charset="-120"/>
              </a:rPr>
              <a:t>Premium Ratio</a:t>
            </a:r>
            <a:endParaRPr lang="en-US" sz="1600" dirty="0"/>
          </a:p>
          <a:p>
            <a:pPr marL="203200" indent="-203200">
              <a:spcAft>
                <a:spcPts val="1000"/>
              </a:spcAft>
              <a:buSzPct val="100000"/>
              <a:buChar char="•"/>
            </a:pPr>
            <a:r>
              <a:rPr lang="en-US" sz="1600" dirty="0">
                <a:solidFill>
                  <a:srgbClr val="444444"/>
                </a:solidFill>
                <a:latin typeface="Calibri" pitchFamily="34" charset="0"/>
                <a:ea typeface="Calibri" pitchFamily="34" charset="-122"/>
                <a:cs typeface="Calibri" pitchFamily="34" charset="-120"/>
              </a:rPr>
              <a:t>Sum Assured</a:t>
            </a:r>
            <a:endParaRPr lang="en-US" sz="1600" dirty="0"/>
          </a:p>
        </p:txBody>
      </p:sp>
      <p:sp>
        <p:nvSpPr>
          <p:cNvPr id="17" name="Text 15"/>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18" name="Text 16"/>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69231B-6A24-60E7-30C8-94FAC1490910}"/>
              </a:ext>
            </a:extLst>
          </p:cNvPr>
          <p:cNvSpPr>
            <a:spLocks noGrp="1"/>
          </p:cNvSpPr>
          <p:nvPr>
            <p:ph idx="1"/>
          </p:nvPr>
        </p:nvSpPr>
        <p:spPr>
          <a:xfrm>
            <a:off x="350874" y="4954772"/>
            <a:ext cx="11144440" cy="1494165"/>
          </a:xfrm>
        </p:spPr>
        <p:txBody>
          <a:bodyPr anchor="ctr">
            <a:normAutofit/>
          </a:bodyPr>
          <a:lstStyle/>
          <a:p>
            <a:pPr algn="ctr"/>
            <a:r>
              <a:rPr lang="en-US" sz="1600" dirty="0"/>
              <a:t>This plot shows the sensitivity of reserve to changes in key policy variables (interest rate, mortality, premium, and sum assured), indicating whether the model follows the expected actuarial direction of change.</a:t>
            </a:r>
          </a:p>
          <a:p>
            <a:pPr algn="ctr"/>
            <a:r>
              <a:rPr lang="en-US" sz="1600" dirty="0"/>
              <a:t>The model correctly predicts that reserves increase with premium, interest rate and sum assured (green), but the sensitivities to mortality have the opposite sign to actuarial expectations (red), </a:t>
            </a:r>
          </a:p>
        </p:txBody>
      </p:sp>
      <p:sp>
        <p:nvSpPr>
          <p:cNvPr id="4" name="TextBox 3">
            <a:extLst>
              <a:ext uri="{FF2B5EF4-FFF2-40B4-BE49-F238E27FC236}">
                <a16:creationId xmlns:a16="http://schemas.microsoft.com/office/drawing/2014/main" id="{AC2880DE-0130-88CC-8D0D-E1A709596F53}"/>
              </a:ext>
            </a:extLst>
          </p:cNvPr>
          <p:cNvSpPr txBox="1"/>
          <p:nvPr/>
        </p:nvSpPr>
        <p:spPr>
          <a:xfrm>
            <a:off x="3048886" y="3138008"/>
            <a:ext cx="6097772" cy="369332"/>
          </a:xfrm>
          <a:prstGeom prst="rect">
            <a:avLst/>
          </a:prstGeom>
          <a:noFill/>
        </p:spPr>
        <p:txBody>
          <a:bodyPr wrap="square">
            <a:spAutoFit/>
          </a:bodyPr>
          <a:lstStyle/>
          <a:p>
            <a:endParaRPr lang="en-US" dirty="0"/>
          </a:p>
        </p:txBody>
      </p:sp>
      <p:sp>
        <p:nvSpPr>
          <p:cNvPr id="5" name="TextBox 4">
            <a:extLst>
              <a:ext uri="{FF2B5EF4-FFF2-40B4-BE49-F238E27FC236}">
                <a16:creationId xmlns:a16="http://schemas.microsoft.com/office/drawing/2014/main" id="{BD0AA78D-23FB-3ACD-1572-C6BD383CCD24}"/>
              </a:ext>
            </a:extLst>
          </p:cNvPr>
          <p:cNvSpPr txBox="1"/>
          <p:nvPr/>
        </p:nvSpPr>
        <p:spPr>
          <a:xfrm>
            <a:off x="3047163" y="3131290"/>
            <a:ext cx="6094324" cy="369332"/>
          </a:xfrm>
          <a:prstGeom prst="rect">
            <a:avLst/>
          </a:prstGeom>
          <a:noFill/>
        </p:spPr>
        <p:txBody>
          <a:bodyPr wrap="square">
            <a:spAutoFit/>
          </a:bodyPr>
          <a:lstStyle/>
          <a:p>
            <a:endParaRPr lang="en-US" dirty="0"/>
          </a:p>
        </p:txBody>
      </p:sp>
      <p:pic>
        <p:nvPicPr>
          <p:cNvPr id="7" name="Picture 6">
            <a:extLst>
              <a:ext uri="{FF2B5EF4-FFF2-40B4-BE49-F238E27FC236}">
                <a16:creationId xmlns:a16="http://schemas.microsoft.com/office/drawing/2014/main" id="{914BACED-B43D-23D4-1757-35C7AF3F46CF}"/>
              </a:ext>
            </a:extLst>
          </p:cNvPr>
          <p:cNvPicPr>
            <a:picLocks noChangeAspect="1"/>
          </p:cNvPicPr>
          <p:nvPr/>
        </p:nvPicPr>
        <p:blipFill>
          <a:blip r:embed="rId2"/>
          <a:stretch>
            <a:fillRect/>
          </a:stretch>
        </p:blipFill>
        <p:spPr>
          <a:xfrm>
            <a:off x="317831" y="482320"/>
            <a:ext cx="11552988" cy="4350132"/>
          </a:xfrm>
          <a:prstGeom prst="rect">
            <a:avLst/>
          </a:prstGeom>
        </p:spPr>
      </p:pic>
      <p:sp>
        <p:nvSpPr>
          <p:cNvPr id="9" name="TextBox 8">
            <a:extLst>
              <a:ext uri="{FF2B5EF4-FFF2-40B4-BE49-F238E27FC236}">
                <a16:creationId xmlns:a16="http://schemas.microsoft.com/office/drawing/2014/main" id="{B3A456EE-46D2-D459-2D96-12C16B7281F0}"/>
              </a:ext>
            </a:extLst>
          </p:cNvPr>
          <p:cNvSpPr txBox="1"/>
          <p:nvPr/>
        </p:nvSpPr>
        <p:spPr>
          <a:xfrm>
            <a:off x="317831" y="409063"/>
            <a:ext cx="6094324" cy="369332"/>
          </a:xfrm>
          <a:prstGeom prst="rect">
            <a:avLst/>
          </a:prstGeom>
          <a:noFill/>
        </p:spPr>
        <p:txBody>
          <a:bodyPr wrap="square">
            <a:spAutoFit/>
          </a:bodyPr>
          <a:lstStyle/>
          <a:p>
            <a:pPr marL="0" indent="0">
              <a:buNone/>
            </a:pPr>
            <a:r>
              <a:rPr lang="en-US" sz="1800" b="1" dirty="0">
                <a:solidFill>
                  <a:srgbClr val="1F4E79"/>
                </a:solidFill>
                <a:latin typeface="Calibri" pitchFamily="34" charset="0"/>
                <a:ea typeface="Calibri" pitchFamily="34" charset="-122"/>
                <a:cs typeface="Calibri" pitchFamily="34" charset="-120"/>
              </a:rPr>
              <a:t>Sensitivity </a:t>
            </a:r>
            <a:r>
              <a:rPr lang="en-US" b="1" dirty="0">
                <a:solidFill>
                  <a:srgbClr val="1F4E79"/>
                </a:solidFill>
                <a:latin typeface="Calibri" pitchFamily="34" charset="0"/>
                <a:ea typeface="Calibri" pitchFamily="34" charset="-122"/>
                <a:cs typeface="Calibri" pitchFamily="34" charset="-120"/>
              </a:rPr>
              <a:t>Plot</a:t>
            </a:r>
            <a:endParaRPr lang="en-US" sz="1800" dirty="0"/>
          </a:p>
        </p:txBody>
      </p:sp>
    </p:spTree>
    <p:extLst>
      <p:ext uri="{BB962C8B-B14F-4D97-AF65-F5344CB8AC3E}">
        <p14:creationId xmlns:p14="http://schemas.microsoft.com/office/powerpoint/2010/main" val="1334678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0A65C4-C21E-8170-76CD-F8AFBEB3426C}"/>
              </a:ext>
            </a:extLst>
          </p:cNvPr>
          <p:cNvSpPr>
            <a:spLocks noGrp="1"/>
          </p:cNvSpPr>
          <p:nvPr>
            <p:ph idx="1"/>
          </p:nvPr>
        </p:nvSpPr>
        <p:spPr>
          <a:xfrm>
            <a:off x="503811" y="2792604"/>
            <a:ext cx="3557826" cy="3387888"/>
          </a:xfrm>
        </p:spPr>
        <p:txBody>
          <a:bodyPr anchor="t">
            <a:normAutofit/>
          </a:bodyPr>
          <a:lstStyle/>
          <a:p>
            <a:r>
              <a:rPr lang="en-US" sz="1800"/>
              <a:t>This plot compares the relative influence (elasticity) of each input variable on the predicted reserve, allowing all variables to be compared on the same scale regardless of their units.</a:t>
            </a:r>
            <a:endParaRPr lang="en-US" sz="1700" dirty="0"/>
          </a:p>
        </p:txBody>
      </p:sp>
      <p:sp>
        <p:nvSpPr>
          <p:cNvPr id="4" name="TextBox 3">
            <a:extLst>
              <a:ext uri="{FF2B5EF4-FFF2-40B4-BE49-F238E27FC236}">
                <a16:creationId xmlns:a16="http://schemas.microsoft.com/office/drawing/2014/main" id="{E32F849F-99CF-A7CE-076E-13CEDD53230A}"/>
              </a:ext>
            </a:extLst>
          </p:cNvPr>
          <p:cNvSpPr txBox="1"/>
          <p:nvPr/>
        </p:nvSpPr>
        <p:spPr>
          <a:xfrm>
            <a:off x="3009014" y="3249650"/>
            <a:ext cx="6124352" cy="369332"/>
          </a:xfrm>
          <a:prstGeom prst="rect">
            <a:avLst/>
          </a:prstGeom>
          <a:noFill/>
        </p:spPr>
        <p:txBody>
          <a:bodyPr wrap="square">
            <a:spAutoFit/>
          </a:bodyPr>
          <a:lstStyle/>
          <a:p>
            <a:endParaRPr lang="en-US" dirty="0"/>
          </a:p>
        </p:txBody>
      </p:sp>
      <p:sp>
        <p:nvSpPr>
          <p:cNvPr id="5" name="TextBox 4">
            <a:extLst>
              <a:ext uri="{FF2B5EF4-FFF2-40B4-BE49-F238E27FC236}">
                <a16:creationId xmlns:a16="http://schemas.microsoft.com/office/drawing/2014/main" id="{52B594EF-7C8C-7F79-833B-1EEB06E67141}"/>
              </a:ext>
            </a:extLst>
          </p:cNvPr>
          <p:cNvSpPr txBox="1"/>
          <p:nvPr/>
        </p:nvSpPr>
        <p:spPr>
          <a:xfrm>
            <a:off x="503811" y="470846"/>
            <a:ext cx="7573944" cy="523220"/>
          </a:xfrm>
          <a:prstGeom prst="rect">
            <a:avLst/>
          </a:prstGeom>
          <a:noFill/>
        </p:spPr>
        <p:txBody>
          <a:bodyPr wrap="square">
            <a:spAutoFit/>
          </a:bodyPr>
          <a:lstStyle/>
          <a:p>
            <a:pPr marL="0" indent="0">
              <a:buNone/>
            </a:pPr>
            <a:r>
              <a:rPr lang="en-US" sz="2800" b="1">
                <a:solidFill>
                  <a:srgbClr val="1F4E79"/>
                </a:solidFill>
                <a:latin typeface="Calibri" pitchFamily="34" charset="0"/>
                <a:ea typeface="Calibri" pitchFamily="34" charset="-122"/>
                <a:cs typeface="Calibri" pitchFamily="34" charset="-120"/>
              </a:rPr>
              <a:t>Elasticity Analysis</a:t>
            </a:r>
            <a:endParaRPr lang="en-US" sz="2800" dirty="0"/>
          </a:p>
        </p:txBody>
      </p:sp>
      <p:sp>
        <p:nvSpPr>
          <p:cNvPr id="8" name="TextBox 7">
            <a:extLst>
              <a:ext uri="{FF2B5EF4-FFF2-40B4-BE49-F238E27FC236}">
                <a16:creationId xmlns:a16="http://schemas.microsoft.com/office/drawing/2014/main" id="{8CE4AE7A-FCC3-7C63-AEFF-E7684AFADCC2}"/>
              </a:ext>
            </a:extLst>
          </p:cNvPr>
          <p:cNvSpPr txBox="1"/>
          <p:nvPr/>
        </p:nvSpPr>
        <p:spPr>
          <a:xfrm>
            <a:off x="3047163" y="3246846"/>
            <a:ext cx="6094324" cy="369332"/>
          </a:xfrm>
          <a:prstGeom prst="rect">
            <a:avLst/>
          </a:prstGeom>
          <a:noFill/>
        </p:spPr>
        <p:txBody>
          <a:bodyPr wrap="square">
            <a:spAutoFit/>
          </a:bodyPr>
          <a:lstStyle/>
          <a:p>
            <a:endParaRPr lang="en-US" dirty="0"/>
          </a:p>
        </p:txBody>
      </p:sp>
      <p:sp>
        <p:nvSpPr>
          <p:cNvPr id="21" name="TextBox 20">
            <a:extLst>
              <a:ext uri="{FF2B5EF4-FFF2-40B4-BE49-F238E27FC236}">
                <a16:creationId xmlns:a16="http://schemas.microsoft.com/office/drawing/2014/main" id="{8E0AB40A-244D-2930-6EA4-57F66386D860}"/>
              </a:ext>
            </a:extLst>
          </p:cNvPr>
          <p:cNvSpPr txBox="1"/>
          <p:nvPr/>
        </p:nvSpPr>
        <p:spPr>
          <a:xfrm>
            <a:off x="3047163" y="3246846"/>
            <a:ext cx="6094324" cy="369332"/>
          </a:xfrm>
          <a:prstGeom prst="rect">
            <a:avLst/>
          </a:prstGeom>
          <a:noFill/>
        </p:spPr>
        <p:txBody>
          <a:bodyPr wrap="square">
            <a:spAutoFit/>
          </a:bodyPr>
          <a:lstStyle/>
          <a:p>
            <a:endParaRPr lang="en-US" dirty="0"/>
          </a:p>
        </p:txBody>
      </p:sp>
      <p:sp>
        <p:nvSpPr>
          <p:cNvPr id="23" name="TextBox 22">
            <a:extLst>
              <a:ext uri="{FF2B5EF4-FFF2-40B4-BE49-F238E27FC236}">
                <a16:creationId xmlns:a16="http://schemas.microsoft.com/office/drawing/2014/main" id="{6C5636B2-0D52-20F8-72F4-5AF77C00921B}"/>
              </a:ext>
            </a:extLst>
          </p:cNvPr>
          <p:cNvSpPr txBox="1"/>
          <p:nvPr/>
        </p:nvSpPr>
        <p:spPr>
          <a:xfrm>
            <a:off x="3047163" y="3246846"/>
            <a:ext cx="6094324" cy="369332"/>
          </a:xfrm>
          <a:prstGeom prst="rect">
            <a:avLst/>
          </a:prstGeom>
          <a:noFill/>
        </p:spPr>
        <p:txBody>
          <a:bodyPr wrap="square">
            <a:spAutoFit/>
          </a:bodyPr>
          <a:lstStyle/>
          <a:p>
            <a:endParaRPr lang="en-US" dirty="0"/>
          </a:p>
        </p:txBody>
      </p:sp>
      <p:pic>
        <p:nvPicPr>
          <p:cNvPr id="25" name="Picture 24">
            <a:extLst>
              <a:ext uri="{FF2B5EF4-FFF2-40B4-BE49-F238E27FC236}">
                <a16:creationId xmlns:a16="http://schemas.microsoft.com/office/drawing/2014/main" id="{2D55D39E-3E0A-A174-3B21-D110032B27A7}"/>
              </a:ext>
            </a:extLst>
          </p:cNvPr>
          <p:cNvPicPr>
            <a:picLocks noChangeAspect="1"/>
          </p:cNvPicPr>
          <p:nvPr/>
        </p:nvPicPr>
        <p:blipFill>
          <a:blip r:embed="rId2"/>
          <a:stretch>
            <a:fillRect/>
          </a:stretch>
        </p:blipFill>
        <p:spPr>
          <a:xfrm>
            <a:off x="5081339" y="1276140"/>
            <a:ext cx="6098052" cy="4305719"/>
          </a:xfrm>
          <a:prstGeom prst="rect">
            <a:avLst/>
          </a:prstGeom>
        </p:spPr>
      </p:pic>
    </p:spTree>
    <p:extLst>
      <p:ext uri="{BB962C8B-B14F-4D97-AF65-F5344CB8AC3E}">
        <p14:creationId xmlns:p14="http://schemas.microsoft.com/office/powerpoint/2010/main" val="2916952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OPTIMIZATION</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Optimization Framework</a:t>
            </a:r>
            <a:endParaRPr lang="en-US" sz="2800" dirty="0"/>
          </a:p>
        </p:txBody>
      </p:sp>
      <p:sp>
        <p:nvSpPr>
          <p:cNvPr id="4" name="Text 2"/>
          <p:cNvSpPr/>
          <p:nvPr/>
        </p:nvSpPr>
        <p:spPr>
          <a:xfrm>
            <a:off x="640080" y="1691640"/>
            <a:ext cx="5120640" cy="36576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Policy</a:t>
            </a:r>
            <a:endParaRPr lang="en-US" sz="1600" dirty="0"/>
          </a:p>
        </p:txBody>
      </p:sp>
      <p:sp>
        <p:nvSpPr>
          <p:cNvPr id="5" name="Text 3"/>
          <p:cNvSpPr/>
          <p:nvPr/>
        </p:nvSpPr>
        <p:spPr>
          <a:xfrm>
            <a:off x="640080" y="2039112"/>
            <a:ext cx="5120640" cy="219456"/>
          </a:xfrm>
          <a:prstGeom prst="rect">
            <a:avLst/>
          </a:prstGeom>
          <a:noFill/>
          <a:ln/>
        </p:spPr>
        <p:txBody>
          <a:bodyPr wrap="square" lIns="0" tIns="0" rIns="0" bIns="0" rtlCol="0" anchor="ctr"/>
          <a:lstStyle/>
          <a:p>
            <a:pPr marL="0" indent="0" algn="l">
              <a:buNone/>
            </a:pPr>
            <a:r>
              <a:rPr lang="en-US" sz="1300" dirty="0">
                <a:solidFill>
                  <a:srgbClr val="8C8C8C"/>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640080" y="2404872"/>
            <a:ext cx="5120640" cy="36576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Reserve Predictor</a:t>
            </a:r>
            <a:endParaRPr lang="en-US" sz="1600" dirty="0"/>
          </a:p>
        </p:txBody>
      </p:sp>
      <p:sp>
        <p:nvSpPr>
          <p:cNvPr id="7" name="Text 5"/>
          <p:cNvSpPr/>
          <p:nvPr/>
        </p:nvSpPr>
        <p:spPr>
          <a:xfrm>
            <a:off x="640080" y="2752344"/>
            <a:ext cx="5120640" cy="219456"/>
          </a:xfrm>
          <a:prstGeom prst="rect">
            <a:avLst/>
          </a:prstGeom>
          <a:noFill/>
          <a:ln/>
        </p:spPr>
        <p:txBody>
          <a:bodyPr wrap="square" lIns="0" tIns="0" rIns="0" bIns="0" rtlCol="0" anchor="ctr"/>
          <a:lstStyle/>
          <a:p>
            <a:pPr marL="0" indent="0" algn="l">
              <a:buNone/>
            </a:pPr>
            <a:r>
              <a:rPr lang="en-US" sz="1300" dirty="0">
                <a:solidFill>
                  <a:srgbClr val="8C8C8C"/>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640080" y="3118104"/>
            <a:ext cx="5120640" cy="36576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Objective Function</a:t>
            </a:r>
            <a:endParaRPr lang="en-US" sz="1600" dirty="0"/>
          </a:p>
        </p:txBody>
      </p:sp>
      <p:sp>
        <p:nvSpPr>
          <p:cNvPr id="9" name="Text 7"/>
          <p:cNvSpPr/>
          <p:nvPr/>
        </p:nvSpPr>
        <p:spPr>
          <a:xfrm>
            <a:off x="640080" y="3465576"/>
            <a:ext cx="5120640" cy="219456"/>
          </a:xfrm>
          <a:prstGeom prst="rect">
            <a:avLst/>
          </a:prstGeom>
          <a:noFill/>
          <a:ln/>
        </p:spPr>
        <p:txBody>
          <a:bodyPr wrap="square" lIns="0" tIns="0" rIns="0" bIns="0" rtlCol="0" anchor="ctr"/>
          <a:lstStyle/>
          <a:p>
            <a:pPr marL="0" indent="0" algn="l">
              <a:buNone/>
            </a:pPr>
            <a:r>
              <a:rPr lang="en-US" sz="1300" dirty="0">
                <a:solidFill>
                  <a:srgbClr val="8C8C8C"/>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640080" y="3831336"/>
            <a:ext cx="5120640" cy="36576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SciPy Optimizer</a:t>
            </a:r>
            <a:endParaRPr lang="en-US" sz="1600" dirty="0"/>
          </a:p>
        </p:txBody>
      </p:sp>
      <p:sp>
        <p:nvSpPr>
          <p:cNvPr id="11" name="Text 9"/>
          <p:cNvSpPr/>
          <p:nvPr/>
        </p:nvSpPr>
        <p:spPr>
          <a:xfrm>
            <a:off x="640080" y="4178808"/>
            <a:ext cx="5120640" cy="219456"/>
          </a:xfrm>
          <a:prstGeom prst="rect">
            <a:avLst/>
          </a:prstGeom>
          <a:noFill/>
          <a:ln/>
        </p:spPr>
        <p:txBody>
          <a:bodyPr wrap="square" lIns="0" tIns="0" rIns="0" bIns="0" rtlCol="0" anchor="ctr"/>
          <a:lstStyle/>
          <a:p>
            <a:pPr marL="0" indent="0" algn="l">
              <a:buNone/>
            </a:pPr>
            <a:r>
              <a:rPr lang="en-US" sz="1300" dirty="0">
                <a:solidFill>
                  <a:srgbClr val="8C8C8C"/>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640080" y="4544568"/>
            <a:ext cx="5120640" cy="365760"/>
          </a:xfrm>
          <a:prstGeom prst="rect">
            <a:avLst/>
          </a:prstGeom>
          <a:noFill/>
          <a:ln/>
        </p:spPr>
        <p:txBody>
          <a:bodyPr wrap="square" lIns="0" tIns="0" rIns="0" bIns="0" rtlCol="0" anchor="ctr"/>
          <a:lstStyle/>
          <a:p>
            <a:pPr marL="0" indent="0" algn="l">
              <a:buNone/>
            </a:pPr>
            <a:r>
              <a:rPr lang="en-US" sz="1600" b="1" dirty="0">
                <a:solidFill>
                  <a:srgbClr val="1F4E79"/>
                </a:solidFill>
                <a:latin typeface="Calibri" pitchFamily="34" charset="0"/>
                <a:ea typeface="Calibri" pitchFamily="34" charset="-122"/>
                <a:cs typeface="Calibri" pitchFamily="34" charset="-120"/>
              </a:rPr>
              <a:t>Optimal Decision</a:t>
            </a:r>
            <a:endParaRPr lang="en-US" sz="1600" dirty="0"/>
          </a:p>
        </p:txBody>
      </p:sp>
      <p:sp>
        <p:nvSpPr>
          <p:cNvPr id="13" name="Text 11"/>
          <p:cNvSpPr/>
          <p:nvPr/>
        </p:nvSpPr>
        <p:spPr>
          <a:xfrm>
            <a:off x="6400800" y="1691640"/>
            <a:ext cx="54864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OPTIMIZATION MODULES</a:t>
            </a:r>
            <a:endParaRPr lang="en-US" sz="1200" dirty="0"/>
          </a:p>
        </p:txBody>
      </p:sp>
      <p:sp>
        <p:nvSpPr>
          <p:cNvPr id="14" name="Text 12"/>
          <p:cNvSpPr/>
          <p:nvPr/>
        </p:nvSpPr>
        <p:spPr>
          <a:xfrm>
            <a:off x="6400800" y="2057400"/>
            <a:ext cx="5120640" cy="219456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444444"/>
                </a:solidFill>
                <a:latin typeface="Calibri" pitchFamily="34" charset="0"/>
                <a:ea typeface="Calibri" pitchFamily="34" charset="-122"/>
                <a:cs typeface="Calibri" pitchFamily="34" charset="-120"/>
              </a:rPr>
              <a:t>Premium Optimization</a:t>
            </a:r>
            <a:endParaRPr lang="en-US" sz="1600" dirty="0"/>
          </a:p>
          <a:p>
            <a:pPr marL="203200" indent="-203200">
              <a:spcAft>
                <a:spcPts val="1200"/>
              </a:spcAft>
              <a:buSzPct val="100000"/>
              <a:buChar char="•"/>
            </a:pPr>
            <a:r>
              <a:rPr lang="en-US" sz="1600" dirty="0">
                <a:solidFill>
                  <a:srgbClr val="444444"/>
                </a:solidFill>
                <a:latin typeface="Calibri" pitchFamily="34" charset="0"/>
                <a:ea typeface="Calibri" pitchFamily="34" charset="-122"/>
                <a:cs typeface="Calibri" pitchFamily="34" charset="-120"/>
              </a:rPr>
              <a:t>Capital Allocation</a:t>
            </a:r>
            <a:endParaRPr lang="en-US" sz="1600" dirty="0"/>
          </a:p>
          <a:p>
            <a:pPr marL="203200" indent="-203200">
              <a:spcAft>
                <a:spcPts val="1200"/>
              </a:spcAft>
              <a:buSzPct val="100000"/>
              <a:buChar char="•"/>
            </a:pPr>
            <a:r>
              <a:rPr lang="en-US" sz="1600" dirty="0">
                <a:solidFill>
                  <a:srgbClr val="444444"/>
                </a:solidFill>
                <a:latin typeface="Calibri" pitchFamily="34" charset="0"/>
                <a:ea typeface="Calibri" pitchFamily="34" charset="-122"/>
                <a:cs typeface="Calibri" pitchFamily="34" charset="-120"/>
              </a:rPr>
              <a:t>Product Design</a:t>
            </a:r>
            <a:endParaRPr lang="en-US" sz="1600" dirty="0"/>
          </a:p>
          <a:p>
            <a:pPr marL="203200" indent="-203200">
              <a:spcAft>
                <a:spcPts val="1200"/>
              </a:spcAft>
              <a:buSzPct val="100000"/>
              <a:buChar char="•"/>
            </a:pPr>
            <a:r>
              <a:rPr lang="en-US" sz="1600" dirty="0">
                <a:solidFill>
                  <a:srgbClr val="444444"/>
                </a:solidFill>
                <a:latin typeface="Calibri" pitchFamily="34" charset="0"/>
                <a:ea typeface="Calibri" pitchFamily="34" charset="-122"/>
                <a:cs typeface="Calibri" pitchFamily="34" charset="-120"/>
              </a:rPr>
              <a:t>Portfolio Optimization</a:t>
            </a:r>
            <a:endParaRPr lang="en-US" sz="1600" dirty="0"/>
          </a:p>
        </p:txBody>
      </p:sp>
      <p:sp>
        <p:nvSpPr>
          <p:cNvPr id="15" name="Text 13"/>
          <p:cNvSpPr/>
          <p:nvPr/>
        </p:nvSpPr>
        <p:spPr>
          <a:xfrm>
            <a:off x="640080" y="5394960"/>
            <a:ext cx="10515600" cy="548640"/>
          </a:xfrm>
          <a:prstGeom prst="rect">
            <a:avLst/>
          </a:prstGeom>
          <a:noFill/>
          <a:ln/>
        </p:spPr>
        <p:txBody>
          <a:bodyPr wrap="square" lIns="0" tIns="0" rIns="0" bIns="0" rtlCol="0" anchor="t"/>
          <a:lstStyle/>
          <a:p>
            <a:pPr marL="0" indent="0" algn="l">
              <a:buNone/>
            </a:pPr>
            <a:r>
              <a:rPr lang="en-US" sz="1500" i="1" dirty="0">
                <a:solidFill>
                  <a:srgbClr val="444444"/>
                </a:solidFill>
                <a:latin typeface="Calibri" pitchFamily="34" charset="0"/>
                <a:ea typeface="Calibri" pitchFamily="34" charset="-122"/>
                <a:cs typeface="Calibri" pitchFamily="34" charset="-120"/>
              </a:rPr>
              <a:t>Optimization uses the trained reserve model rather than repeatedly solving the ODE.</a:t>
            </a:r>
            <a:endParaRPr lang="en-US" sz="1500" dirty="0"/>
          </a:p>
        </p:txBody>
      </p:sp>
      <p:sp>
        <p:nvSpPr>
          <p:cNvPr id="16" name="Text 14"/>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17" name="Text 15"/>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EAF1F8"/>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OPTIMIZATION</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Current Optimization Modules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2651760"/>
        </p:xfrm>
        <a:graphic>
          <a:graphicData uri="http://schemas.openxmlformats.org/drawingml/2006/table">
            <a:tbl>
              <a:tblPr/>
              <a:tblGrid>
                <a:gridCol w="38404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530352">
                <a:tc>
                  <a:txBody>
                    <a:bodyPr/>
                    <a:lstStyle/>
                    <a:p>
                      <a:pPr marL="0" indent="0">
                        <a:buNone/>
                      </a:pPr>
                      <a:r>
                        <a:rPr lang="en-US" sz="1500" b="1" dirty="0">
                          <a:solidFill>
                            <a:srgbClr val="FFFFFF"/>
                          </a:solidFill>
                        </a:rPr>
                        <a:t>Module</a:t>
                      </a:r>
                      <a:endParaRPr lang="en-US" sz="150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1F4E79"/>
                    </a:solidFill>
                  </a:tcPr>
                </a:tc>
                <a:tc>
                  <a:txBody>
                    <a:bodyPr/>
                    <a:lstStyle/>
                    <a:p>
                      <a:pPr marL="0" indent="0">
                        <a:buNone/>
                      </a:pPr>
                      <a:r>
                        <a:rPr lang="en-US" sz="1500" b="1" dirty="0">
                          <a:solidFill>
                            <a:srgbClr val="FFFFFF"/>
                          </a:solidFill>
                        </a:rPr>
                        <a:t>Objective</a:t>
                      </a:r>
                      <a:endParaRPr lang="en-US" sz="150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30352">
                <a:tc>
                  <a:txBody>
                    <a:bodyPr/>
                    <a:lstStyle/>
                    <a:p>
                      <a:pPr marL="0" indent="0">
                        <a:buNone/>
                      </a:pPr>
                      <a:r>
                        <a:rPr lang="en-US" sz="1450" dirty="0">
                          <a:solidFill>
                            <a:srgbClr val="444444"/>
                          </a:solidFill>
                        </a:rPr>
                        <a:t>Premium</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50" dirty="0">
                          <a:solidFill>
                            <a:srgbClr val="444444"/>
                          </a:solidFill>
                        </a:rPr>
                        <a:t>Maximize Profit</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450" dirty="0">
                          <a:solidFill>
                            <a:srgbClr val="444444"/>
                          </a:solidFill>
                        </a:rPr>
                        <a:t>Capital</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tc>
                  <a:txBody>
                    <a:bodyPr/>
                    <a:lstStyle/>
                    <a:p>
                      <a:pPr marL="0" indent="0">
                        <a:buNone/>
                      </a:pPr>
                      <a:r>
                        <a:rPr lang="en-US" sz="1450" dirty="0">
                          <a:solidFill>
                            <a:srgbClr val="444444"/>
                          </a:solidFill>
                        </a:rPr>
                        <a:t>Minimize Capital</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extLst>
                  <a:ext uri="{0D108BD9-81ED-4DB2-BD59-A6C34878D82A}">
                    <a16:rowId xmlns:a16="http://schemas.microsoft.com/office/drawing/2014/main" val="10002"/>
                  </a:ext>
                </a:extLst>
              </a:tr>
              <a:tr h="530352">
                <a:tc>
                  <a:txBody>
                    <a:bodyPr/>
                    <a:lstStyle/>
                    <a:p>
                      <a:pPr marL="0" indent="0">
                        <a:buNone/>
                      </a:pPr>
                      <a:r>
                        <a:rPr lang="en-US" sz="1450" dirty="0">
                          <a:solidFill>
                            <a:srgbClr val="444444"/>
                          </a:solidFill>
                        </a:rPr>
                        <a:t>Product Design</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50" dirty="0">
                          <a:solidFill>
                            <a:srgbClr val="444444"/>
                          </a:solidFill>
                        </a:rPr>
                        <a:t>Optimize Product Parameters</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450" dirty="0">
                          <a:solidFill>
                            <a:srgbClr val="444444"/>
                          </a:solidFill>
                        </a:rPr>
                        <a:t>Portfolio</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tc>
                  <a:txBody>
                    <a:bodyPr/>
                    <a:lstStyle/>
                    <a:p>
                      <a:pPr marL="0" indent="0">
                        <a:buNone/>
                      </a:pPr>
                      <a:r>
                        <a:rPr lang="en-US" sz="1450" dirty="0">
                          <a:solidFill>
                            <a:srgbClr val="444444"/>
                          </a:solidFill>
                        </a:rPr>
                        <a:t>Optimize Portfolio Profit</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extLst>
                  <a:ext uri="{0D108BD9-81ED-4DB2-BD59-A6C34878D82A}">
                    <a16:rowId xmlns:a16="http://schemas.microsoft.com/office/drawing/2014/main" val="10004"/>
                  </a:ext>
                </a:extLst>
              </a:tr>
            </a:tbl>
          </a:graphicData>
        </a:graphic>
      </p:graphicFrame>
      <p:sp>
        <p:nvSpPr>
          <p:cNvPr id="5" name="Text 2"/>
          <p:cNvSpPr/>
          <p:nvPr/>
        </p:nvSpPr>
        <p:spPr>
          <a:xfrm>
            <a:off x="640080" y="4709160"/>
            <a:ext cx="54864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BUSINESS CONSTRAINTS</a:t>
            </a:r>
            <a:endParaRPr lang="en-US" sz="1200" dirty="0"/>
          </a:p>
        </p:txBody>
      </p:sp>
      <p:sp>
        <p:nvSpPr>
          <p:cNvPr id="6" name="Text 3"/>
          <p:cNvSpPr/>
          <p:nvPr/>
        </p:nvSpPr>
        <p:spPr>
          <a:xfrm>
            <a:off x="640080" y="5047488"/>
            <a:ext cx="10058400" cy="128016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Reserve ≥ 0</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Solvency Ratio</a:t>
            </a:r>
            <a:endParaRPr lang="en-US" sz="1600" dirty="0"/>
          </a:p>
          <a:p>
            <a:pPr marL="203200" indent="-203200">
              <a:spcAft>
                <a:spcPts val="800"/>
              </a:spcAft>
              <a:buSzPct val="100000"/>
              <a:buChar char="•"/>
            </a:pPr>
            <a:r>
              <a:rPr lang="en-US" sz="1600" dirty="0">
                <a:solidFill>
                  <a:srgbClr val="444444"/>
                </a:solidFill>
                <a:latin typeface="Calibri" pitchFamily="34" charset="0"/>
                <a:ea typeface="Calibri" pitchFamily="34" charset="-122"/>
                <a:cs typeface="Calibri" pitchFamily="34" charset="-120"/>
              </a:rPr>
              <a:t>Premium Bounds</a:t>
            </a:r>
            <a:endParaRPr lang="en-US" sz="1600" dirty="0"/>
          </a:p>
        </p:txBody>
      </p:sp>
      <p:sp>
        <p:nvSpPr>
          <p:cNvPr id="7" name="Text 4"/>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8" name="Text 5"/>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23C2FEC-B224-C13D-19D6-55E9C4BECD59}"/>
              </a:ext>
            </a:extLst>
          </p:cNvPr>
          <p:cNvPicPr>
            <a:picLocks noChangeAspect="1"/>
          </p:cNvPicPr>
          <p:nvPr/>
        </p:nvPicPr>
        <p:blipFill>
          <a:blip r:embed="rId2"/>
          <a:stretch>
            <a:fillRect/>
          </a:stretch>
        </p:blipFill>
        <p:spPr>
          <a:xfrm>
            <a:off x="100488" y="1480132"/>
            <a:ext cx="3901264" cy="2438289"/>
          </a:xfrm>
          <a:prstGeom prst="rect">
            <a:avLst/>
          </a:prstGeom>
        </p:spPr>
      </p:pic>
      <p:cxnSp>
        <p:nvCxnSpPr>
          <p:cNvPr id="22" name="Straight Connector 21">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16560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08BF1786-9E30-52AC-BE4C-C8862625EE27}"/>
              </a:ext>
            </a:extLst>
          </p:cNvPr>
          <p:cNvPicPr>
            <a:picLocks noChangeAspect="1"/>
          </p:cNvPicPr>
          <p:nvPr/>
        </p:nvPicPr>
        <p:blipFill>
          <a:blip r:embed="rId3"/>
          <a:stretch>
            <a:fillRect/>
          </a:stretch>
        </p:blipFill>
        <p:spPr>
          <a:xfrm>
            <a:off x="8186897" y="1556000"/>
            <a:ext cx="3830596" cy="2405741"/>
          </a:xfrm>
          <a:prstGeom prst="rect">
            <a:avLst/>
          </a:prstGeom>
        </p:spPr>
      </p:pic>
      <p:cxnSp>
        <p:nvCxnSpPr>
          <p:cNvPr id="24" name="Straight Connector 23">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995920" y="1573887"/>
            <a:ext cx="0" cy="3710227"/>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4764B43-41FD-B988-20EC-96B47ABD2349}"/>
              </a:ext>
            </a:extLst>
          </p:cNvPr>
          <p:cNvPicPr>
            <a:picLocks noChangeAspect="1"/>
          </p:cNvPicPr>
          <p:nvPr/>
        </p:nvPicPr>
        <p:blipFill>
          <a:blip r:embed="rId4"/>
          <a:stretch>
            <a:fillRect/>
          </a:stretch>
        </p:blipFill>
        <p:spPr>
          <a:xfrm>
            <a:off x="4215410" y="1569779"/>
            <a:ext cx="3757829" cy="2348642"/>
          </a:xfrm>
          <a:prstGeom prst="rect">
            <a:avLst/>
          </a:prstGeom>
        </p:spPr>
      </p:pic>
      <p:sp>
        <p:nvSpPr>
          <p:cNvPr id="5" name="TextBox 4">
            <a:extLst>
              <a:ext uri="{FF2B5EF4-FFF2-40B4-BE49-F238E27FC236}">
                <a16:creationId xmlns:a16="http://schemas.microsoft.com/office/drawing/2014/main" id="{77599416-7780-BAE6-D94B-F6880359BC1C}"/>
              </a:ext>
            </a:extLst>
          </p:cNvPr>
          <p:cNvSpPr txBox="1"/>
          <p:nvPr/>
        </p:nvSpPr>
        <p:spPr>
          <a:xfrm>
            <a:off x="3047163" y="3246846"/>
            <a:ext cx="6094324" cy="369332"/>
          </a:xfrm>
          <a:prstGeom prst="rect">
            <a:avLst/>
          </a:prstGeom>
          <a:noFill/>
        </p:spPr>
        <p:txBody>
          <a:bodyPr wrap="square">
            <a:spAutoFit/>
          </a:bodyPr>
          <a:lstStyle/>
          <a:p>
            <a:endParaRPr lang="en-US" dirty="0"/>
          </a:p>
        </p:txBody>
      </p:sp>
      <p:sp>
        <p:nvSpPr>
          <p:cNvPr id="7" name="TextBox 6">
            <a:extLst>
              <a:ext uri="{FF2B5EF4-FFF2-40B4-BE49-F238E27FC236}">
                <a16:creationId xmlns:a16="http://schemas.microsoft.com/office/drawing/2014/main" id="{9B4D6E98-7765-10C0-ABAC-93DA0CE1F32F}"/>
              </a:ext>
            </a:extLst>
          </p:cNvPr>
          <p:cNvSpPr txBox="1"/>
          <p:nvPr/>
        </p:nvSpPr>
        <p:spPr>
          <a:xfrm>
            <a:off x="3047163" y="3246846"/>
            <a:ext cx="6094324" cy="369332"/>
          </a:xfrm>
          <a:prstGeom prst="rect">
            <a:avLst/>
          </a:prstGeom>
          <a:noFill/>
        </p:spPr>
        <p:txBody>
          <a:bodyPr wrap="square">
            <a:spAutoFit/>
          </a:bodyPr>
          <a:lstStyle/>
          <a:p>
            <a:endParaRPr lang="en-US" dirty="0"/>
          </a:p>
        </p:txBody>
      </p:sp>
      <p:sp>
        <p:nvSpPr>
          <p:cNvPr id="19" name="TextBox 18">
            <a:extLst>
              <a:ext uri="{FF2B5EF4-FFF2-40B4-BE49-F238E27FC236}">
                <a16:creationId xmlns:a16="http://schemas.microsoft.com/office/drawing/2014/main" id="{27BA500F-2D9A-D67D-2832-4A09A310CD53}"/>
              </a:ext>
            </a:extLst>
          </p:cNvPr>
          <p:cNvSpPr txBox="1"/>
          <p:nvPr/>
        </p:nvSpPr>
        <p:spPr>
          <a:xfrm>
            <a:off x="477050" y="1039550"/>
            <a:ext cx="6094324" cy="369332"/>
          </a:xfrm>
          <a:prstGeom prst="rect">
            <a:avLst/>
          </a:prstGeom>
          <a:noFill/>
        </p:spPr>
        <p:txBody>
          <a:bodyPr wrap="square">
            <a:spAutoFit/>
          </a:bodyPr>
          <a:lstStyle/>
          <a:p>
            <a:r>
              <a:rPr lang="en-US" sz="1800" b="1" dirty="0">
                <a:solidFill>
                  <a:srgbClr val="1F4E79"/>
                </a:solidFill>
                <a:latin typeface="Calibri" pitchFamily="34" charset="0"/>
                <a:ea typeface="Calibri" pitchFamily="34" charset="-122"/>
                <a:cs typeface="Calibri" pitchFamily="34" charset="-120"/>
              </a:rPr>
              <a:t>Pricing Reserve</a:t>
            </a:r>
            <a:endParaRPr lang="en-US" dirty="0"/>
          </a:p>
        </p:txBody>
      </p:sp>
      <p:sp>
        <p:nvSpPr>
          <p:cNvPr id="21" name="TextBox 20">
            <a:extLst>
              <a:ext uri="{FF2B5EF4-FFF2-40B4-BE49-F238E27FC236}">
                <a16:creationId xmlns:a16="http://schemas.microsoft.com/office/drawing/2014/main" id="{5812418E-0C75-6BFB-C9B9-6F87DEC7D702}"/>
              </a:ext>
            </a:extLst>
          </p:cNvPr>
          <p:cNvSpPr txBox="1"/>
          <p:nvPr/>
        </p:nvSpPr>
        <p:spPr>
          <a:xfrm>
            <a:off x="4165600" y="993223"/>
            <a:ext cx="6094324" cy="369332"/>
          </a:xfrm>
          <a:prstGeom prst="rect">
            <a:avLst/>
          </a:prstGeom>
          <a:noFill/>
        </p:spPr>
        <p:txBody>
          <a:bodyPr wrap="square">
            <a:spAutoFit/>
          </a:bodyPr>
          <a:lstStyle/>
          <a:p>
            <a:r>
              <a:rPr lang="en-US" sz="1800" b="1" dirty="0">
                <a:solidFill>
                  <a:srgbClr val="1F4E79"/>
                </a:solidFill>
                <a:latin typeface="Calibri" pitchFamily="34" charset="0"/>
                <a:ea typeface="Calibri" pitchFamily="34" charset="-122"/>
                <a:cs typeface="Calibri" pitchFamily="34" charset="-120"/>
              </a:rPr>
              <a:t>Product design Reserve</a:t>
            </a:r>
            <a:endParaRPr lang="en-US" dirty="0"/>
          </a:p>
        </p:txBody>
      </p:sp>
      <p:sp>
        <p:nvSpPr>
          <p:cNvPr id="25" name="TextBox 24">
            <a:extLst>
              <a:ext uri="{FF2B5EF4-FFF2-40B4-BE49-F238E27FC236}">
                <a16:creationId xmlns:a16="http://schemas.microsoft.com/office/drawing/2014/main" id="{B2BCD8A7-A9E6-2020-7F89-24017212FD0C}"/>
              </a:ext>
            </a:extLst>
          </p:cNvPr>
          <p:cNvSpPr txBox="1"/>
          <p:nvPr/>
        </p:nvSpPr>
        <p:spPr>
          <a:xfrm>
            <a:off x="7995920" y="976038"/>
            <a:ext cx="6094324" cy="369332"/>
          </a:xfrm>
          <a:prstGeom prst="rect">
            <a:avLst/>
          </a:prstGeom>
          <a:noFill/>
        </p:spPr>
        <p:txBody>
          <a:bodyPr wrap="square">
            <a:spAutoFit/>
          </a:bodyPr>
          <a:lstStyle/>
          <a:p>
            <a:r>
              <a:rPr lang="en-US" sz="1800" b="1" dirty="0">
                <a:solidFill>
                  <a:srgbClr val="1F4E79"/>
                </a:solidFill>
                <a:latin typeface="Calibri" pitchFamily="34" charset="0"/>
                <a:ea typeface="Calibri" pitchFamily="34" charset="-122"/>
                <a:cs typeface="Calibri" pitchFamily="34" charset="-120"/>
              </a:rPr>
              <a:t>Portfolio Reserve</a:t>
            </a:r>
            <a:endParaRPr lang="en-US" dirty="0"/>
          </a:p>
        </p:txBody>
      </p:sp>
      <p:sp>
        <p:nvSpPr>
          <p:cNvPr id="27" name="TextBox 26">
            <a:extLst>
              <a:ext uri="{FF2B5EF4-FFF2-40B4-BE49-F238E27FC236}">
                <a16:creationId xmlns:a16="http://schemas.microsoft.com/office/drawing/2014/main" id="{3FF93076-BED3-E0F2-88D0-C0A9B9540477}"/>
              </a:ext>
            </a:extLst>
          </p:cNvPr>
          <p:cNvSpPr txBox="1"/>
          <p:nvPr/>
        </p:nvSpPr>
        <p:spPr>
          <a:xfrm>
            <a:off x="246185" y="4215842"/>
            <a:ext cx="3969224" cy="1200329"/>
          </a:xfrm>
          <a:prstGeom prst="rect">
            <a:avLst/>
          </a:prstGeom>
          <a:noFill/>
        </p:spPr>
        <p:txBody>
          <a:bodyPr wrap="square">
            <a:spAutoFit/>
          </a:bodyPr>
          <a:lstStyle/>
          <a:p>
            <a:pPr marL="285750" indent="-285750">
              <a:buFont typeface="Arial" panose="020B0604020202020204" pitchFamily="34" charset="0"/>
              <a:buChar char="•"/>
            </a:pPr>
            <a:r>
              <a:rPr lang="en-US" dirty="0"/>
              <a:t>This is reserve while only premium changes.</a:t>
            </a:r>
          </a:p>
          <a:p>
            <a:pPr marL="285750" indent="-285750">
              <a:buFont typeface="Arial" panose="020B0604020202020204" pitchFamily="34" charset="0"/>
              <a:buChar char="•"/>
            </a:pPr>
            <a:r>
              <a:rPr lang="en-US" dirty="0"/>
              <a:t>Reserve changes for first few iterations then stabilizes</a:t>
            </a:r>
          </a:p>
        </p:txBody>
      </p:sp>
      <p:sp>
        <p:nvSpPr>
          <p:cNvPr id="29" name="TextBox 28">
            <a:extLst>
              <a:ext uri="{FF2B5EF4-FFF2-40B4-BE49-F238E27FC236}">
                <a16:creationId xmlns:a16="http://schemas.microsoft.com/office/drawing/2014/main" id="{9AF9A43C-904E-FAE8-7446-E5F8F3460E0D}"/>
              </a:ext>
            </a:extLst>
          </p:cNvPr>
          <p:cNvSpPr txBox="1"/>
          <p:nvPr/>
        </p:nvSpPr>
        <p:spPr>
          <a:xfrm>
            <a:off x="4329449" y="4266708"/>
            <a:ext cx="3475495" cy="1477328"/>
          </a:xfrm>
          <a:prstGeom prst="rect">
            <a:avLst/>
          </a:prstGeom>
          <a:noFill/>
        </p:spPr>
        <p:txBody>
          <a:bodyPr wrap="square">
            <a:spAutoFit/>
          </a:bodyPr>
          <a:lstStyle/>
          <a:p>
            <a:pPr marL="285750" indent="-285750">
              <a:buFont typeface="Arial" panose="020B0604020202020204" pitchFamily="34" charset="0"/>
              <a:buChar char="•"/>
            </a:pPr>
            <a:r>
              <a:rPr lang="en-US" dirty="0"/>
              <a:t>This is reserve while product features change.</a:t>
            </a:r>
          </a:p>
          <a:p>
            <a:pPr marL="285750" indent="-285750">
              <a:buFont typeface="Arial" panose="020B0604020202020204" pitchFamily="34" charset="0"/>
              <a:buChar char="•"/>
            </a:pPr>
            <a:r>
              <a:rPr lang="en-US" dirty="0"/>
              <a:t>More movement than pricing reserve eventually stable</a:t>
            </a:r>
          </a:p>
          <a:p>
            <a:pPr marL="285750" indent="-285750">
              <a:buFont typeface="Arial" panose="020B0604020202020204" pitchFamily="34" charset="0"/>
              <a:buChar char="•"/>
            </a:pPr>
            <a:endParaRPr lang="en-US" dirty="0"/>
          </a:p>
        </p:txBody>
      </p:sp>
      <p:sp>
        <p:nvSpPr>
          <p:cNvPr id="31" name="TextBox 30">
            <a:extLst>
              <a:ext uri="{FF2B5EF4-FFF2-40B4-BE49-F238E27FC236}">
                <a16:creationId xmlns:a16="http://schemas.microsoft.com/office/drawing/2014/main" id="{BB0D1F4E-CAF5-DD6F-ED57-F56F56F01E25}"/>
              </a:ext>
            </a:extLst>
          </p:cNvPr>
          <p:cNvSpPr txBox="1"/>
          <p:nvPr/>
        </p:nvSpPr>
        <p:spPr>
          <a:xfrm>
            <a:off x="8134824" y="4241521"/>
            <a:ext cx="3969220" cy="2031325"/>
          </a:xfrm>
          <a:prstGeom prst="rect">
            <a:avLst/>
          </a:prstGeom>
          <a:noFill/>
        </p:spPr>
        <p:txBody>
          <a:bodyPr wrap="square">
            <a:spAutoFit/>
          </a:bodyPr>
          <a:lstStyle/>
          <a:p>
            <a:pPr marL="285750" indent="-285750">
              <a:buFont typeface="Arial" panose="020B0604020202020204" pitchFamily="34" charset="0"/>
              <a:buChar char="•"/>
            </a:pPr>
            <a:r>
              <a:rPr lang="en-US" dirty="0"/>
              <a:t>This is total reserve for multiple policies.</a:t>
            </a:r>
          </a:p>
          <a:p>
            <a:pPr marL="285750" indent="-285750">
              <a:buFont typeface="Arial" panose="020B0604020202020204" pitchFamily="34" charset="0"/>
              <a:buChar char="•"/>
            </a:pPr>
            <a:r>
              <a:rPr lang="en-US" dirty="0"/>
              <a:t>Smoother than single-policy graphs </a:t>
            </a:r>
          </a:p>
          <a:p>
            <a:pPr marL="285750" indent="-285750">
              <a:buFont typeface="Arial" panose="020B0604020202020204" pitchFamily="34" charset="0"/>
              <a:buChar char="•"/>
            </a:pPr>
            <a:r>
              <a:rPr lang="en-US" dirty="0"/>
              <a:t>Total reserve changes gradually then stabilizes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297666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CURRENT STATUS</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Results</a:t>
            </a:r>
            <a:endParaRPr lang="en-US" sz="2800" dirty="0"/>
          </a:p>
        </p:txBody>
      </p:sp>
      <p:sp>
        <p:nvSpPr>
          <p:cNvPr id="4" name="Text 2"/>
          <p:cNvSpPr/>
          <p:nvPr/>
        </p:nvSpPr>
        <p:spPr>
          <a:xfrm>
            <a:off x="780756" y="1528555"/>
            <a:ext cx="36576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SHOW</a:t>
            </a:r>
            <a:endParaRPr lang="en-US" sz="1200" dirty="0"/>
          </a:p>
        </p:txBody>
      </p:sp>
      <p:sp>
        <p:nvSpPr>
          <p:cNvPr id="5" name="Text 3"/>
          <p:cNvSpPr/>
          <p:nvPr/>
        </p:nvSpPr>
        <p:spPr>
          <a:xfrm>
            <a:off x="640080" y="1993392"/>
            <a:ext cx="5120640" cy="164592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rgbClr val="444444"/>
                </a:solidFill>
                <a:latin typeface="Calibri" pitchFamily="34" charset="0"/>
                <a:ea typeface="Calibri" pitchFamily="34" charset="-122"/>
                <a:cs typeface="Calibri" pitchFamily="34" charset="-120"/>
              </a:rPr>
              <a:t>Evaluation metrics</a:t>
            </a:r>
            <a:endParaRPr lang="en-US" sz="1600" dirty="0"/>
          </a:p>
          <a:p>
            <a:pPr marL="203200" indent="-203200">
              <a:spcAft>
                <a:spcPts val="1000"/>
              </a:spcAft>
              <a:buSzPct val="100000"/>
              <a:buChar char="•"/>
            </a:pPr>
            <a:r>
              <a:rPr lang="en-US" sz="1600" dirty="0">
                <a:solidFill>
                  <a:srgbClr val="444444"/>
                </a:solidFill>
                <a:latin typeface="Calibri" pitchFamily="34" charset="0"/>
                <a:ea typeface="Calibri" pitchFamily="34" charset="-122"/>
                <a:cs typeface="Calibri" pitchFamily="34" charset="-120"/>
              </a:rPr>
              <a:t>Sensitivity plots</a:t>
            </a:r>
            <a:endParaRPr lang="en-US" sz="1600" dirty="0"/>
          </a:p>
          <a:p>
            <a:pPr marL="203200" indent="-203200">
              <a:spcAft>
                <a:spcPts val="1000"/>
              </a:spcAft>
              <a:buSzPct val="100000"/>
              <a:buChar char="•"/>
            </a:pPr>
            <a:r>
              <a:rPr lang="en-US" sz="1600" dirty="0">
                <a:solidFill>
                  <a:srgbClr val="444444"/>
                </a:solidFill>
                <a:latin typeface="Calibri" pitchFamily="34" charset="0"/>
                <a:ea typeface="Calibri" pitchFamily="34" charset="-122"/>
                <a:cs typeface="Calibri" pitchFamily="34" charset="-120"/>
              </a:rPr>
              <a:t>Reserve plots</a:t>
            </a:r>
          </a:p>
          <a:p>
            <a:pPr marL="203200" indent="-203200">
              <a:spcAft>
                <a:spcPts val="1000"/>
              </a:spcAft>
              <a:buSzPct val="100000"/>
              <a:buChar char="•"/>
            </a:pPr>
            <a:r>
              <a:rPr lang="en-US" sz="1600" dirty="0">
                <a:solidFill>
                  <a:srgbClr val="444444"/>
                </a:solidFill>
                <a:latin typeface="Calibri" pitchFamily="34" charset="0"/>
                <a:ea typeface="Calibri" pitchFamily="34" charset="-122"/>
                <a:cs typeface="Calibri" pitchFamily="34" charset="-120"/>
              </a:rPr>
              <a:t>Optimization plots</a:t>
            </a:r>
            <a:endParaRPr lang="en-US" sz="1600" dirty="0"/>
          </a:p>
        </p:txBody>
      </p:sp>
      <p:sp>
        <p:nvSpPr>
          <p:cNvPr id="6" name="Text 4"/>
          <p:cNvSpPr/>
          <p:nvPr/>
        </p:nvSpPr>
        <p:spPr>
          <a:xfrm>
            <a:off x="6400800" y="1645920"/>
            <a:ext cx="45720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COMPLETED</a:t>
            </a:r>
            <a:endParaRPr lang="en-US" sz="1200" dirty="0"/>
          </a:p>
        </p:txBody>
      </p:sp>
      <p:sp>
        <p:nvSpPr>
          <p:cNvPr id="7" name="Text 5"/>
          <p:cNvSpPr/>
          <p:nvPr/>
        </p:nvSpPr>
        <p:spPr>
          <a:xfrm>
            <a:off x="6400800" y="2011680"/>
            <a:ext cx="365760" cy="411480"/>
          </a:xfrm>
          <a:prstGeom prst="rect">
            <a:avLst/>
          </a:prstGeom>
          <a:noFill/>
          <a:ln/>
        </p:spPr>
        <p:txBody>
          <a:bodyPr wrap="square" lIns="0" tIns="0" rIns="0" bIns="0" rtlCol="0" anchor="ctr"/>
          <a:lstStyle/>
          <a:p>
            <a:pPr marL="0" indent="0">
              <a:buNone/>
            </a:pPr>
            <a:r>
              <a:rPr lang="en-US" sz="1700" b="1" dirty="0">
                <a:solidFill>
                  <a:srgbClr val="3E8E5A"/>
                </a:solidFill>
                <a:latin typeface="Calibri" pitchFamily="34" charset="0"/>
                <a:ea typeface="Calibri" pitchFamily="34" charset="-122"/>
                <a:cs typeface="Calibri" pitchFamily="34" charset="-120"/>
              </a:rPr>
              <a:t>✓</a:t>
            </a:r>
            <a:endParaRPr lang="en-US" sz="1700" dirty="0"/>
          </a:p>
        </p:txBody>
      </p:sp>
      <p:sp>
        <p:nvSpPr>
          <p:cNvPr id="8" name="Text 6"/>
          <p:cNvSpPr/>
          <p:nvPr/>
        </p:nvSpPr>
        <p:spPr>
          <a:xfrm>
            <a:off x="6812280" y="2011680"/>
            <a:ext cx="4114800" cy="411480"/>
          </a:xfrm>
          <a:prstGeom prst="rect">
            <a:avLst/>
          </a:prstGeom>
          <a:noFill/>
          <a:ln/>
        </p:spPr>
        <p:txBody>
          <a:bodyPr wrap="square" lIns="0" tIns="0" rIns="0" bIns="0" rtlCol="0" anchor="ctr"/>
          <a:lstStyle/>
          <a:p>
            <a:pPr marL="0" indent="0">
              <a:buNone/>
            </a:pPr>
            <a:r>
              <a:rPr lang="en-US" sz="1600" dirty="0">
                <a:solidFill>
                  <a:srgbClr val="1F4E79"/>
                </a:solidFill>
                <a:latin typeface="Calibri" pitchFamily="34" charset="0"/>
                <a:ea typeface="Calibri" pitchFamily="34" charset="-122"/>
                <a:cs typeface="Calibri" pitchFamily="34" charset="-120"/>
              </a:rPr>
              <a:t>PINN/KINN Reserve Prediction</a:t>
            </a:r>
            <a:endParaRPr lang="en-US" sz="1600" dirty="0"/>
          </a:p>
        </p:txBody>
      </p:sp>
      <p:sp>
        <p:nvSpPr>
          <p:cNvPr id="9" name="Text 7"/>
          <p:cNvSpPr/>
          <p:nvPr/>
        </p:nvSpPr>
        <p:spPr>
          <a:xfrm>
            <a:off x="6400800" y="2560320"/>
            <a:ext cx="365760" cy="411480"/>
          </a:xfrm>
          <a:prstGeom prst="rect">
            <a:avLst/>
          </a:prstGeom>
          <a:noFill/>
          <a:ln/>
        </p:spPr>
        <p:txBody>
          <a:bodyPr wrap="square" lIns="0" tIns="0" rIns="0" bIns="0" rtlCol="0" anchor="ctr"/>
          <a:lstStyle/>
          <a:p>
            <a:pPr marL="0" indent="0">
              <a:buNone/>
            </a:pPr>
            <a:r>
              <a:rPr lang="en-US" sz="1700" b="1" dirty="0">
                <a:solidFill>
                  <a:srgbClr val="3E8E5A"/>
                </a:solidFill>
                <a:latin typeface="Calibri" pitchFamily="34" charset="0"/>
                <a:ea typeface="Calibri" pitchFamily="34" charset="-122"/>
                <a:cs typeface="Calibri" pitchFamily="34" charset="-120"/>
              </a:rPr>
              <a:t>✓</a:t>
            </a:r>
            <a:endParaRPr lang="en-US" sz="1700" dirty="0"/>
          </a:p>
        </p:txBody>
      </p:sp>
      <p:sp>
        <p:nvSpPr>
          <p:cNvPr id="10" name="Text 8"/>
          <p:cNvSpPr/>
          <p:nvPr/>
        </p:nvSpPr>
        <p:spPr>
          <a:xfrm>
            <a:off x="6812280" y="2560320"/>
            <a:ext cx="4114800" cy="411480"/>
          </a:xfrm>
          <a:prstGeom prst="rect">
            <a:avLst/>
          </a:prstGeom>
          <a:noFill/>
          <a:ln/>
        </p:spPr>
        <p:txBody>
          <a:bodyPr wrap="square" lIns="0" tIns="0" rIns="0" bIns="0" rtlCol="0" anchor="ctr"/>
          <a:lstStyle/>
          <a:p>
            <a:pPr marL="0" indent="0">
              <a:buNone/>
            </a:pPr>
            <a:r>
              <a:rPr lang="en-US" sz="1600" dirty="0">
                <a:solidFill>
                  <a:srgbClr val="1F4E79"/>
                </a:solidFill>
                <a:latin typeface="Calibri" pitchFamily="34" charset="0"/>
                <a:ea typeface="Calibri" pitchFamily="34" charset="-122"/>
                <a:cs typeface="Calibri" pitchFamily="34" charset="-120"/>
              </a:rPr>
              <a:t>Evaluation Framework</a:t>
            </a:r>
          </a:p>
        </p:txBody>
      </p:sp>
      <p:sp>
        <p:nvSpPr>
          <p:cNvPr id="11" name="Text 9"/>
          <p:cNvSpPr/>
          <p:nvPr/>
        </p:nvSpPr>
        <p:spPr>
          <a:xfrm>
            <a:off x="6400800" y="3108960"/>
            <a:ext cx="365760" cy="411480"/>
          </a:xfrm>
          <a:prstGeom prst="rect">
            <a:avLst/>
          </a:prstGeom>
          <a:noFill/>
          <a:ln/>
        </p:spPr>
        <p:txBody>
          <a:bodyPr wrap="square" lIns="0" tIns="0" rIns="0" bIns="0" rtlCol="0" anchor="ctr"/>
          <a:lstStyle/>
          <a:p>
            <a:pPr marL="0" indent="0">
              <a:buNone/>
            </a:pPr>
            <a:r>
              <a:rPr lang="en-US" sz="1700" b="1" dirty="0">
                <a:solidFill>
                  <a:srgbClr val="3E8E5A"/>
                </a:solidFill>
                <a:latin typeface="Calibri" pitchFamily="34" charset="0"/>
                <a:ea typeface="Calibri" pitchFamily="34" charset="-122"/>
                <a:cs typeface="Calibri" pitchFamily="34" charset="-120"/>
              </a:rPr>
              <a:t>✓</a:t>
            </a:r>
            <a:endParaRPr lang="en-US" sz="1700" dirty="0"/>
          </a:p>
        </p:txBody>
      </p:sp>
      <p:sp>
        <p:nvSpPr>
          <p:cNvPr id="12" name="Text 10"/>
          <p:cNvSpPr/>
          <p:nvPr/>
        </p:nvSpPr>
        <p:spPr>
          <a:xfrm>
            <a:off x="6812280" y="3108960"/>
            <a:ext cx="4114800" cy="411480"/>
          </a:xfrm>
          <a:prstGeom prst="rect">
            <a:avLst/>
          </a:prstGeom>
          <a:noFill/>
          <a:ln/>
        </p:spPr>
        <p:txBody>
          <a:bodyPr wrap="square" lIns="0" tIns="0" rIns="0" bIns="0" rtlCol="0" anchor="ctr"/>
          <a:lstStyle/>
          <a:p>
            <a:pPr marL="0" indent="0">
              <a:buNone/>
            </a:pPr>
            <a:r>
              <a:rPr lang="en-US" sz="1600" dirty="0">
                <a:solidFill>
                  <a:srgbClr val="1F4E79"/>
                </a:solidFill>
                <a:latin typeface="Calibri" pitchFamily="34" charset="0"/>
                <a:ea typeface="Calibri" pitchFamily="34" charset="-122"/>
                <a:cs typeface="Calibri" pitchFamily="34" charset="-120"/>
              </a:rPr>
              <a:t>Sensitivity Framework</a:t>
            </a:r>
            <a:endParaRPr lang="en-US" sz="1600" dirty="0"/>
          </a:p>
        </p:txBody>
      </p:sp>
      <p:sp>
        <p:nvSpPr>
          <p:cNvPr id="13" name="Text 11"/>
          <p:cNvSpPr/>
          <p:nvPr/>
        </p:nvSpPr>
        <p:spPr>
          <a:xfrm>
            <a:off x="6400800" y="3657600"/>
            <a:ext cx="365760" cy="411480"/>
          </a:xfrm>
          <a:prstGeom prst="rect">
            <a:avLst/>
          </a:prstGeom>
          <a:noFill/>
          <a:ln/>
        </p:spPr>
        <p:txBody>
          <a:bodyPr wrap="square" lIns="0" tIns="0" rIns="0" bIns="0" rtlCol="0" anchor="ctr"/>
          <a:lstStyle/>
          <a:p>
            <a:pPr marL="0" indent="0">
              <a:buNone/>
            </a:pPr>
            <a:r>
              <a:rPr lang="en-US" sz="1700" b="1" dirty="0">
                <a:solidFill>
                  <a:srgbClr val="3E8E5A"/>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6812280" y="3657600"/>
            <a:ext cx="4114800" cy="411480"/>
          </a:xfrm>
          <a:prstGeom prst="rect">
            <a:avLst/>
          </a:prstGeom>
          <a:noFill/>
          <a:ln/>
        </p:spPr>
        <p:txBody>
          <a:bodyPr wrap="square" lIns="0" tIns="0" rIns="0" bIns="0" rtlCol="0" anchor="ctr"/>
          <a:lstStyle/>
          <a:p>
            <a:pPr marL="0" indent="0">
              <a:buNone/>
            </a:pPr>
            <a:r>
              <a:rPr lang="en-US" sz="1600" dirty="0">
                <a:solidFill>
                  <a:srgbClr val="1F4E79"/>
                </a:solidFill>
                <a:latin typeface="Calibri" pitchFamily="34" charset="0"/>
                <a:ea typeface="Calibri" pitchFamily="34" charset="-122"/>
                <a:cs typeface="Calibri" pitchFamily="34" charset="-120"/>
              </a:rPr>
              <a:t>Optimization Framework</a:t>
            </a:r>
          </a:p>
        </p:txBody>
      </p:sp>
      <p:sp>
        <p:nvSpPr>
          <p:cNvPr id="15" name="Text 13"/>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16" name="Text 14"/>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16</a:t>
            </a:r>
            <a:endParaRPr lang="en-US" sz="900" dirty="0"/>
          </a:p>
        </p:txBody>
      </p:sp>
      <p:sp>
        <p:nvSpPr>
          <p:cNvPr id="22" name="Text 5">
            <a:extLst>
              <a:ext uri="{FF2B5EF4-FFF2-40B4-BE49-F238E27FC236}">
                <a16:creationId xmlns:a16="http://schemas.microsoft.com/office/drawing/2014/main" id="{FF480F44-A986-0624-8B1F-DA63C6BBE4AE}"/>
              </a:ext>
            </a:extLst>
          </p:cNvPr>
          <p:cNvSpPr/>
          <p:nvPr/>
        </p:nvSpPr>
        <p:spPr>
          <a:xfrm>
            <a:off x="6400800" y="4187952"/>
            <a:ext cx="365760" cy="411480"/>
          </a:xfrm>
          <a:prstGeom prst="rect">
            <a:avLst/>
          </a:prstGeom>
          <a:noFill/>
          <a:ln/>
        </p:spPr>
        <p:txBody>
          <a:bodyPr wrap="square" lIns="0" tIns="0" rIns="0" bIns="0" rtlCol="0" anchor="ctr"/>
          <a:lstStyle/>
          <a:p>
            <a:pPr marL="0" indent="0">
              <a:buNone/>
            </a:pPr>
            <a:r>
              <a:rPr lang="en-US" sz="1700" b="1" dirty="0">
                <a:solidFill>
                  <a:srgbClr val="3E8E5A"/>
                </a:solidFill>
                <a:latin typeface="Calibri" pitchFamily="34" charset="0"/>
                <a:ea typeface="Calibri" pitchFamily="34" charset="-122"/>
                <a:cs typeface="Calibri" pitchFamily="34" charset="-120"/>
              </a:rPr>
              <a:t>✓</a:t>
            </a:r>
            <a:endParaRPr lang="en-US" sz="1700" dirty="0"/>
          </a:p>
        </p:txBody>
      </p:sp>
      <p:sp>
        <p:nvSpPr>
          <p:cNvPr id="24" name="Text 5">
            <a:extLst>
              <a:ext uri="{FF2B5EF4-FFF2-40B4-BE49-F238E27FC236}">
                <a16:creationId xmlns:a16="http://schemas.microsoft.com/office/drawing/2014/main" id="{11878336-FBBE-13A7-577F-7C8AA467818B}"/>
              </a:ext>
            </a:extLst>
          </p:cNvPr>
          <p:cNvSpPr/>
          <p:nvPr/>
        </p:nvSpPr>
        <p:spPr>
          <a:xfrm>
            <a:off x="6400800" y="4662033"/>
            <a:ext cx="365760" cy="411480"/>
          </a:xfrm>
          <a:prstGeom prst="rect">
            <a:avLst/>
          </a:prstGeom>
          <a:noFill/>
          <a:ln/>
        </p:spPr>
        <p:txBody>
          <a:bodyPr wrap="square" lIns="0" tIns="0" rIns="0" bIns="0" rtlCol="0" anchor="ctr"/>
          <a:lstStyle/>
          <a:p>
            <a:pPr marL="0" indent="0">
              <a:buNone/>
            </a:pPr>
            <a:r>
              <a:rPr lang="en-US" sz="1700" b="1" dirty="0">
                <a:solidFill>
                  <a:srgbClr val="3E8E5A"/>
                </a:solidFill>
                <a:latin typeface="Calibri" pitchFamily="34" charset="0"/>
                <a:ea typeface="Calibri" pitchFamily="34" charset="-122"/>
                <a:cs typeface="Calibri" pitchFamily="34" charset="-120"/>
              </a:rPr>
              <a:t>✓</a:t>
            </a:r>
            <a:endParaRPr lang="en-US" sz="1700" dirty="0"/>
          </a:p>
        </p:txBody>
      </p:sp>
      <p:sp>
        <p:nvSpPr>
          <p:cNvPr id="26" name="TextBox 25">
            <a:extLst>
              <a:ext uri="{FF2B5EF4-FFF2-40B4-BE49-F238E27FC236}">
                <a16:creationId xmlns:a16="http://schemas.microsoft.com/office/drawing/2014/main" id="{9FD4821D-4568-DE16-67E1-16FAC257AC54}"/>
              </a:ext>
            </a:extLst>
          </p:cNvPr>
          <p:cNvSpPr txBox="1"/>
          <p:nvPr/>
        </p:nvSpPr>
        <p:spPr>
          <a:xfrm>
            <a:off x="6736918" y="4224415"/>
            <a:ext cx="6094324" cy="338554"/>
          </a:xfrm>
          <a:prstGeom prst="rect">
            <a:avLst/>
          </a:prstGeom>
          <a:noFill/>
        </p:spPr>
        <p:txBody>
          <a:bodyPr wrap="square">
            <a:spAutoFit/>
          </a:bodyPr>
          <a:lstStyle/>
          <a:p>
            <a:pPr marL="0" indent="0">
              <a:buNone/>
            </a:pPr>
            <a:r>
              <a:rPr lang="en-US" sz="1600" dirty="0">
                <a:solidFill>
                  <a:srgbClr val="1F4E79"/>
                </a:solidFill>
                <a:latin typeface="Calibri" pitchFamily="34" charset="0"/>
                <a:ea typeface="Calibri" pitchFamily="34" charset="-122"/>
                <a:cs typeface="Calibri" pitchFamily="34" charset="-120"/>
              </a:rPr>
              <a:t>Visualization Pipeline</a:t>
            </a:r>
          </a:p>
        </p:txBody>
      </p:sp>
      <p:sp>
        <p:nvSpPr>
          <p:cNvPr id="28" name="TextBox 27">
            <a:extLst>
              <a:ext uri="{FF2B5EF4-FFF2-40B4-BE49-F238E27FC236}">
                <a16:creationId xmlns:a16="http://schemas.microsoft.com/office/drawing/2014/main" id="{45858F21-D854-4FFB-8539-A6732A852024}"/>
              </a:ext>
            </a:extLst>
          </p:cNvPr>
          <p:cNvSpPr txBox="1"/>
          <p:nvPr/>
        </p:nvSpPr>
        <p:spPr>
          <a:xfrm>
            <a:off x="6736918" y="4671679"/>
            <a:ext cx="6415872" cy="369332"/>
          </a:xfrm>
          <a:prstGeom prst="rect">
            <a:avLst/>
          </a:prstGeom>
          <a:noFill/>
        </p:spPr>
        <p:txBody>
          <a:bodyPr wrap="square">
            <a:spAutoFit/>
          </a:bodyPr>
          <a:lstStyle/>
          <a:p>
            <a:pPr marL="0" indent="0">
              <a:buNone/>
            </a:pPr>
            <a:r>
              <a:rPr lang="en-US" sz="1600" dirty="0">
                <a:solidFill>
                  <a:srgbClr val="1F4E79"/>
                </a:solidFill>
                <a:latin typeface="Calibri" pitchFamily="34" charset="0"/>
                <a:ea typeface="Calibri" pitchFamily="34" charset="-122"/>
                <a:cs typeface="Calibri" pitchFamily="34" charset="-120"/>
              </a:rPr>
              <a:t>Modular</a:t>
            </a:r>
            <a:r>
              <a:rPr lang="en-US" sz="1800" dirty="0">
                <a:solidFill>
                  <a:srgbClr val="1F4E79"/>
                </a:solidFill>
                <a:latin typeface="Calibri" pitchFamily="34" charset="0"/>
                <a:ea typeface="Calibri" pitchFamily="34" charset="-122"/>
                <a:cs typeface="Calibri" pitchFamily="34" charset="-120"/>
              </a:rPr>
              <a:t> </a:t>
            </a:r>
            <a:r>
              <a:rPr lang="en-US" sz="1600" dirty="0">
                <a:solidFill>
                  <a:srgbClr val="1F4E79"/>
                </a:solidFill>
                <a:latin typeface="Calibri" pitchFamily="34" charset="0"/>
                <a:ea typeface="Calibri" pitchFamily="34" charset="-122"/>
                <a:cs typeface="Calibri" pitchFamily="34" charset="-120"/>
              </a:rPr>
              <a:t>Architecture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CURRENT STATUS</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Current Challenges</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3435268534"/>
              </p:ext>
            </p:extLst>
          </p:nvPr>
        </p:nvGraphicFramePr>
        <p:xfrm>
          <a:off x="640080" y="1889090"/>
          <a:ext cx="10881360" cy="2504440"/>
        </p:xfrm>
        <a:graphic>
          <a:graphicData uri="http://schemas.openxmlformats.org/drawingml/2006/table">
            <a:tbl>
              <a:tblPr/>
              <a:tblGrid>
                <a:gridCol w="6355080">
                  <a:extLst>
                    <a:ext uri="{9D8B030D-6E8A-4147-A177-3AD203B41FA5}">
                      <a16:colId xmlns:a16="http://schemas.microsoft.com/office/drawing/2014/main" val="20000"/>
                    </a:ext>
                  </a:extLst>
                </a:gridCol>
                <a:gridCol w="4526280">
                  <a:extLst>
                    <a:ext uri="{9D8B030D-6E8A-4147-A177-3AD203B41FA5}">
                      <a16:colId xmlns:a16="http://schemas.microsoft.com/office/drawing/2014/main" val="20001"/>
                    </a:ext>
                  </a:extLst>
                </a:gridCol>
              </a:tblGrid>
              <a:tr h="274990">
                <a:tc>
                  <a:txBody>
                    <a:bodyPr/>
                    <a:lstStyle/>
                    <a:p>
                      <a:pPr marL="0" indent="0">
                        <a:buNone/>
                      </a:pPr>
                      <a:r>
                        <a:rPr lang="en-US" sz="1500" b="1" dirty="0">
                          <a:solidFill>
                            <a:srgbClr val="FFFFFF"/>
                          </a:solidFill>
                        </a:rPr>
                        <a:t>Problem</a:t>
                      </a:r>
                      <a:endParaRPr lang="en-US" sz="150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1F4E79"/>
                    </a:solidFill>
                  </a:tcPr>
                </a:tc>
                <a:tc>
                  <a:txBody>
                    <a:bodyPr/>
                    <a:lstStyle/>
                    <a:p>
                      <a:pPr marL="0" indent="0">
                        <a:buNone/>
                      </a:pPr>
                      <a:r>
                        <a:rPr lang="en-US" sz="1500" b="1" dirty="0">
                          <a:solidFill>
                            <a:srgbClr val="FFFFFF"/>
                          </a:solidFill>
                        </a:rPr>
                        <a:t>Status</a:t>
                      </a:r>
                      <a:endParaRPr lang="en-US" sz="150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18160">
                <a:tc>
                  <a:txBody>
                    <a:bodyPr/>
                    <a:lstStyle/>
                    <a:p>
                      <a:pPr marL="0" indent="0">
                        <a:buNone/>
                      </a:pPr>
                      <a:r>
                        <a:rPr lang="en-US" sz="1450" dirty="0">
                          <a:solidFill>
                            <a:srgbClr val="444444"/>
                          </a:solidFill>
                        </a:rPr>
                        <a:t>Mortality Sensitivity</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tc>
                  <a:txBody>
                    <a:bodyPr/>
                    <a:lstStyle/>
                    <a:p>
                      <a:pPr marL="0" indent="0">
                        <a:buNone/>
                      </a:pPr>
                      <a:r>
                        <a:rPr lang="en-US" sz="1450" dirty="0">
                          <a:solidFill>
                            <a:srgbClr val="444444"/>
                          </a:solidFill>
                        </a:rPr>
                        <a:t>Under Investigation</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extLst>
                  <a:ext uri="{0D108BD9-81ED-4DB2-BD59-A6C34878D82A}">
                    <a16:rowId xmlns:a16="http://schemas.microsoft.com/office/drawing/2014/main" val="10002"/>
                  </a:ext>
                </a:extLst>
              </a:tr>
              <a:tr h="518160">
                <a:tc>
                  <a:txBody>
                    <a:bodyPr/>
                    <a:lstStyle/>
                    <a:p>
                      <a:pPr marL="0" indent="0">
                        <a:buNone/>
                      </a:pPr>
                      <a:r>
                        <a:rPr lang="en-US" sz="1450" dirty="0">
                          <a:solidFill>
                            <a:srgbClr val="444444"/>
                          </a:solidFill>
                        </a:rPr>
                        <a:t>Real Dataset</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50" dirty="0">
                          <a:solidFill>
                            <a:srgbClr val="444444"/>
                          </a:solidFill>
                        </a:rPr>
                        <a:t>Future Work</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8160">
                <a:tc>
                  <a:txBody>
                    <a:bodyPr/>
                    <a:lstStyle/>
                    <a:p>
                      <a:pPr marL="0" indent="0">
                        <a:buNone/>
                      </a:pPr>
                      <a:r>
                        <a:rPr lang="en-US" sz="1450" dirty="0">
                          <a:solidFill>
                            <a:srgbClr val="444444"/>
                          </a:solidFill>
                        </a:rPr>
                        <a:t>Portfolio Validation</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tc>
                  <a:txBody>
                    <a:bodyPr/>
                    <a:lstStyle/>
                    <a:p>
                      <a:pPr marL="0" indent="0">
                        <a:buNone/>
                      </a:pPr>
                      <a:r>
                        <a:rPr lang="en-US" sz="1450" dirty="0">
                          <a:solidFill>
                            <a:srgbClr val="444444"/>
                          </a:solidFill>
                        </a:rPr>
                        <a:t>Future Work</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EAF1F8"/>
                    </a:solidFill>
                  </a:tcPr>
                </a:tc>
                <a:extLst>
                  <a:ext uri="{0D108BD9-81ED-4DB2-BD59-A6C34878D82A}">
                    <a16:rowId xmlns:a16="http://schemas.microsoft.com/office/drawing/2014/main" val="10004"/>
                  </a:ext>
                </a:extLst>
              </a:tr>
              <a:tr h="518160">
                <a:tc>
                  <a:txBody>
                    <a:bodyPr/>
                    <a:lstStyle/>
                    <a:p>
                      <a:pPr marL="0" indent="0">
                        <a:buNone/>
                      </a:pPr>
                      <a:r>
                        <a:rPr lang="en-US" sz="1450" dirty="0">
                          <a:solidFill>
                            <a:srgbClr val="444444"/>
                          </a:solidFill>
                        </a:rPr>
                        <a:t>Deployment</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tc>
                  <a:txBody>
                    <a:bodyPr/>
                    <a:lstStyle/>
                    <a:p>
                      <a:pPr marL="0" indent="0">
                        <a:buNone/>
                      </a:pPr>
                      <a:r>
                        <a:rPr lang="en-US" sz="1450" dirty="0">
                          <a:solidFill>
                            <a:srgbClr val="444444"/>
                          </a:solidFill>
                        </a:rPr>
                        <a:t>Future Work</a:t>
                      </a:r>
                      <a:endParaRPr lang="en-US" sz="1450" dirty="0"/>
                    </a:p>
                  </a:txBody>
                  <a:tcPr marL="127000" marR="127000" marT="101600" marB="101600" anchor="ctr">
                    <a:lnL w="6350" cap="flat" cmpd="sng" algn="ctr">
                      <a:solidFill>
                        <a:srgbClr val="C9D3DC"/>
                      </a:solidFill>
                      <a:prstDash val="solid"/>
                      <a:round/>
                      <a:headEnd type="none" w="med" len="med"/>
                      <a:tailEnd type="none" w="med" len="med"/>
                    </a:lnL>
                    <a:lnR w="6350" cap="flat" cmpd="sng" algn="ctr">
                      <a:solidFill>
                        <a:srgbClr val="C9D3DC"/>
                      </a:solidFill>
                      <a:prstDash val="solid"/>
                      <a:round/>
                      <a:headEnd type="none" w="med" len="med"/>
                      <a:tailEnd type="none" w="med" len="med"/>
                    </a:lnR>
                    <a:lnT w="6350" cap="flat" cmpd="sng" algn="ctr">
                      <a:solidFill>
                        <a:srgbClr val="C9D3DC"/>
                      </a:solidFill>
                      <a:prstDash val="solid"/>
                      <a:round/>
                      <a:headEnd type="none" w="med" len="med"/>
                      <a:tailEnd type="none" w="med" len="med"/>
                    </a:lnT>
                    <a:lnB w="6350"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6" name="Text 3"/>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FUTURE WORK</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Future Work</a:t>
            </a:r>
            <a:endParaRPr lang="en-US" sz="2800" dirty="0"/>
          </a:p>
        </p:txBody>
      </p:sp>
      <p:sp>
        <p:nvSpPr>
          <p:cNvPr id="4" name="Text 2"/>
          <p:cNvSpPr/>
          <p:nvPr/>
        </p:nvSpPr>
        <p:spPr>
          <a:xfrm>
            <a:off x="640080" y="1737360"/>
            <a:ext cx="10515600" cy="4389120"/>
          </a:xfrm>
          <a:prstGeom prst="rect">
            <a:avLst/>
          </a:prstGeom>
          <a:noFill/>
          <a:ln/>
        </p:spPr>
        <p:txBody>
          <a:bodyPr wrap="square" lIns="0" tIns="0" rIns="0" bIns="0" rtlCol="0" anchor="t"/>
          <a:lstStyle/>
          <a:p>
            <a:pPr marL="203200" indent="-203200">
              <a:spcAft>
                <a:spcPts val="1300"/>
              </a:spcAft>
              <a:buSzPct val="100000"/>
              <a:buChar char="•"/>
            </a:pPr>
            <a:r>
              <a:rPr lang="en-US" sz="1700" dirty="0">
                <a:solidFill>
                  <a:srgbClr val="444444"/>
                </a:solidFill>
                <a:latin typeface="Calibri" pitchFamily="34" charset="0"/>
                <a:ea typeface="Calibri" pitchFamily="34" charset="-122"/>
                <a:cs typeface="Calibri" pitchFamily="34" charset="-120"/>
              </a:rPr>
              <a:t>Improve remaining sensitivities</a:t>
            </a:r>
            <a:endParaRPr lang="en-US" sz="1700" dirty="0"/>
          </a:p>
          <a:p>
            <a:pPr marL="203200" indent="-203200">
              <a:spcAft>
                <a:spcPts val="1300"/>
              </a:spcAft>
              <a:buSzPct val="100000"/>
              <a:buChar char="•"/>
            </a:pPr>
            <a:r>
              <a:rPr lang="en-US" sz="1700" dirty="0">
                <a:solidFill>
                  <a:srgbClr val="444444"/>
                </a:solidFill>
                <a:latin typeface="Calibri" pitchFamily="34" charset="0"/>
                <a:ea typeface="Calibri" pitchFamily="34" charset="-122"/>
                <a:cs typeface="Calibri" pitchFamily="34" charset="-120"/>
              </a:rPr>
              <a:t>Benchmark against classical methods</a:t>
            </a:r>
            <a:endParaRPr lang="en-US" sz="1700" dirty="0"/>
          </a:p>
          <a:p>
            <a:pPr marL="203200" indent="-203200">
              <a:spcAft>
                <a:spcPts val="1300"/>
              </a:spcAft>
              <a:buSzPct val="100000"/>
              <a:buChar char="•"/>
            </a:pPr>
            <a:r>
              <a:rPr lang="en-US" sz="1700" dirty="0">
                <a:solidFill>
                  <a:srgbClr val="444444"/>
                </a:solidFill>
                <a:latin typeface="Calibri" pitchFamily="34" charset="0"/>
                <a:ea typeface="Calibri" pitchFamily="34" charset="-122"/>
                <a:cs typeface="Calibri" pitchFamily="34" charset="-120"/>
              </a:rPr>
              <a:t>Support more insurance products</a:t>
            </a:r>
            <a:endParaRPr lang="en-US" sz="1700" dirty="0"/>
          </a:p>
          <a:p>
            <a:pPr marL="203200" indent="-203200">
              <a:spcAft>
                <a:spcPts val="1300"/>
              </a:spcAft>
              <a:buSzPct val="100000"/>
              <a:buChar char="•"/>
            </a:pPr>
            <a:r>
              <a:rPr lang="en-US" sz="1700" dirty="0">
                <a:solidFill>
                  <a:srgbClr val="444444"/>
                </a:solidFill>
                <a:latin typeface="Calibri" pitchFamily="34" charset="0"/>
                <a:ea typeface="Calibri" pitchFamily="34" charset="-122"/>
                <a:cs typeface="Calibri" pitchFamily="34" charset="-120"/>
              </a:rPr>
              <a:t>Real insurance datasets</a:t>
            </a:r>
            <a:endParaRPr lang="en-US" sz="1700" dirty="0"/>
          </a:p>
          <a:p>
            <a:pPr marL="203200" indent="-203200">
              <a:spcAft>
                <a:spcPts val="1300"/>
              </a:spcAft>
              <a:buSzPct val="100000"/>
              <a:buChar char="•"/>
            </a:pPr>
            <a:r>
              <a:rPr lang="en-US" sz="1700" dirty="0">
                <a:solidFill>
                  <a:srgbClr val="444444"/>
                </a:solidFill>
                <a:latin typeface="Calibri" pitchFamily="34" charset="0"/>
                <a:ea typeface="Calibri" pitchFamily="34" charset="-122"/>
                <a:cs typeface="Calibri" pitchFamily="34" charset="-120"/>
              </a:rPr>
              <a:t>Portfolio-scale optimization</a:t>
            </a:r>
          </a:p>
          <a:p>
            <a:pPr marL="203200" indent="-203200">
              <a:spcAft>
                <a:spcPts val="1300"/>
              </a:spcAft>
              <a:buSzPct val="100000"/>
              <a:buChar char="•"/>
            </a:pPr>
            <a:r>
              <a:rPr lang="en-US" sz="1700" dirty="0">
                <a:solidFill>
                  <a:srgbClr val="444444"/>
                </a:solidFill>
                <a:latin typeface="Calibri" pitchFamily="34" charset="0"/>
                <a:ea typeface="Calibri" pitchFamily="34" charset="-122"/>
                <a:cs typeface="Calibri" pitchFamily="34" charset="-120"/>
              </a:rPr>
              <a:t>Stress Testing improvement</a:t>
            </a:r>
            <a:endParaRPr lang="en-US" sz="1700" dirty="0"/>
          </a:p>
          <a:p>
            <a:pPr marL="203200" indent="-203200">
              <a:spcAft>
                <a:spcPts val="1300"/>
              </a:spcAft>
              <a:buSzPct val="100000"/>
              <a:buChar char="•"/>
            </a:pPr>
            <a:r>
              <a:rPr lang="en-US" sz="1700" dirty="0">
                <a:solidFill>
                  <a:srgbClr val="444444"/>
                </a:solidFill>
                <a:latin typeface="Calibri" pitchFamily="34" charset="0"/>
                <a:ea typeface="Calibri" pitchFamily="34" charset="-122"/>
                <a:cs typeface="Calibri" pitchFamily="34" charset="-120"/>
              </a:rPr>
              <a:t>Digital Twin implementation</a:t>
            </a:r>
            <a:endParaRPr lang="en-US" sz="1700" dirty="0"/>
          </a:p>
          <a:p>
            <a:pPr marL="203200" indent="-203200">
              <a:spcAft>
                <a:spcPts val="1300"/>
              </a:spcAft>
              <a:buSzPct val="100000"/>
              <a:buChar char="•"/>
            </a:pPr>
            <a:r>
              <a:rPr lang="en-US" sz="1700" dirty="0">
                <a:solidFill>
                  <a:srgbClr val="444444"/>
                </a:solidFill>
                <a:latin typeface="Calibri" pitchFamily="34" charset="0"/>
                <a:ea typeface="Calibri" pitchFamily="34" charset="-122"/>
                <a:cs typeface="Calibri" pitchFamily="34" charset="-120"/>
              </a:rPr>
              <a:t>Interactive dashboard</a:t>
            </a:r>
            <a:endParaRPr lang="en-US" sz="1700" dirty="0"/>
          </a:p>
          <a:p>
            <a:pPr marL="203200" indent="-203200">
              <a:spcAft>
                <a:spcPts val="1300"/>
              </a:spcAft>
              <a:buSzPct val="100000"/>
              <a:buChar char="•"/>
            </a:pPr>
            <a:r>
              <a:rPr lang="en-US" sz="1700" dirty="0">
                <a:solidFill>
                  <a:srgbClr val="444444"/>
                </a:solidFill>
                <a:latin typeface="Calibri" pitchFamily="34" charset="0"/>
                <a:ea typeface="Calibri" pitchFamily="34" charset="-122"/>
                <a:cs typeface="Calibri" pitchFamily="34" charset="-120"/>
              </a:rPr>
              <a:t>Production deployment</a:t>
            </a:r>
            <a:endParaRPr lang="en-US" sz="1700" dirty="0"/>
          </a:p>
        </p:txBody>
      </p:sp>
      <p:sp>
        <p:nvSpPr>
          <p:cNvPr id="5" name="Text 3"/>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6" name="Text 4"/>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1F4E79"/>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Summary</a:t>
            </a:r>
            <a:endParaRPr lang="en-US" sz="2800" dirty="0"/>
          </a:p>
        </p:txBody>
      </p:sp>
      <p:sp>
        <p:nvSpPr>
          <p:cNvPr id="4" name="Text 2"/>
          <p:cNvSpPr/>
          <p:nvPr/>
        </p:nvSpPr>
        <p:spPr>
          <a:xfrm>
            <a:off x="640080" y="1737360"/>
            <a:ext cx="10515600" cy="3017520"/>
          </a:xfrm>
          <a:prstGeom prst="rect">
            <a:avLst/>
          </a:prstGeom>
          <a:noFill/>
          <a:ln/>
        </p:spPr>
        <p:txBody>
          <a:bodyPr wrap="square" lIns="0" tIns="0" rIns="0" bIns="0" rtlCol="0" anchor="t"/>
          <a:lstStyle/>
          <a:p>
            <a:pPr marL="203200" indent="-203200">
              <a:spcAft>
                <a:spcPts val="1400"/>
              </a:spcAft>
              <a:buSzPct val="100000"/>
              <a:buChar char="•"/>
            </a:pPr>
            <a:r>
              <a:rPr lang="en-US" sz="1700" dirty="0">
                <a:solidFill>
                  <a:srgbClr val="E4ECF4"/>
                </a:solidFill>
                <a:latin typeface="Calibri" pitchFamily="34" charset="0"/>
                <a:ea typeface="Calibri" pitchFamily="34" charset="-122"/>
                <a:cs typeface="Calibri" pitchFamily="34" charset="-120"/>
              </a:rPr>
              <a:t>Developed an end-to-end Insurance Reserve Intelligence Platform.</a:t>
            </a:r>
            <a:endParaRPr lang="en-US" sz="1700" dirty="0"/>
          </a:p>
          <a:p>
            <a:pPr marL="203200" indent="-203200">
              <a:spcAft>
                <a:spcPts val="1400"/>
              </a:spcAft>
              <a:buSzPct val="100000"/>
              <a:buChar char="•"/>
            </a:pPr>
            <a:r>
              <a:rPr lang="en-US" sz="1700" dirty="0">
                <a:solidFill>
                  <a:srgbClr val="E4ECF4"/>
                </a:solidFill>
                <a:latin typeface="Calibri" pitchFamily="34" charset="0"/>
                <a:ea typeface="Calibri" pitchFamily="34" charset="-122"/>
                <a:cs typeface="Calibri" pitchFamily="34" charset="-120"/>
              </a:rPr>
              <a:t>Built a PINN-based reserve prediction framework.</a:t>
            </a:r>
            <a:endParaRPr lang="en-US" sz="1700" dirty="0"/>
          </a:p>
          <a:p>
            <a:pPr marL="203200" indent="-203200">
              <a:spcAft>
                <a:spcPts val="1400"/>
              </a:spcAft>
              <a:buSzPct val="100000"/>
              <a:buChar char="•"/>
            </a:pPr>
            <a:r>
              <a:rPr lang="en-US" sz="1700" dirty="0">
                <a:solidFill>
                  <a:srgbClr val="E4ECF4"/>
                </a:solidFill>
                <a:latin typeface="Calibri" pitchFamily="34" charset="0"/>
                <a:ea typeface="Calibri" pitchFamily="34" charset="-122"/>
                <a:cs typeface="Calibri" pitchFamily="34" charset="-120"/>
              </a:rPr>
              <a:t>Integrated physics-informed training.</a:t>
            </a:r>
            <a:endParaRPr lang="en-US" sz="1700" dirty="0"/>
          </a:p>
          <a:p>
            <a:pPr marL="203200" indent="-203200">
              <a:spcAft>
                <a:spcPts val="1400"/>
              </a:spcAft>
              <a:buSzPct val="100000"/>
              <a:buChar char="•"/>
            </a:pPr>
            <a:r>
              <a:rPr lang="en-US" sz="1700" dirty="0">
                <a:solidFill>
                  <a:srgbClr val="E4ECF4"/>
                </a:solidFill>
                <a:latin typeface="Calibri" pitchFamily="34" charset="0"/>
                <a:ea typeface="Calibri" pitchFamily="34" charset="-122"/>
                <a:cs typeface="Calibri" pitchFamily="34" charset="-120"/>
              </a:rPr>
              <a:t>Developed evaluation, sensitivity and optimization modules.</a:t>
            </a:r>
            <a:endParaRPr lang="en-US" sz="1700" dirty="0"/>
          </a:p>
          <a:p>
            <a:pPr marL="203200" indent="-203200">
              <a:spcAft>
                <a:spcPts val="1400"/>
              </a:spcAft>
              <a:buSzPct val="100000"/>
              <a:buChar char="•"/>
            </a:pPr>
            <a:r>
              <a:rPr lang="en-US" sz="1700" dirty="0">
                <a:solidFill>
                  <a:srgbClr val="E4ECF4"/>
                </a:solidFill>
                <a:latin typeface="Calibri" pitchFamily="34" charset="0"/>
                <a:ea typeface="Calibri" pitchFamily="34" charset="-122"/>
                <a:cs typeface="Calibri" pitchFamily="34" charset="-120"/>
              </a:rPr>
              <a:t>Established a foundation for future actuarial AI research.</a:t>
            </a:r>
            <a:endParaRPr lang="en-US" sz="1700" dirty="0"/>
          </a:p>
        </p:txBody>
      </p:sp>
      <p:sp>
        <p:nvSpPr>
          <p:cNvPr id="5" name="Shape 3"/>
          <p:cNvSpPr/>
          <p:nvPr/>
        </p:nvSpPr>
        <p:spPr>
          <a:xfrm>
            <a:off x="640080" y="5074920"/>
            <a:ext cx="10881360" cy="0"/>
          </a:xfrm>
          <a:prstGeom prst="line">
            <a:avLst/>
          </a:prstGeom>
          <a:noFill/>
          <a:ln w="9525">
            <a:solidFill>
              <a:srgbClr val="3E6C93"/>
            </a:solidFill>
            <a:prstDash val="solid"/>
          </a:ln>
        </p:spPr>
        <p:txBody>
          <a:bodyPr/>
          <a:lstStyle/>
          <a:p>
            <a:endParaRPr lang="en-US"/>
          </a:p>
        </p:txBody>
      </p:sp>
      <p:sp>
        <p:nvSpPr>
          <p:cNvPr id="6" name="Text 4"/>
          <p:cNvSpPr/>
          <p:nvPr/>
        </p:nvSpPr>
        <p:spPr>
          <a:xfrm>
            <a:off x="640080" y="530352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Thank You</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EAF1F8"/>
        </a:solidFill>
        <a:effectLst/>
      </p:bgPr>
    </p:bg>
    <p:spTree>
      <p:nvGrpSpPr>
        <p:cNvPr id="1" name=""/>
        <p:cNvGrpSpPr/>
        <p:nvPr/>
      </p:nvGrpSpPr>
      <p:grpSpPr>
        <a:xfrm>
          <a:off x="0" y="0"/>
          <a:ext cx="0" cy="0"/>
          <a:chOff x="0" y="0"/>
          <a:chExt cx="0" cy="0"/>
        </a:xfrm>
      </p:grpSpPr>
      <p:sp>
        <p:nvSpPr>
          <p:cNvPr id="2" name="Text 0"/>
          <p:cNvSpPr/>
          <p:nvPr/>
        </p:nvSpPr>
        <p:spPr>
          <a:xfrm>
            <a:off x="640080" y="384048"/>
            <a:ext cx="9144000" cy="274320"/>
          </a:xfrm>
          <a:prstGeom prst="rect">
            <a:avLst/>
          </a:prstGeom>
          <a:noFill/>
          <a:ln/>
        </p:spPr>
        <p:txBody>
          <a:bodyPr wrap="square" lIns="0" tIns="0" rIns="0" bIns="0" rtlCol="0" anchor="ctr"/>
          <a:lstStyle/>
          <a:p>
            <a:pPr marL="0" indent="0">
              <a:buNone/>
            </a:pPr>
            <a:r>
              <a:rPr lang="en-US" sz="1200" b="1" kern="0" spc="200" dirty="0">
                <a:solidFill>
                  <a:srgbClr val="E8743B"/>
                </a:solidFill>
                <a:latin typeface="Calibri" pitchFamily="34" charset="0"/>
                <a:ea typeface="Calibri" pitchFamily="34" charset="-122"/>
                <a:cs typeface="Calibri" pitchFamily="34" charset="-120"/>
              </a:rPr>
              <a:t>APPENDIX</a:t>
            </a:r>
            <a:endParaRPr lang="en-US" sz="1200" dirty="0"/>
          </a:p>
        </p:txBody>
      </p:sp>
      <p:sp>
        <p:nvSpPr>
          <p:cNvPr id="3" name="Text 1"/>
          <p:cNvSpPr/>
          <p:nvPr/>
        </p:nvSpPr>
        <p:spPr>
          <a:xfrm>
            <a:off x="640080" y="658368"/>
            <a:ext cx="10881360" cy="640080"/>
          </a:xfrm>
          <a:prstGeom prst="rect">
            <a:avLst/>
          </a:prstGeom>
          <a:noFill/>
          <a:ln/>
        </p:spPr>
        <p:txBody>
          <a:bodyPr wrap="square" lIns="0" tIns="0" rIns="0" bIns="0"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Classical Reserve Equation (Thiele Equation)</a:t>
            </a:r>
            <a:endParaRPr lang="en-US" sz="2800" dirty="0"/>
          </a:p>
        </p:txBody>
      </p:sp>
      <p:sp>
        <p:nvSpPr>
          <p:cNvPr id="4" name="Text 2"/>
          <p:cNvSpPr/>
          <p:nvPr/>
        </p:nvSpPr>
        <p:spPr>
          <a:xfrm>
            <a:off x="640080" y="1600200"/>
            <a:ext cx="416052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CLASSICAL ACTUARIAL MODEL</a:t>
            </a:r>
            <a:endParaRPr lang="en-US" sz="1200" dirty="0"/>
          </a:p>
        </p:txBody>
      </p:sp>
      <p:sp>
        <p:nvSpPr>
          <p:cNvPr id="5" name="Text 3"/>
          <p:cNvSpPr/>
          <p:nvPr/>
        </p:nvSpPr>
        <p:spPr>
          <a:xfrm>
            <a:off x="640080" y="1938528"/>
            <a:ext cx="4160520" cy="548640"/>
          </a:xfrm>
          <a:prstGeom prst="rect">
            <a:avLst/>
          </a:prstGeom>
          <a:noFill/>
          <a:ln/>
        </p:spPr>
        <p:txBody>
          <a:bodyPr wrap="square" lIns="0" tIns="0" rIns="0" bIns="0" rtlCol="0" anchor="t"/>
          <a:lstStyle/>
          <a:p>
            <a:pPr marL="0" indent="0" algn="l">
              <a:buNone/>
            </a:pPr>
            <a:r>
              <a:rPr lang="en-US" sz="1400" dirty="0">
                <a:solidFill>
                  <a:srgbClr val="444444"/>
                </a:solidFill>
                <a:latin typeface="Calibri" pitchFamily="34" charset="0"/>
                <a:ea typeface="Calibri" pitchFamily="34" charset="-122"/>
                <a:cs typeface="Calibri" pitchFamily="34" charset="-120"/>
              </a:rPr>
              <a:t>The reserve for a term-life policy is governed by Thiele's Differential Equation:</a:t>
            </a:r>
            <a:endParaRPr lang="en-US" sz="1400" dirty="0"/>
          </a:p>
        </p:txBody>
      </p:sp>
      <p:sp>
        <p:nvSpPr>
          <p:cNvPr id="6" name="Text 4"/>
          <p:cNvSpPr/>
          <p:nvPr/>
        </p:nvSpPr>
        <p:spPr>
          <a:xfrm>
            <a:off x="640080" y="2514600"/>
            <a:ext cx="4160520" cy="548640"/>
          </a:xfrm>
          <a:prstGeom prst="rect">
            <a:avLst/>
          </a:prstGeom>
          <a:noFill/>
          <a:ln/>
        </p:spPr>
        <p:txBody>
          <a:bodyPr wrap="square" lIns="0" tIns="0" rIns="0" bIns="0" rtlCol="0" anchor="ctr"/>
          <a:lstStyle/>
          <a:p>
            <a:pPr marL="0" indent="0">
              <a:buNone/>
            </a:pPr>
            <a:r>
              <a:rPr lang="en-US" sz="1450" b="1" i="1" dirty="0">
                <a:solidFill>
                  <a:srgbClr val="1F4E79"/>
                </a:solidFill>
                <a:latin typeface="Cambria" pitchFamily="34" charset="0"/>
                <a:ea typeface="Cambria" pitchFamily="34" charset="-122"/>
                <a:cs typeface="Cambria" pitchFamily="34" charset="-120"/>
              </a:rPr>
              <a:t>dV(t)/dt = rV(t) + P − μ(t)(S − V(t))</a:t>
            </a:r>
            <a:endParaRPr lang="en-US" sz="1450" dirty="0"/>
          </a:p>
        </p:txBody>
      </p:sp>
      <p:sp>
        <p:nvSpPr>
          <p:cNvPr id="7" name="Text 5"/>
          <p:cNvSpPr/>
          <p:nvPr/>
        </p:nvSpPr>
        <p:spPr>
          <a:xfrm>
            <a:off x="640080" y="3154680"/>
            <a:ext cx="4160520" cy="274320"/>
          </a:xfrm>
          <a:prstGeom prst="rect">
            <a:avLst/>
          </a:prstGeom>
          <a:noFill/>
          <a:ln/>
        </p:spPr>
        <p:txBody>
          <a:bodyPr wrap="square" lIns="0" tIns="0" rIns="0" bIns="0" rtlCol="0" anchor="t"/>
          <a:lstStyle/>
          <a:p>
            <a:pPr marL="0" indent="0" algn="l">
              <a:buNone/>
            </a:pPr>
            <a:r>
              <a:rPr lang="en-US" sz="1400" b="1" dirty="0">
                <a:solidFill>
                  <a:srgbClr val="1F4E79"/>
                </a:solidFill>
                <a:latin typeface="Calibri" pitchFamily="34" charset="0"/>
                <a:ea typeface="Calibri" pitchFamily="34" charset="-122"/>
                <a:cs typeface="Calibri" pitchFamily="34" charset="-120"/>
              </a:rPr>
              <a:t>Where</a:t>
            </a:r>
            <a:endParaRPr lang="en-US" sz="1400" dirty="0"/>
          </a:p>
        </p:txBody>
      </p:sp>
      <p:sp>
        <p:nvSpPr>
          <p:cNvPr id="8" name="Text 6"/>
          <p:cNvSpPr/>
          <p:nvPr/>
        </p:nvSpPr>
        <p:spPr>
          <a:xfrm>
            <a:off x="640080" y="3456432"/>
            <a:ext cx="4160520" cy="1737360"/>
          </a:xfrm>
          <a:prstGeom prst="rect">
            <a:avLst/>
          </a:prstGeom>
          <a:noFill/>
          <a:ln/>
        </p:spPr>
        <p:txBody>
          <a:bodyPr wrap="square" lIns="0" tIns="0" rIns="0" bIns="0" rtlCol="0" anchor="t"/>
          <a:lstStyle/>
          <a:p>
            <a:pPr marL="203200" indent="-203200">
              <a:spcAft>
                <a:spcPts val="500"/>
              </a:spcAft>
              <a:buSzPct val="100000"/>
              <a:buChar char="•"/>
            </a:pPr>
            <a:r>
              <a:rPr lang="en-US" sz="1350" dirty="0">
                <a:solidFill>
                  <a:srgbClr val="444444"/>
                </a:solidFill>
                <a:latin typeface="Calibri" pitchFamily="34" charset="0"/>
                <a:ea typeface="Calibri" pitchFamily="34" charset="-122"/>
                <a:cs typeface="Calibri" pitchFamily="34" charset="-120"/>
              </a:rPr>
              <a:t>V(t) = Reserve</a:t>
            </a:r>
            <a:endParaRPr lang="en-US" sz="1350" dirty="0"/>
          </a:p>
          <a:p>
            <a:pPr marL="203200" indent="-203200">
              <a:spcAft>
                <a:spcPts val="500"/>
              </a:spcAft>
              <a:buSzPct val="100000"/>
              <a:buChar char="•"/>
            </a:pPr>
            <a:r>
              <a:rPr lang="en-US" sz="1350" dirty="0">
                <a:solidFill>
                  <a:srgbClr val="444444"/>
                </a:solidFill>
                <a:latin typeface="Calibri" pitchFamily="34" charset="0"/>
                <a:ea typeface="Calibri" pitchFamily="34" charset="-122"/>
                <a:cs typeface="Calibri" pitchFamily="34" charset="-120"/>
              </a:rPr>
              <a:t>r = Interest rate</a:t>
            </a:r>
            <a:endParaRPr lang="en-US" sz="1350" dirty="0"/>
          </a:p>
          <a:p>
            <a:pPr marL="203200" indent="-203200">
              <a:spcAft>
                <a:spcPts val="500"/>
              </a:spcAft>
              <a:buSzPct val="100000"/>
              <a:buChar char="•"/>
            </a:pPr>
            <a:r>
              <a:rPr lang="en-US" sz="1350" dirty="0">
                <a:solidFill>
                  <a:srgbClr val="444444"/>
                </a:solidFill>
                <a:latin typeface="Calibri" pitchFamily="34" charset="0"/>
                <a:ea typeface="Calibri" pitchFamily="34" charset="-122"/>
                <a:cs typeface="Calibri" pitchFamily="34" charset="-120"/>
              </a:rPr>
              <a:t>P = Premium</a:t>
            </a:r>
            <a:endParaRPr lang="en-US" sz="1350" dirty="0"/>
          </a:p>
          <a:p>
            <a:pPr marL="203200" indent="-203200">
              <a:spcAft>
                <a:spcPts val="500"/>
              </a:spcAft>
              <a:buSzPct val="100000"/>
              <a:buChar char="•"/>
            </a:pPr>
            <a:r>
              <a:rPr lang="en-US" sz="1350" dirty="0">
                <a:solidFill>
                  <a:srgbClr val="444444"/>
                </a:solidFill>
                <a:latin typeface="Calibri" pitchFamily="34" charset="0"/>
                <a:ea typeface="Calibri" pitchFamily="34" charset="-122"/>
                <a:cs typeface="Calibri" pitchFamily="34" charset="-120"/>
              </a:rPr>
              <a:t>μ(t) = Mortality intensity</a:t>
            </a:r>
            <a:endParaRPr lang="en-US" sz="1350" dirty="0"/>
          </a:p>
          <a:p>
            <a:pPr marL="203200" indent="-203200">
              <a:spcAft>
                <a:spcPts val="500"/>
              </a:spcAft>
              <a:buSzPct val="100000"/>
              <a:buChar char="•"/>
            </a:pPr>
            <a:r>
              <a:rPr lang="en-US" sz="1350" dirty="0">
                <a:solidFill>
                  <a:srgbClr val="444444"/>
                </a:solidFill>
                <a:latin typeface="Calibri" pitchFamily="34" charset="0"/>
                <a:ea typeface="Calibri" pitchFamily="34" charset="-122"/>
                <a:cs typeface="Calibri" pitchFamily="34" charset="-120"/>
              </a:rPr>
              <a:t>S = Sum assured</a:t>
            </a:r>
            <a:endParaRPr lang="en-US" sz="1350" dirty="0"/>
          </a:p>
        </p:txBody>
      </p:sp>
      <p:sp>
        <p:nvSpPr>
          <p:cNvPr id="9" name="Text 7"/>
          <p:cNvSpPr/>
          <p:nvPr/>
        </p:nvSpPr>
        <p:spPr>
          <a:xfrm>
            <a:off x="5166360" y="1600200"/>
            <a:ext cx="6385255"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PINN FORMULATION</a:t>
            </a:r>
            <a:endParaRPr lang="en-US" sz="1200" dirty="0"/>
          </a:p>
        </p:txBody>
      </p:sp>
      <p:sp>
        <p:nvSpPr>
          <p:cNvPr id="10" name="Text 8"/>
          <p:cNvSpPr/>
          <p:nvPr/>
        </p:nvSpPr>
        <p:spPr>
          <a:xfrm>
            <a:off x="5166360" y="1938528"/>
            <a:ext cx="6385255" cy="502920"/>
          </a:xfrm>
          <a:prstGeom prst="rect">
            <a:avLst/>
          </a:prstGeom>
          <a:noFill/>
          <a:ln/>
        </p:spPr>
        <p:txBody>
          <a:bodyPr wrap="square" lIns="0" tIns="0" rIns="0" bIns="0" rtlCol="0" anchor="t"/>
          <a:lstStyle/>
          <a:p>
            <a:pPr marL="0" indent="0" algn="l">
              <a:buNone/>
            </a:pPr>
            <a:r>
              <a:rPr lang="en-US" sz="1400" dirty="0">
                <a:solidFill>
                  <a:srgbClr val="444444"/>
                </a:solidFill>
                <a:latin typeface="Calibri" pitchFamily="34" charset="0"/>
                <a:ea typeface="Calibri" pitchFamily="34" charset="-122"/>
                <a:cs typeface="Calibri" pitchFamily="34" charset="-120"/>
              </a:rPr>
              <a:t>Instead of directly solving the ODE for every policy, the neural network learns:</a:t>
            </a:r>
            <a:endParaRPr lang="en-US" sz="1400" dirty="0"/>
          </a:p>
        </p:txBody>
      </p:sp>
      <p:sp>
        <p:nvSpPr>
          <p:cNvPr id="11" name="Text 9"/>
          <p:cNvSpPr/>
          <p:nvPr/>
        </p:nvSpPr>
        <p:spPr>
          <a:xfrm>
            <a:off x="5166360" y="2450592"/>
            <a:ext cx="6385255" cy="365760"/>
          </a:xfrm>
          <a:prstGeom prst="rect">
            <a:avLst/>
          </a:prstGeom>
          <a:noFill/>
          <a:ln/>
        </p:spPr>
        <p:txBody>
          <a:bodyPr wrap="square" lIns="0" tIns="0" rIns="0" bIns="0" rtlCol="0" anchor="ctr"/>
          <a:lstStyle/>
          <a:p>
            <a:pPr marL="0" indent="0">
              <a:buNone/>
            </a:pPr>
            <a:r>
              <a:rPr lang="en-US" sz="1500" b="1" i="1" dirty="0">
                <a:solidFill>
                  <a:srgbClr val="1F4E79"/>
                </a:solidFill>
                <a:latin typeface="Cambria" pitchFamily="34" charset="0"/>
                <a:ea typeface="Cambria" pitchFamily="34" charset="-122"/>
                <a:cs typeface="Cambria" pitchFamily="34" charset="-120"/>
              </a:rPr>
              <a:t>V = f(t, policy)</a:t>
            </a:r>
            <a:endParaRPr lang="en-US" sz="1500" dirty="0"/>
          </a:p>
        </p:txBody>
      </p:sp>
      <p:sp>
        <p:nvSpPr>
          <p:cNvPr id="12" name="Text 10"/>
          <p:cNvSpPr/>
          <p:nvPr/>
        </p:nvSpPr>
        <p:spPr>
          <a:xfrm>
            <a:off x="5166360" y="2907792"/>
            <a:ext cx="6385255" cy="320040"/>
          </a:xfrm>
          <a:prstGeom prst="rect">
            <a:avLst/>
          </a:prstGeom>
          <a:noFill/>
          <a:ln/>
        </p:spPr>
        <p:txBody>
          <a:bodyPr wrap="square" lIns="0" tIns="0" rIns="0" bIns="0" rtlCol="0" anchor="t"/>
          <a:lstStyle/>
          <a:p>
            <a:pPr marL="0" indent="0" algn="l">
              <a:buNone/>
            </a:pPr>
            <a:r>
              <a:rPr lang="en-US" sz="1400" b="1" dirty="0">
                <a:solidFill>
                  <a:srgbClr val="1F4E79"/>
                </a:solidFill>
                <a:latin typeface="Calibri" pitchFamily="34" charset="0"/>
                <a:ea typeface="Calibri" pitchFamily="34" charset="-122"/>
                <a:cs typeface="Calibri" pitchFamily="34" charset="-120"/>
              </a:rPr>
              <a:t>During training, the prediction is constrained by:</a:t>
            </a:r>
            <a:endParaRPr lang="en-US" sz="1400" dirty="0"/>
          </a:p>
        </p:txBody>
      </p:sp>
      <p:sp>
        <p:nvSpPr>
          <p:cNvPr id="13" name="Text 11"/>
          <p:cNvSpPr/>
          <p:nvPr/>
        </p:nvSpPr>
        <p:spPr>
          <a:xfrm>
            <a:off x="5166360" y="3246120"/>
            <a:ext cx="6385255" cy="1280160"/>
          </a:xfrm>
          <a:prstGeom prst="rect">
            <a:avLst/>
          </a:prstGeom>
          <a:noFill/>
          <a:ln/>
        </p:spPr>
        <p:txBody>
          <a:bodyPr wrap="square" lIns="0" tIns="0" rIns="0" bIns="0" rtlCol="0" anchor="t"/>
          <a:lstStyle/>
          <a:p>
            <a:pPr marL="203200" indent="-203200">
              <a:spcAft>
                <a:spcPts val="500"/>
              </a:spcAft>
              <a:buSzPct val="100000"/>
              <a:buChar char="•"/>
            </a:pPr>
            <a:r>
              <a:rPr lang="en-US" sz="1350" dirty="0">
                <a:solidFill>
                  <a:srgbClr val="444444"/>
                </a:solidFill>
                <a:latin typeface="Calibri" pitchFamily="34" charset="0"/>
                <a:ea typeface="Calibri" pitchFamily="34" charset="-122"/>
                <a:cs typeface="Calibri" pitchFamily="34" charset="-120"/>
              </a:rPr>
              <a:t>Training data</a:t>
            </a:r>
            <a:endParaRPr lang="en-US" sz="1350" dirty="0"/>
          </a:p>
          <a:p>
            <a:pPr marL="203200" indent="-203200">
              <a:spcAft>
                <a:spcPts val="500"/>
              </a:spcAft>
              <a:buSzPct val="100000"/>
              <a:buChar char="•"/>
            </a:pPr>
            <a:r>
              <a:rPr lang="en-US" sz="1350" dirty="0">
                <a:solidFill>
                  <a:srgbClr val="444444"/>
                </a:solidFill>
                <a:latin typeface="Calibri" pitchFamily="34" charset="0"/>
                <a:ea typeface="Calibri" pitchFamily="34" charset="-122"/>
                <a:cs typeface="Calibri" pitchFamily="34" charset="-120"/>
              </a:rPr>
              <a:t>Thiele Equation</a:t>
            </a:r>
            <a:endParaRPr lang="en-US" sz="1350" dirty="0"/>
          </a:p>
          <a:p>
            <a:pPr marL="203200" indent="-203200">
              <a:spcAft>
                <a:spcPts val="500"/>
              </a:spcAft>
              <a:buSzPct val="100000"/>
              <a:buChar char="•"/>
            </a:pPr>
            <a:r>
              <a:rPr lang="en-US" sz="1350" dirty="0">
                <a:solidFill>
                  <a:srgbClr val="444444"/>
                </a:solidFill>
                <a:latin typeface="Calibri" pitchFamily="34" charset="0"/>
                <a:ea typeface="Calibri" pitchFamily="34" charset="-122"/>
                <a:cs typeface="Calibri" pitchFamily="34" charset="-120"/>
              </a:rPr>
              <a:t>Boundary condition</a:t>
            </a:r>
            <a:endParaRPr lang="en-US" sz="1350" dirty="0"/>
          </a:p>
          <a:p>
            <a:pPr marL="203200" indent="-203200">
              <a:spcAft>
                <a:spcPts val="500"/>
              </a:spcAft>
              <a:buSzPct val="100000"/>
              <a:buChar char="•"/>
            </a:pPr>
            <a:r>
              <a:rPr lang="en-US" sz="1350" dirty="0">
                <a:solidFill>
                  <a:srgbClr val="444444"/>
                </a:solidFill>
                <a:latin typeface="Calibri" pitchFamily="34" charset="0"/>
                <a:ea typeface="Calibri" pitchFamily="34" charset="-122"/>
                <a:cs typeface="Calibri" pitchFamily="34" charset="-120"/>
              </a:rPr>
              <a:t>Business constraints</a:t>
            </a:r>
            <a:endParaRPr lang="en-US" sz="1350" dirty="0"/>
          </a:p>
        </p:txBody>
      </p:sp>
      <p:sp>
        <p:nvSpPr>
          <p:cNvPr id="14" name="Text 12"/>
          <p:cNvSpPr/>
          <p:nvPr/>
        </p:nvSpPr>
        <p:spPr>
          <a:xfrm>
            <a:off x="5166360" y="4526280"/>
            <a:ext cx="6385255" cy="548640"/>
          </a:xfrm>
          <a:prstGeom prst="rect">
            <a:avLst/>
          </a:prstGeom>
          <a:noFill/>
          <a:ln/>
        </p:spPr>
        <p:txBody>
          <a:bodyPr wrap="square" lIns="0" tIns="0" rIns="0" bIns="0" rtlCol="0" anchor="t"/>
          <a:lstStyle/>
          <a:p>
            <a:pPr marL="0" indent="0" algn="l">
              <a:buNone/>
            </a:pPr>
            <a:r>
              <a:rPr lang="en-US" sz="1350" i="1" dirty="0">
                <a:solidFill>
                  <a:srgbClr val="444444"/>
                </a:solidFill>
                <a:latin typeface="Calibri" pitchFamily="34" charset="0"/>
                <a:ea typeface="Calibri" pitchFamily="34" charset="-122"/>
                <a:cs typeface="Calibri" pitchFamily="34" charset="-120"/>
              </a:rPr>
              <a:t>The PDE residual becomes another loss function during optimization.</a:t>
            </a:r>
            <a:endParaRPr lang="en-US" sz="1350" dirty="0"/>
          </a:p>
        </p:txBody>
      </p:sp>
      <p:sp>
        <p:nvSpPr>
          <p:cNvPr id="15" name="Text 13"/>
          <p:cNvSpPr/>
          <p:nvPr/>
        </p:nvSpPr>
        <p:spPr>
          <a:xfrm>
            <a:off x="640080" y="5166360"/>
            <a:ext cx="5486400" cy="292608"/>
          </a:xfrm>
          <a:prstGeom prst="rect">
            <a:avLst/>
          </a:prstGeom>
          <a:noFill/>
          <a:ln/>
        </p:spPr>
        <p:txBody>
          <a:bodyPr wrap="square" lIns="0" tIns="0" rIns="0" bIns="0" rtlCol="0" anchor="ctr"/>
          <a:lstStyle/>
          <a:p>
            <a:pPr marL="0" indent="0">
              <a:buNone/>
            </a:pPr>
            <a:r>
              <a:rPr lang="en-US" sz="1200" b="1" kern="0" spc="150" dirty="0">
                <a:solidFill>
                  <a:srgbClr val="8C8C8C"/>
                </a:solidFill>
                <a:latin typeface="Calibri" pitchFamily="34" charset="0"/>
                <a:ea typeface="Calibri" pitchFamily="34" charset="-122"/>
                <a:cs typeface="Calibri" pitchFamily="34" charset="-120"/>
              </a:rPr>
              <a:t>WHY USE A PINN?</a:t>
            </a:r>
            <a:endParaRPr lang="en-US" sz="1200" dirty="0"/>
          </a:p>
        </p:txBody>
      </p:sp>
      <p:sp>
        <p:nvSpPr>
          <p:cNvPr id="16" name="Text 14"/>
          <p:cNvSpPr/>
          <p:nvPr/>
        </p:nvSpPr>
        <p:spPr>
          <a:xfrm>
            <a:off x="640080" y="5468112"/>
            <a:ext cx="6400800" cy="822960"/>
          </a:xfrm>
          <a:prstGeom prst="rect">
            <a:avLst/>
          </a:prstGeom>
          <a:noFill/>
          <a:ln/>
        </p:spPr>
        <p:txBody>
          <a:bodyPr wrap="square" lIns="0" tIns="0" rIns="0" bIns="0" rtlCol="0" anchor="t"/>
          <a:lstStyle/>
          <a:p>
            <a:pPr marL="0" indent="0" algn="l">
              <a:buNone/>
            </a:pPr>
            <a:r>
              <a:rPr lang="en-US" sz="1350" dirty="0">
                <a:solidFill>
                  <a:srgbClr val="444444"/>
                </a:solidFill>
                <a:latin typeface="Calibri" pitchFamily="34" charset="0"/>
                <a:ea typeface="Calibri" pitchFamily="34" charset="-122"/>
                <a:cs typeface="Calibri" pitchFamily="34" charset="-120"/>
              </a:rPr>
              <a:t>Instead of repeatedly solving the differential equation, the trained model approximates the reserve function while remaining consistent with actuarial physics.</a:t>
            </a:r>
            <a:endParaRPr lang="en-US" sz="1350" dirty="0"/>
          </a:p>
        </p:txBody>
      </p:sp>
      <p:sp>
        <p:nvSpPr>
          <p:cNvPr id="17" name="Shape 15"/>
          <p:cNvSpPr/>
          <p:nvPr/>
        </p:nvSpPr>
        <p:spPr>
          <a:xfrm>
            <a:off x="8778240" y="5120640"/>
            <a:ext cx="2651760" cy="384048"/>
          </a:xfrm>
          <a:prstGeom prst="roundRect">
            <a:avLst>
              <a:gd name="adj" fmla="val 14286"/>
            </a:avLst>
          </a:prstGeom>
          <a:solidFill>
            <a:srgbClr val="FFFFFF"/>
          </a:solidFill>
          <a:ln w="12700">
            <a:solidFill>
              <a:srgbClr val="1F4E79"/>
            </a:solidFill>
            <a:prstDash val="solid"/>
          </a:ln>
        </p:spPr>
        <p:txBody>
          <a:bodyPr/>
          <a:lstStyle/>
          <a:p>
            <a:endParaRPr lang="en-US"/>
          </a:p>
        </p:txBody>
      </p:sp>
      <p:sp>
        <p:nvSpPr>
          <p:cNvPr id="18" name="Text 16"/>
          <p:cNvSpPr/>
          <p:nvPr/>
        </p:nvSpPr>
        <p:spPr>
          <a:xfrm>
            <a:off x="8833104" y="5120640"/>
            <a:ext cx="2542032" cy="384048"/>
          </a:xfrm>
          <a:prstGeom prst="rect">
            <a:avLst/>
          </a:prstGeom>
          <a:noFill/>
          <a:ln/>
        </p:spPr>
        <p:txBody>
          <a:bodyPr wrap="square" lIns="0" tIns="0" rIns="0" bIns="0" rtlCol="0" anchor="ctr"/>
          <a:lstStyle/>
          <a:p>
            <a:pPr marL="0" indent="0" algn="ctr">
              <a:buNone/>
            </a:pPr>
            <a:r>
              <a:rPr lang="en-US" sz="1100" b="1" dirty="0">
                <a:solidFill>
                  <a:srgbClr val="1F4E79"/>
                </a:solidFill>
                <a:latin typeface="Calibri" pitchFamily="34" charset="0"/>
                <a:ea typeface="Calibri" pitchFamily="34" charset="-122"/>
                <a:cs typeface="Calibri" pitchFamily="34" charset="-120"/>
              </a:rPr>
              <a:t>Thiele Equation</a:t>
            </a:r>
            <a:endParaRPr lang="en-US" sz="1100" dirty="0"/>
          </a:p>
        </p:txBody>
      </p:sp>
      <p:sp>
        <p:nvSpPr>
          <p:cNvPr id="19" name="Text 17"/>
          <p:cNvSpPr/>
          <p:nvPr/>
        </p:nvSpPr>
        <p:spPr>
          <a:xfrm>
            <a:off x="8778240" y="5504688"/>
            <a:ext cx="2651760" cy="182880"/>
          </a:xfrm>
          <a:prstGeom prst="rect">
            <a:avLst/>
          </a:prstGeom>
          <a:noFill/>
          <a:ln/>
        </p:spPr>
        <p:txBody>
          <a:bodyPr wrap="square" lIns="0" tIns="0" rIns="0" bIns="0" rtlCol="0" anchor="ctr"/>
          <a:lstStyle/>
          <a:p>
            <a:pPr marL="0" indent="0" algn="ctr">
              <a:buNone/>
            </a:pPr>
            <a:r>
              <a:rPr lang="en-US" sz="1200" dirty="0">
                <a:solidFill>
                  <a:srgbClr val="8C8C8C"/>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8778240" y="5687568"/>
            <a:ext cx="2651760" cy="384048"/>
          </a:xfrm>
          <a:prstGeom prst="roundRect">
            <a:avLst>
              <a:gd name="adj" fmla="val 14286"/>
            </a:avLst>
          </a:prstGeom>
          <a:solidFill>
            <a:srgbClr val="FFFFFF"/>
          </a:solidFill>
          <a:ln w="12700">
            <a:solidFill>
              <a:srgbClr val="1F4E79"/>
            </a:solidFill>
            <a:prstDash val="solid"/>
          </a:ln>
        </p:spPr>
        <p:txBody>
          <a:bodyPr/>
          <a:lstStyle/>
          <a:p>
            <a:endParaRPr lang="en-US"/>
          </a:p>
        </p:txBody>
      </p:sp>
      <p:sp>
        <p:nvSpPr>
          <p:cNvPr id="21" name="Text 19"/>
          <p:cNvSpPr/>
          <p:nvPr/>
        </p:nvSpPr>
        <p:spPr>
          <a:xfrm>
            <a:off x="8833104" y="5687568"/>
            <a:ext cx="2542032" cy="384048"/>
          </a:xfrm>
          <a:prstGeom prst="rect">
            <a:avLst/>
          </a:prstGeom>
          <a:noFill/>
          <a:ln/>
        </p:spPr>
        <p:txBody>
          <a:bodyPr wrap="square" lIns="0" tIns="0" rIns="0" bIns="0" rtlCol="0" anchor="ctr"/>
          <a:lstStyle/>
          <a:p>
            <a:pPr marL="0" indent="0" algn="ctr">
              <a:buNone/>
            </a:pPr>
            <a:r>
              <a:rPr lang="en-US" sz="1100" b="1" dirty="0">
                <a:solidFill>
                  <a:srgbClr val="1F4E79"/>
                </a:solidFill>
                <a:latin typeface="Calibri" pitchFamily="34" charset="0"/>
                <a:ea typeface="Calibri" pitchFamily="34" charset="-122"/>
                <a:cs typeface="Calibri" pitchFamily="34" charset="-120"/>
              </a:rPr>
              <a:t>Physics Residual</a:t>
            </a:r>
            <a:endParaRPr lang="en-US" sz="1100" dirty="0"/>
          </a:p>
        </p:txBody>
      </p:sp>
      <p:sp>
        <p:nvSpPr>
          <p:cNvPr id="22" name="Text 20"/>
          <p:cNvSpPr/>
          <p:nvPr/>
        </p:nvSpPr>
        <p:spPr>
          <a:xfrm>
            <a:off x="8778240" y="6071616"/>
            <a:ext cx="2651760" cy="182880"/>
          </a:xfrm>
          <a:prstGeom prst="rect">
            <a:avLst/>
          </a:prstGeom>
          <a:noFill/>
          <a:ln/>
        </p:spPr>
        <p:txBody>
          <a:bodyPr wrap="square" lIns="0" tIns="0" rIns="0" bIns="0" rtlCol="0" anchor="ctr"/>
          <a:lstStyle/>
          <a:p>
            <a:pPr marL="0" indent="0" algn="ctr">
              <a:buNone/>
            </a:pPr>
            <a:r>
              <a:rPr lang="en-US" sz="1200" dirty="0">
                <a:solidFill>
                  <a:srgbClr val="8C8C8C"/>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8778240" y="6254496"/>
            <a:ext cx="2651760" cy="384048"/>
          </a:xfrm>
          <a:prstGeom prst="roundRect">
            <a:avLst>
              <a:gd name="adj" fmla="val 14286"/>
            </a:avLst>
          </a:prstGeom>
          <a:solidFill>
            <a:srgbClr val="1F4E79"/>
          </a:solidFill>
          <a:ln w="12700">
            <a:solidFill>
              <a:srgbClr val="1F4E79"/>
            </a:solidFill>
            <a:prstDash val="solid"/>
          </a:ln>
        </p:spPr>
        <p:txBody>
          <a:bodyPr/>
          <a:lstStyle/>
          <a:p>
            <a:endParaRPr lang="en-US"/>
          </a:p>
        </p:txBody>
      </p:sp>
      <p:sp>
        <p:nvSpPr>
          <p:cNvPr id="24" name="Text 22"/>
          <p:cNvSpPr/>
          <p:nvPr/>
        </p:nvSpPr>
        <p:spPr>
          <a:xfrm>
            <a:off x="8833104" y="6254496"/>
            <a:ext cx="254203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Neural Network</a:t>
            </a:r>
            <a:endParaRPr lang="en-US" sz="1100" dirty="0"/>
          </a:p>
        </p:txBody>
      </p:sp>
      <p:sp>
        <p:nvSpPr>
          <p:cNvPr id="25" name="Text 23"/>
          <p:cNvSpPr/>
          <p:nvPr/>
        </p:nvSpPr>
        <p:spPr>
          <a:xfrm>
            <a:off x="640080" y="6528816"/>
            <a:ext cx="6400800" cy="274320"/>
          </a:xfrm>
          <a:prstGeom prst="rect">
            <a:avLst/>
          </a:prstGeom>
          <a:noFill/>
          <a:ln/>
        </p:spPr>
        <p:txBody>
          <a:bodyPr wrap="square" lIns="0" tIns="0" rIns="0" bIns="0" rtlCol="0" anchor="ctr"/>
          <a:lstStyle/>
          <a:p>
            <a:pPr marL="0" indent="0">
              <a:buNone/>
            </a:pPr>
            <a:r>
              <a:rPr lang="en-US" sz="900" dirty="0">
                <a:solidFill>
                  <a:srgbClr val="8C8C8C"/>
                </a:solidFill>
                <a:latin typeface="Calibri" pitchFamily="34" charset="0"/>
                <a:ea typeface="Calibri" pitchFamily="34" charset="-122"/>
                <a:cs typeface="Calibri" pitchFamily="34" charset="-120"/>
              </a:rPr>
              <a:t>Insurance Reserve Intelligence Platform</a:t>
            </a:r>
            <a:endParaRPr lang="en-US" sz="900" dirty="0"/>
          </a:p>
        </p:txBody>
      </p:sp>
      <p:sp>
        <p:nvSpPr>
          <p:cNvPr id="26" name="Text 24"/>
          <p:cNvSpPr/>
          <p:nvPr/>
        </p:nvSpPr>
        <p:spPr>
          <a:xfrm>
            <a:off x="11002975" y="6528816"/>
            <a:ext cx="548640" cy="274320"/>
          </a:xfrm>
          <a:prstGeom prst="rect">
            <a:avLst/>
          </a:prstGeom>
          <a:noFill/>
          <a:ln/>
        </p:spPr>
        <p:txBody>
          <a:bodyPr wrap="square" lIns="0" tIns="0" rIns="0" bIns="0" rtlCol="0" anchor="ctr"/>
          <a:lstStyle/>
          <a:p>
            <a:pPr marL="0" indent="0" algn="r">
              <a:buNone/>
            </a:pPr>
            <a:r>
              <a:rPr lang="en-US" sz="900" dirty="0">
                <a:solidFill>
                  <a:srgbClr val="8C8C8C"/>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1483</TotalTime>
  <Words>1140</Words>
  <Application>Microsoft Office PowerPoint</Application>
  <PresentationFormat>Widescreen</PresentationFormat>
  <Paragraphs>314</Paragraphs>
  <Slides>23</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Reserve Intelligence Platform</dc:title>
  <dc:subject>PptxGenJS Presentation</dc:subject>
  <dc:creator>Internship Program</dc:creator>
  <cp:lastModifiedBy>Anugya A</cp:lastModifiedBy>
  <cp:revision>4</cp:revision>
  <dcterms:created xsi:type="dcterms:W3CDTF">2026-07-08T22:58:01Z</dcterms:created>
  <dcterms:modified xsi:type="dcterms:W3CDTF">2026-07-10T05:58:47Z</dcterms:modified>
</cp:coreProperties>
</file>